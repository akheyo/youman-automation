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KI-Einsatz</c:v>
                </c:pt>
              </c:strCache>
            </c:strRef>
          </c:tx>
          <c:spPr>
            <a:solidFill>
              <a:srgbClr val="1E40AF"/>
            </a:solidFill>
            <a:ln w="44450" cap="flat">
              <a:solidFill>
                <a:srgbClr val="1E40AF"/>
              </a:solidFill>
              <a:prstDash val="solid"/>
              <a:round/>
            </a:ln>
            <a:effectLst/>
          </c:spPr>
          <c:invertIfNegative val="0"/>
          <c:dLbls>
            <c:numFmt formatCode="0&quot; %&quot;" sourceLinked="0"/>
            <c:txPr>
              <a:bodyPr/>
              <a:lstStyle/>
              <a:p>
                <a:pPr>
                  <a:defRPr b="1" i="0" strike="noStrike" sz="1400" u="none">
                    <a:solidFill>
                      <a:srgbClr val="1E3A8A"/>
                    </a:solidFill>
                    <a:latin typeface="Arial"/>
                  </a:defRPr>
                </a:pPr>
              </a:p>
            </c:txPr>
            <c:dLblPos val="t"/>
            <c:showLegendKey val="0"/>
            <c:showVal val="1"/>
            <c:showCatName val="0"/>
            <c:showSerName val="0"/>
            <c:showPercent val="0"/>
            <c:showBubbleSize val="0"/>
            <c:showLeaderLines val="0"/>
          </c:dLbls>
          <c:marker>
            <c:symbol val="circle"/>
            <c:size val="11"/>
            <c:spPr>
              <a:solidFill>
                <a:srgbClr val="1E40AF"/>
              </a:solidFill>
              <a:ln w="9525" cap="flat">
                <a:solidFill>
                  <a:srgbClr val="1E40AF"/>
                </a:solidFill>
                <a:prstDash val="solid"/>
                <a:round/>
              </a:ln>
              <a:effectLst/>
            </c:spPr>
          </c:marker>
          <c:cat>
            <c:multiLvlStrRef>
              <c:f>Sheet1!$A$2:$A$4</c:f>
              <c:multiLvlStrCache>
                <c:ptCount val="3"/>
                <c:lvl>
                  <c:pt idx="0">
                    <c:v>2024</c:v>
                  </c:pt>
                  <c:pt idx="1">
                    <c:v>2025</c:v>
                  </c:pt>
                  <c:pt idx="2">
                    <c:v>2026</c:v>
                  </c:pt>
                </c:lvl>
              </c:multiLvlStrCache>
            </c:multiLvlStrRef>
          </c:cat>
          <c:val>
            <c:numRef>
              <c:f>Sheet1!$B$2:$B$4</c:f>
              <c:numCache>
                <c:formatCode>General</c:formatCode>
                <c:ptCount val="3"/>
                <c:pt idx="0">
                  <c:v>20</c:v>
                </c:pt>
                <c:pt idx="1">
                  <c:v>36</c:v>
                </c:pt>
                <c:pt idx="2">
                  <c:v>57</c:v>
                </c:pt>
              </c:numCache>
            </c:numRef>
          </c:val>
          <c:smooth val="0"/>
        </c:ser>
        <c:dLbls>
          <c:numFmt formatCode="0&quot; %&quot;" sourceLinked="0"/>
          <c:txPr>
            <a:bodyPr/>
            <a:lstStyle/>
            <a:p>
              <a:pPr>
                <a:defRPr b="1" i="0" strike="noStrike" sz="1400" u="none">
                  <a:solidFill>
                    <a:srgbClr val="1E3A8A"/>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12700" cap="flat">
              <a:solidFill>
                <a:srgbClr val="DBEAF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Nettoumsatz</c:v>
                </c:pt>
              </c:strCache>
            </c:strRef>
          </c:tx>
          <c:spPr>
            <a:solidFill>
              <a:srgbClr val="1E40AF"/>
            </a:solidFill>
            <a:effectLst/>
          </c:spPr>
          <c:invertIfNegative val="0"/>
          <c:dLbls>
            <c:numFmt formatCode="0.0" sourceLinked="0"/>
            <c:txPr>
              <a:bodyPr/>
              <a:lstStyle/>
              <a:p>
                <a:pPr>
                  <a:defRPr b="1" i="0" strike="noStrike" sz="1300" u="none">
                    <a:solidFill>
                      <a:srgbClr val="1E3A8A"/>
                    </a:solidFill>
                    <a:latin typeface="Arial"/>
                  </a:defRPr>
                </a:pPr>
              </a:p>
            </c:txPr>
            <c:showLegendKey val="0"/>
            <c:showVal val="1"/>
            <c:showCatName val="0"/>
            <c:showSerName val="0"/>
            <c:showPercent val="0"/>
            <c:showBubbleSize val="0"/>
            <c:showLeaderLines val="0"/>
          </c:dLbls>
          <c:dPt>
            <c:idx val="0"/>
            <c:invertIfNegative val="0"/>
            <c:bubble3D val="0"/>
            <c:spPr>
              <a:solidFill>
                <a:srgbClr val="1E40AF"/>
              </a:solidFill>
              <a:effectLst/>
            </c:spPr>
          </c:dPt>
          <c:dPt>
            <c:idx val="1"/>
            <c:invertIfNegative val="0"/>
            <c:bubble3D val="0"/>
            <c:spPr>
              <a:solidFill>
                <a:srgbClr val="1E40AF"/>
              </a:solidFill>
              <a:effectLst/>
            </c:spPr>
          </c:dPt>
          <c:dPt>
            <c:idx val="2"/>
            <c:invertIfNegative val="0"/>
            <c:bubble3D val="0"/>
            <c:spPr>
              <a:solidFill>
                <a:srgbClr val="D97706"/>
              </a:solidFill>
              <a:effectLst/>
            </c:spPr>
          </c:dPt>
          <c:cat>
            <c:multiLvlStrRef>
              <c:f>Sheet1!$A$2:$A$4</c:f>
              <c:multiLvlStrCache>
                <c:ptCount val="3"/>
                <c:lvl>
                  <c:pt idx="0">
                    <c:v>2024</c:v>
                  </c:pt>
                  <c:pt idx="1">
                    <c:v>2025</c:v>
                  </c:pt>
                  <c:pt idx="2">
                    <c:v>2026 (Prognose)</c:v>
                  </c:pt>
                </c:lvl>
              </c:multiLvlStrCache>
            </c:multiLvlStrRef>
          </c:cat>
          <c:val>
            <c:numRef>
              <c:f>Sheet1!$B$2:$B$4</c:f>
              <c:numCache>
                <c:formatCode>General</c:formatCode>
                <c:ptCount val="3"/>
                <c:pt idx="0">
                  <c:v>88.8</c:v>
                </c:pt>
                <c:pt idx="1">
                  <c:v>92.3</c:v>
                </c:pt>
                <c:pt idx="2">
                  <c:v>96.3</c:v>
                </c:pt>
              </c:numCache>
            </c:numRef>
          </c:val>
        </c:ser>
        <c:dLbls>
          <c:numFmt formatCode="0.0" sourceLinked="0"/>
          <c:txPr>
            <a:bodyPr/>
            <a:lstStyle/>
            <a:p>
              <a:pPr>
                <a:defRPr b="1" i="0" strike="noStrike" sz="1300" u="none">
                  <a:solidFill>
                    <a:srgbClr val="1E3A8A"/>
                  </a:solidFill>
                  <a:latin typeface="Arial"/>
                </a:defRPr>
              </a:pPr>
            </a:p>
          </c:txPr>
          <c:showLegendKey val="0"/>
          <c:showVal val="1"/>
          <c:showCatName val="0"/>
          <c:showSerName val="0"/>
          <c:showPercent val="0"/>
          <c:showBubbleSize val="0"/>
          <c:showLeaderLines val="0"/>
        </c:dLbls>
        <c:gapWidth val="11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5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12700" cap="flat">
              <a:solidFill>
                <a:srgbClr val="DBEAF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Effektgröße</c:v>
                </c:pt>
              </c:strCache>
            </c:strRef>
          </c:tx>
          <c:spPr>
            <a:solidFill>
              <a:srgbClr val="1E40AF"/>
            </a:solidFill>
            <a:effectLst/>
          </c:spPr>
          <c:invertIfNegative val="0"/>
          <c:dLbls>
            <c:numFmt formatCode="0&quot; %&quot;" sourceLinked="0"/>
            <c:txPr>
              <a:bodyPr/>
              <a:lstStyle/>
              <a:p>
                <a:pPr>
                  <a:defRPr b="1" i="0" strike="noStrike" sz="1200" u="none">
                    <a:solidFill>
                      <a:srgbClr val="1E3A8A"/>
                    </a:solidFill>
                    <a:latin typeface="Arial"/>
                  </a:defRPr>
                </a:pPr>
              </a:p>
            </c:txPr>
            <c:showLegendKey val="0"/>
            <c:showVal val="1"/>
            <c:showCatName val="0"/>
            <c:showSerName val="0"/>
            <c:showPercent val="0"/>
            <c:showBubbleSize val="0"/>
            <c:showLeaderLines val="0"/>
          </c:dLbls>
          <c:dPt>
            <c:idx val="0"/>
            <c:invertIfNegative val="0"/>
            <c:bubble3D val="0"/>
            <c:spPr>
              <a:solidFill>
                <a:srgbClr val="1E40AF"/>
              </a:solidFill>
              <a:effectLst/>
            </c:spPr>
          </c:dPt>
          <c:dPt>
            <c:idx val="1"/>
            <c:invertIfNegative val="0"/>
            <c:bubble3D val="0"/>
            <c:spPr>
              <a:solidFill>
                <a:srgbClr val="3B82F6"/>
              </a:solidFill>
              <a:effectLst/>
            </c:spPr>
          </c:dPt>
          <c:dPt>
            <c:idx val="2"/>
            <c:invertIfNegative val="0"/>
            <c:bubble3D val="0"/>
            <c:spPr>
              <a:solidFill>
                <a:srgbClr val="3B82F6"/>
              </a:solidFill>
              <a:effectLst/>
            </c:spPr>
          </c:dPt>
          <c:dPt>
            <c:idx val="3"/>
            <c:invertIfNegative val="0"/>
            <c:bubble3D val="0"/>
            <c:spPr>
              <a:solidFill>
                <a:srgbClr val="D97706"/>
              </a:solidFill>
              <a:effectLst/>
            </c:spPr>
          </c:dPt>
          <c:dPt>
            <c:idx val="4"/>
            <c:invertIfNegative val="0"/>
            <c:bubble3D val="0"/>
            <c:spPr>
              <a:solidFill>
                <a:srgbClr val="1E40AF"/>
              </a:solidFill>
              <a:effectLst/>
            </c:spPr>
          </c:dPt>
          <c:dPt>
            <c:idx val="5"/>
            <c:invertIfNegative val="0"/>
            <c:bubble3D val="0"/>
            <c:spPr>
              <a:solidFill>
                <a:srgbClr val="D97706"/>
              </a:solidFill>
              <a:effectLst/>
            </c:spPr>
          </c:dPt>
          <c:cat>
            <c:multiLvlStrRef>
              <c:f>Sheet1!$A$2:$A$7</c:f>
              <c:multiLvlStrCache>
                <c:ptCount val="6"/>
                <c:lvl>
                  <c:pt idx="0">
                    <c:v>Umsatz Personalisierung (steigt)</c:v>
                  </c:pt>
                  <c:pt idx="1">
                    <c:v>Lagerbestände (sinken)</c:v>
                  </c:pt>
                  <c:pt idx="2">
                    <c:v>Prognosefehler (sinkt)</c:v>
                  </c:pt>
                  <c:pt idx="3">
                    <c:v>Fehlbestände (sinken)</c:v>
                  </c:pt>
                  <c:pt idx="4">
                    <c:v>Content-Performance (steigt)</c:v>
                  </c:pt>
                  <c:pt idx="5">
                    <c:v>Bearbeitungszeit Service (sinkt)</c:v>
                  </c:pt>
                </c:lvl>
              </c:multiLvlStrCache>
            </c:multiLvlStrRef>
          </c:cat>
          <c:val>
            <c:numRef>
              <c:f>Sheet1!$B$2:$B$7</c:f>
              <c:numCache>
                <c:formatCode>General</c:formatCode>
                <c:ptCount val="6"/>
                <c:pt idx="0">
                  <c:v>15</c:v>
                </c:pt>
                <c:pt idx="1">
                  <c:v>30</c:v>
                </c:pt>
                <c:pt idx="2">
                  <c:v>50</c:v>
                </c:pt>
                <c:pt idx="3">
                  <c:v>65</c:v>
                </c:pt>
                <c:pt idx="4">
                  <c:v>70</c:v>
                </c:pt>
                <c:pt idx="5">
                  <c:v>82</c:v>
                </c:pt>
              </c:numCache>
            </c:numRef>
          </c:val>
        </c:ser>
        <c:dLbls>
          <c:numFmt formatCode="0&quot; %&quot;" sourceLinked="0"/>
          <c:txPr>
            <a:bodyPr/>
            <a:lstStyle/>
            <a:p>
              <a:pPr>
                <a:defRPr b="1" i="0" strike="noStrike" sz="1200" u="none">
                  <a:solidFill>
                    <a:srgbClr val="1E3A8A"/>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no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Index</c:v>
                </c:pt>
              </c:strCache>
            </c:strRef>
          </c:tx>
          <c:spPr>
            <a:solidFill>
              <a:srgbClr val="93C5FD"/>
            </a:solidFill>
            <a:effectLst/>
          </c:spPr>
          <c:invertIfNegative val="0"/>
          <c:dLbls>
            <c:numFmt formatCode="0" sourceLinked="0"/>
            <c:txPr>
              <a:bodyPr/>
              <a:lstStyle/>
              <a:p>
                <a:pPr>
                  <a:defRPr b="1" i="0" strike="noStrike" sz="1500" u="none">
                    <a:solidFill>
                      <a:srgbClr val="1E3A8A"/>
                    </a:solidFill>
                    <a:latin typeface="Arial"/>
                  </a:defRPr>
                </a:pPr>
              </a:p>
            </c:txPr>
            <c:showLegendKey val="0"/>
            <c:showVal val="1"/>
            <c:showCatName val="0"/>
            <c:showSerName val="0"/>
            <c:showPercent val="0"/>
            <c:showBubbleSize val="0"/>
            <c:showLeaderLines val="0"/>
          </c:dLbls>
          <c:dPt>
            <c:idx val="0"/>
            <c:invertIfNegative val="0"/>
            <c:bubble3D val="0"/>
            <c:spPr>
              <a:solidFill>
                <a:srgbClr val="93C5FD"/>
              </a:solidFill>
              <a:effectLst/>
            </c:spPr>
          </c:dPt>
          <c:dPt>
            <c:idx val="1"/>
            <c:invertIfNegative val="0"/>
            <c:bubble3D val="0"/>
            <c:spPr>
              <a:solidFill>
                <a:srgbClr val="1E40AF"/>
              </a:solidFill>
              <a:effectLst/>
            </c:spPr>
          </c:dPt>
          <c:cat>
            <c:multiLvlStrRef>
              <c:f>Sheet1!$A$2:$A$3</c:f>
              <c:multiLvlStrCache>
                <c:ptCount val="2"/>
                <c:lvl>
                  <c:pt idx="0">
                    <c:v>ohne Rufus</c:v>
                  </c:pt>
                  <c:pt idx="1">
                    <c:v>mit Rufus</c:v>
                  </c:pt>
                </c:lvl>
              </c:multiLvlStrCache>
            </c:multiLvlStrRef>
          </c:cat>
          <c:val>
            <c:numRef>
              <c:f>Sheet1!$B$2:$B$3</c:f>
              <c:numCache>
                <c:formatCode>General</c:formatCode>
                <c:ptCount val="2"/>
                <c:pt idx="0">
                  <c:v>100</c:v>
                </c:pt>
                <c:pt idx="1">
                  <c:v>160</c:v>
                </c:pt>
              </c:numCache>
            </c:numRef>
          </c:val>
        </c:ser>
        <c:dLbls>
          <c:numFmt formatCode="0" sourceLinked="0"/>
          <c:txPr>
            <a:bodyPr/>
            <a:lstStyle/>
            <a:p>
              <a:pPr>
                <a:defRPr b="1" i="0" strike="noStrike" sz="1500" u="none">
                  <a:solidFill>
                    <a:srgbClr val="1E3A8A"/>
                  </a:solidFill>
                  <a:latin typeface="Arial"/>
                </a:defRPr>
              </a:pPr>
            </a:p>
          </c:txPr>
          <c:showLegendKey val="0"/>
          <c:showVal val="1"/>
          <c:showCatName val="0"/>
          <c:showSerName val="0"/>
          <c:showPercent val="0"/>
          <c:showBubbleSize val="0"/>
          <c:showLeaderLines val="0"/>
        </c:dLbls>
        <c:gapWidth val="13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180"/>
          <c:min val="0"/>
        </c:scaling>
        <c:delete val="0"/>
        <c:axPos val="l"/>
        <c:majorGridlines>
          <c:spPr>
            <a:ln w="12700" cap="flat">
              <a:solidFill>
                <a:srgbClr val="DBEAF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majorUnit val="4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2030</c:v>
                </c:pt>
              </c:strCache>
            </c:strRef>
          </c:tx>
          <c:spPr>
            <a:solidFill>
              <a:srgbClr val="3B82F6"/>
            </a:solidFill>
            <a:effectLst/>
          </c:spPr>
          <c:invertIfNegative val="0"/>
          <c:dLbls>
            <c:numFmt formatCode="0" sourceLinked="0"/>
            <c:txPr>
              <a:bodyPr/>
              <a:lstStyle/>
              <a:p>
                <a:pPr>
                  <a:defRPr b="1" i="0" strike="noStrike" sz="1400" u="none">
                    <a:solidFill>
                      <a:srgbClr val="1E3A8A"/>
                    </a:solidFill>
                    <a:latin typeface="Arial"/>
                  </a:defRPr>
                </a:pPr>
              </a:p>
            </c:txPr>
            <c:showLegendKey val="0"/>
            <c:showVal val="1"/>
            <c:showCatName val="0"/>
            <c:showSerName val="0"/>
            <c:showPercent val="0"/>
            <c:showBubbleSize val="0"/>
            <c:showLeaderLines val="0"/>
          </c:dLbls>
          <c:dPt>
            <c:idx val="0"/>
            <c:invertIfNegative val="0"/>
            <c:bubble3D val="0"/>
            <c:spPr>
              <a:solidFill>
                <a:srgbClr val="3B82F6"/>
              </a:solidFill>
              <a:effectLst/>
            </c:spPr>
          </c:dPt>
          <c:dPt>
            <c:idx val="1"/>
            <c:invertIfNegative val="0"/>
            <c:bubble3D val="0"/>
            <c:spPr>
              <a:solidFill>
                <a:srgbClr val="1E40AF"/>
              </a:solidFill>
              <a:effectLst/>
            </c:spPr>
          </c:dPt>
          <c:dPt>
            <c:idx val="2"/>
            <c:invertIfNegative val="0"/>
            <c:bubble3D val="0"/>
            <c:spPr>
              <a:solidFill>
                <a:srgbClr val="D97706"/>
              </a:solidFill>
              <a:effectLst/>
            </c:spPr>
          </c:dPt>
          <c:cat>
            <c:multiLvlStrRef>
              <c:f>Sheet1!$A$2:$A$4</c:f>
              <c:multiLvlStrCache>
                <c:ptCount val="3"/>
                <c:lvl>
                  <c:pt idx="0">
                    <c:v>Agentic Commerce
untere Prognose</c:v>
                  </c:pt>
                  <c:pt idx="1">
                    <c:v>Agentic Commerce
obere Prognose</c:v>
                  </c:pt>
                  <c:pt idx="2">
                    <c:v>Globaler
E-Commerce</c:v>
                  </c:pt>
                </c:lvl>
              </c:multiLvlStrCache>
            </c:multiLvlStrRef>
          </c:cat>
          <c:val>
            <c:numRef>
              <c:f>Sheet1!$B$2:$B$4</c:f>
              <c:numCache>
                <c:formatCode>General</c:formatCode>
                <c:ptCount val="3"/>
                <c:pt idx="0">
                  <c:v>3</c:v>
                </c:pt>
                <c:pt idx="1">
                  <c:v>5</c:v>
                </c:pt>
                <c:pt idx="2">
                  <c:v>7</c:v>
                </c:pt>
              </c:numCache>
            </c:numRef>
          </c:val>
        </c:ser>
        <c:dLbls>
          <c:numFmt formatCode="0" sourceLinked="0"/>
          <c:txPr>
            <a:bodyPr/>
            <a:lstStyle/>
            <a:p>
              <a:pPr>
                <a:defRPr b="1" i="0" strike="noStrike" sz="1400" u="none">
                  <a:solidFill>
                    <a:srgbClr val="1E3A8A"/>
                  </a:solidFill>
                  <a:latin typeface="Arial"/>
                </a:defRPr>
              </a:pPr>
            </a:p>
          </c:txPr>
          <c:showLegendKey val="0"/>
          <c:showVal val="1"/>
          <c:showCatName val="0"/>
          <c:showSerName val="0"/>
          <c:showPercent val="0"/>
          <c:showBubbleSize val="0"/>
          <c:showLeaderLines val="0"/>
        </c:dLbls>
        <c:gapWidth val="9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475569"/>
                </a:solidFill>
                <a:latin typeface="Arial"/>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12700" cap="flat">
              <a:solidFill>
                <a:srgbClr val="DBEAFE"/>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475569"/>
                </a:solidFill>
                <a:latin typeface="Arial"/>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Worum es geht: nicht um Science-Fiction, sondern um das, was heute schon messbar in Unternehmen passiert — und zwar besonders sichtbar im Onlinehandel.
Rahmen ansagen: rund 15 Minuten, 15 Folien. Am Ende gibt es eine vollständige Quellenliste, jede Zahl auf jeder Folie ist belegt.
Hinweis an die Zuhörenden: Die Zahlen sind auf dem Stand September 2026. Wo eine Zahl eine Prognose ist, steht das ausdrücklich dabei.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Zahl, die hängen bleiben soll: 12 Milliarden Dollar.
So viel zusätzlichen Umsatz führt Amazon auf einen einzigen KI-Assistenten zurück — auf Rufus, den Dialog-Assistenten im Suchfeld. Das ist kein Pilotprojekt, das ist der Effekt eines Produkts, das seit 2024 läuft.
Drei Einordnungen rechts: 300 Millionen Menschen haben ihn 2025 benutzt. Wer ihn benutzt, kauft mit rund 60 Prozent höherer Wahrscheinlichkeit. Und: Von der Einführung bis zu diesem Effekt vergingen etwa 18 Monate.
Übergang: Bevor wir uns ansehen, warum das funktioniert — kurz die Frage, was "KI" hier eigentlich heißt.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Begriffe, die oft durcheinandergehen — hier sauber getrennt.
Machine Learning: Das System bekommt sehr viele Beispiele und leitet daraus Muster ab. Niemand programmiert eine Regel wie "wenn Regen, dann Gummistiefel". Das System sieht es in den Daten. Das steckt heute in jeder Nachfrageprognose und in jeder Betrugsprüfung.
Generative KI: Der Bruch von 2023. Das System erzeugt selbst Inhalte — Text, Bild, Code. Für den Handel heißt das vor allem: Produkttexte, Bilder und Kampagnen entstehen in Minuten statt in Wochen.
KI-Agenten: Die Stufe, die gerade beginnt. Ein Agent plant mehrere Schritte, ruft selbst Werkzeuge auf und handelt, bis das Ziel erreicht ist. Der Unterschied: Generative KI antwortet. Ein Agent erledigt.
Merksatz unten: Die Reihenfolge ist der Reifegrad. Wir bewegen uns gerade vom Erzeugen zum Handeln — und das ist die eigentliche Veränderung für den Handel.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die große Linie — zuerst Deutschland.
Die Kurve links ist der eigentliche Aufreger: 2024 setzte jedes fünfte Unternehmen KI ein. 2026 ist es mit 57 Prozent erstmals die Mehrheit. Das ist fast eine Verdreifachung in zwei Jahren. Solche Adoptionsgeschwindigkeiten kennen wir sonst kaum.
Wichtig für die Einordnung: Das ist keine Konzern-Geschichte. Befragt wurden Unternehmen ab 20 Beschäftigten, also ganz normaler Mittelstand.
Rechts oben die Investitionsseite: 2,59 Billionen Dollar weltweite KI-Ausgaben für 2026, plus 47 Prozent. Über 45 Prozent davon gehen in Infrastruktur — Rechenzentren, Chips, Server. Das ist der Grund, warum gerade so viel über Strom und Rechenzentren gesprochen wird.
Rechts unten: Der Rest kommt nach. 38 Prozent planen oder diskutieren. Nur noch 4 Prozent sagen "kein Thema" — vor zwei Jahren waren das 41 Prozent. Die Frage ist nicht mehr ob, sondern wie.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Drei Ebenen, die man auseinanderhalten sollte.
Produktivität: Die oft zitierte McKinsey-Zahl — 2,6 bis 4,4 Billionen Dollar zusätzlicher Wert pro Jahr, gerechnet über 63 konkrete Anwendungsfälle. Das ist Potenzial, nicht Ist-Zustand.
Wertschöpfung, konkret für Deutschland: Das IAB rechnet, dass das BIP 2037 um bis zu 12,8 Prozent höher liegen könnte. Auch das ist eine Simulation unter Annahmen — aber von einer sehr nüchternen Institution.
Arbeitsmarkt — und das ist die Zahl, die im Kurs am meisten diskutiert wird: Unterm Strich bleibt die Beschäftigung stabil. Aber rund 1,6 Millionen Arbeitsplätze geraten in Bewegung. Es verschwinden nicht netto Jobs, es verschieben sich Tätigkeiten. Das ist eine Qualifizierungsfrage, keine Massenarbeitslosigkeitsfrage.
Rechts der Realitätscheck — bitte ernst nehmen: Nur 39 Prozent sehen überhaupt einen Ergebniseffekt, und meist unter 5 Prozent. Zwei Drittel haben noch gar nicht angefangen zu skalieren. Wer Ihnen erzählt, KI zahle sich automatisch aus, hat die Daten nicht gelesen.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Kurzer Blick auf das Spielfeld, bevor wir in die Anwendungen gehen.
Der deutsche Onlinehandel ist zurück auf Wachstumskurs: 92,3 Milliarden Euro netto im Jahr 2025, ein Plus von 3,9 Prozent. Für 2026 erwartet der HDE nochmal plus 4,3 Prozent — daraus habe ich die dritte Säule gerechnet, deshalb steht "Prognose" dran.
Entscheidend ist der Vergleich rechts unten: online plus 4,3 Prozent, stationär plus 1,6 Prozent. Der Onlinehandel ist der Wachstumsmotor des Einzelhandels.
Und die strukturell wichtigste Zahl: 56,7 Prozent des Onlineumsatzes laufen über Marktplätze. Mehr als jeder zweite Euro. Das merken Sie sich bitte — darauf kommen wir bei den Risiken zurück.
Wer die Gesamtzahl inklusive digitaler Dienstleistungen will: 97,5 Milliarden Euro laut bevh.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ist die Landkarte für den Rest der Präsentation. Sieben Stellen, an denen KI im Onlinehandel tatsächlich arbeitet — von vorne im Schaufenster bis hinten im Lager.
Vorne, beim Kunden: Personalisierung, Produktsuche, Dynamic Pricing, Kundenservice.
Hinten, im Betrieb: Content und Listings, Logistik und Nachfrageprognose, Betrugserkennung.
Ein Hinweis zur Produktsuche, weil das der größte Umbruch ist: Klassisch tippt man Stichworte ein und bekommt eine Trefferliste. Mit KI beschreibt man eine Situation — "Regenjacke, atmungsaktiv, unter 100 Euro" — und bekommt eine Empfehlung mit Begründung. Das verändert, wie Produkte überhaupt gefunden werden.
Und der dunkle Kasten rechts unten ist die unbequeme Wahrheit: Keiner dieser Hebel funktioniert ohne saubere Daten. Wer schlechte Produktdaten hat, bekommt mit KI schnellere schlechte Ergebnisse.
Auf der nächsten Folie: Was das messbar bringt.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wird es konkret. Das sind berichtete Effektgrößen aus Studien und aus Unternehmensangaben.
Von unten nach oben: Personalisierung hebt den Umsatz um bis zu 15 Prozent. Lagerbestände sinken um bis zu 30 Prozent, weil besser vorhergesagt wird, was gebraucht wird. Prognosefehler sinken um bis zu 50 Prozent. Fehlbestände — also "leider ausverkauft" — um bis zu 65 Prozent.
Oben die beiden größten Hebel: Content-Performance plus 70 Prozent bei Zalando. Und der Spitzenreiter: Die Bearbeitungszeit im Kundenservice sinkt um 82 Prozent — bei Klarna von elf Minuten auf unter zwei.
Zwei Warnhinweise, die ich ausdrücklich betone — die stehen auch rechts auf der Folie:
Erstens: Die Balkenlänge zeigt die Größe des Effekts, nicht die Richtung. Manche Werte steigen, manche sinken. Das steht jeweils in der Beschriftung.
Zweitens: Diese Zahlen darf man nicht addieren. Sie kommen aus unterschiedlichen Unternehmen mit unterschiedlichen Ausgangslagen. Sie zeigen Größenordnungen, keine Garantien.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Erstes Praxisbeispiel — und die Zahl vom Anfang, jetzt eingeordnet.
Die Grafik links ist der Kern: Wer Rufus benutzt, kauft mit rund 60 Prozent höherer Wahrscheinlichkeit. Ich habe das als Index dargestellt — ohne Assistent 100, mit Assistent 160.
Warum das so wirkt: Rufus beantwortet Fragen im Dialog, statt nur eine Trefferliste auszuspucken. Er vergleicht, er begründet, er beobachtet Preise und kauft auf Wunsch selbstständig, sobald der Wunschpreis erreicht ist.
Der strategisch spannendste Punkt steht ganz unten: Mit "Buy for Me" kauft Rufus inzwischen auch in fremden Shops. Amazon wird damit zur Einkaufsebene über dem eigenen Sortiment hinaus.
Frage an die Runde, wenn Zeit ist: Was bedeutet das für einen Händler, der nicht Amazon ist? Antwort: Er muss dafür sorgen, dass eine Maschine sein Produkt versteht — nicht nur ein Mensch.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Zweites Beispiel — und das interessantere für den deutschen Markt, weil es ein europäisches Unternehmen ist und weil KI hier nicht an einer Stelle sitzt, sondern entlang der ganzen Kette.
Oben links die Zahl mit dem größten Hebel für Nachhaltigkeit und Marge zugleich: 8 Prozent weniger größenbedingte Retouren. Grundlage sind echte Körpermaße von über einer Million Kundinnen und Kunden. Jede vermiedene Retoure spart Versand, Aufbereitung und CO2.
Plus 13 Prozent Artikel im Warenkorb durch besseres Matching. Sechs Millionen Menschen nutzen den Assistenten, viermal so viele wie im Vorjahr.
Unten die Betriebsseite: 90 Prozent der Produktinhalte sind inzwischen KI-erzeugt — von nahezu null in einem Jahr. Die Content-Performance ist dabei um 70 Prozent gestiegen, Kampagnen entstehen in Tagen statt in sechs Wochen. Und die Lieferzusage ist um 22 Prozentpunkte genauer.
Der Rahmen unten: 12,3 Milliarden Euro Umsatz, plus 16,8 Prozent. Zalando selbst führt die Beschleunigung auf skalierte KI zurück.
Wichtig für die Einordnung: Das ist Unternehmenskommunikation aus dem Geschäftsbericht. Die Richtung ist belegt, die Kausalität behauptet das Unternehmen selbst.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Zwei Beispiele auf einer Folie, weil sie zusammengehören: eines für die Chance, eines für die Grenze.
Links Shopify — der Blick auf die kleinen Händler. KI-zugeordnete Bestellungen sind zwischen Januar 2025 und Januar 2026 um das Fünfzehnfache gewachsen. Shopify Magic schreibt Produkttexte und Betreffzeilen, Sidekick analysiert selbstständig, warum der Umsatz eingebrochen ist. Und Agentic Storefronts machen Shops direkt in ChatGPT, Perplexity und Copilot kaufbar. Das ist der Punkt: Werkzeuge, die vor drei Jahren nur Konzerne hatten, liegen jetzt beim Ein-Personen-Shop.
Rechts Klarna — und das ist bewusst ein unbequemes Beispiel. Die Zahlen sind spektakulär: Bearbeitungszeit von elf auf unter zwei Minuten, zwei Drittel aller Chats von der KI übernommen, die Arbeit von rund 700 Vollzeitkräften.
Und dann kam die Korrektur. 2025 hat der Vorstandschef öffentlich eingeräumt: Die Kosten waren das dominierende Kriterium, und die Qualität hat darunter gelitten. Klarna ist zurückgerudert — heute KI zuerst, aber ein Mensch jederzeit erreichbar.
Der Satz unten ist das, was ich Ihnen von dieser Folie mitgeben möchte: KI senkt Kosten sehr schnell. Qualität bleibt eine Entscheidung.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die Abwägung — und ich möchte, dass beide Spalten gleich ernst genommen werden.
Chancen, links: Erstens werden Werkzeuge demokratisiert. Was vor drei Jahren ein Konzernbudget brauchte, liegt heute im Standardtarif eines Shopsystems. Zweitens Service ohne Warteschlange, rund um die Uhr, in jeder Sprache. Drittens — und das wird oft übersehen — weniger Verschwendung: weniger Retouren, weniger Fehlbestände, weniger Überproduktion. Das ist ein Umweltargument, nicht nur ein Kostenargument.
Risiken, rechts: Berufe im Umbruch — rund 1,6 Millionen Arbeitsplätze in Bewegung. Nicht weg, aber anders. Die Tätigkeiten verschieben sich schneller, als Qualifikationen nachwachsen.
Plattformabhängigkeit: 56,7 Prozent über Marktplätze. Wenn die KI eines Marktplatzes entscheidet, welches Produkt sie empfiehlt, entscheidet sie über Ihr Geschäft mit.
Daten und Vertrauen: Personalisierung braucht persönliche Daten. Und die Kundschaft ist zurückhaltender, als die Branche gerne hätte — erst 6,3 Prozent kaufen vollständig über eine KI.
Unten die Regulierung, bitte als Kalender lesen: Ab dem 2. August 2026 gelten die Transparenzpflichten. Ein Chatbot muss sagen, dass er eine Maschine ist. Die schärferen Hochrisiko-Pflichten wurden auf Dezember 2027 verschoben, eingebettete Systeme folgen 2028.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Blick nach vorn — und alle Zahlen hier sind ausdrücklich Prognosen.
Die Grafik zeigt die Größenordnung, um die es geht: Der gesamte globale E-Commerce wird 2030 bei rund sieben Billionen Dollar erwartet. Und McKinsey schätzt, dass drei bis fünf Billionen davon über Agentic Commerce laufen könnten — also über Einkäufe, die eine KI im Auftrag eines Menschen anbahnt oder abschließt.
Das ist die Kernaussage der Folie: Ein sehr großer Teil des Onlinehandels könnte in wenigen Jahren nicht mehr über eine Website laufen, sondern über einen Assistenten.
Rechts zwei Randgrößen: 4,1 Milliarden Menschen kaufen 2030 online, 60 Prozent der Weltbevölkerung. Und die Ausgaben für Betrugserkennung steigen von 21 auf 39 Milliarden Dollar — weil Betrüger dieselben Werkzeuge nutzen. Deepfakes und synthetische Identitäten sind der Grund.
Der dunkle Kasten unten rechts ist der Satz, über den es sich zu diskutieren lohnt: Wenn Maschinen einkaufen, ist der Adressat von Marketing nicht mehr nur der Mensch. Produktdaten müssen dann nicht mehr schön sein, sondern maschinenlesbar und eindeutig.
Ehrlich bleiben: Heute kaufen 6,3 Prozent vollständig per KI. Zwischen dieser Zahl und den Prognosen liegt viel Weg.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Schluss drei Sätze — mehr braucht es nicht.
Erstens: KI ist in der Breite angekommen. Erstmals nutzt die Mehrheit der deutschen Unternehmen KI, 57 Prozent. 2024 waren es 20. Das ist keine Zukunftsfrage mehr.
Zweitens: Im E-Commerce zahlt sich das messbar aus. Zwölf Milliarden Dollar Zusatzumsatz über einen einzigen Assistenten bei Amazon. Acht Prozent weniger größenbedingte Retouren bei Zalando. Das sind keine Pilotprojekte, das steht in Geschäftsberichten.
Drittens — und das ist der Satz, der am wichtigsten ist: Der Engpass ist nicht die Technik. Er liegt bei Vertrauen, Daten und Regeln. Erst 6,3 Prozent der Kundschaft kauft vollständig per KI. Und ab dem 2. August 2026 muss sich in der EU jeder Chatbot als KI zu erkennen geben.
Wer heute anfängt, fängt nicht beim Modell an. Er fängt bei seinen Produktdaten an.
Vielen Dank — Fragen gerne jetzt. Die Quellen stehen auf der nächsten Folie.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Quellenfolie — bitte stehen lassen, solange Fragen kommen.
Grundsatz für diese Präsentation: Jede Zahl auf jeder Folie hat eine Fußnote, und jede Fußnote löst sich hier auf, mit vollständiger URL und Abrufdatum.
Zwei Hinweise zur Sorgfalt:
Erstens sind Unternehmensangaben — Amazon, Zalando, Shopify, Klarna — als solche gekennzeichnet. Das ist Unternehmenskommunikation, keine unabhängige Prüfung.
Zweitens sind Prognosen überall dort ausdrücklich als Prognose beschriftet, wo sie eine sind. Die Säule für 2026 im deutschen Onlinehandel habe ich selbst aus der HDE-Wachstumsprognose gerechnet; das steht in der Fußnote der Folie.
Unten: Alle Diagramme sind aus den recherchierten Daten selbst erstellt, es wurden keine fremden Charts abfotografiert und keine Stockfotos verwendet.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68680" y="1572768"/>
            <a:ext cx="6858000" cy="256032"/>
          </a:xfrm>
          <a:prstGeom prst="rect">
            <a:avLst/>
          </a:prstGeom>
          <a:noFill/>
          <a:ln/>
        </p:spPr>
        <p:txBody>
          <a:bodyPr wrap="square" lIns="0" tIns="0" rIns="0" bIns="0" rtlCol="0" anchor="ctr"/>
          <a:lstStyle/>
          <a:p>
            <a:pPr indent="0" marL="0">
              <a:buNone/>
            </a:pPr>
            <a:r>
              <a:rPr lang="en-US" sz="1050" b="1" spc="180" kern="0" dirty="0">
                <a:solidFill>
                  <a:srgbClr val="F59E0B"/>
                </a:solidFill>
                <a:latin typeface="Arial" pitchFamily="34" charset="0"/>
                <a:ea typeface="Arial" pitchFamily="34" charset="-122"/>
                <a:cs typeface="Arial" pitchFamily="34" charset="-120"/>
              </a:rPr>
              <a:t>PRÄSENTATION · SEPTEMBER 2026</a:t>
            </a:r>
            <a:endParaRPr lang="en-US" sz="1050" dirty="0"/>
          </a:p>
        </p:txBody>
      </p:sp>
      <p:sp>
        <p:nvSpPr>
          <p:cNvPr id="4" name="Text 1"/>
          <p:cNvSpPr txBox="1"/>
          <p:nvPr/>
        </p:nvSpPr>
        <p:spPr>
          <a:xfrm>
            <a:off x="868680" y="2011680"/>
            <a:ext cx="7680960" cy="1600200"/>
          </a:xfrm>
          <a:prstGeom prst="rect">
            <a:avLst/>
          </a:prstGeom>
          <a:noFill/>
          <a:ln/>
        </p:spPr>
        <p:txBody>
          <a:bodyPr wrap="square" lIns="0" tIns="0" rIns="0" bIns="0" rtlCol="0" anchor="t"/>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Wie KI die Wirtschaft</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verändert</a:t>
            </a:r>
            <a:endParaRPr lang="en-US" sz="4600" dirty="0"/>
          </a:p>
        </p:txBody>
      </p:sp>
      <p:sp>
        <p:nvSpPr>
          <p:cNvPr id="5" name="Text 2"/>
          <p:cNvSpPr txBox="1"/>
          <p:nvPr/>
        </p:nvSpPr>
        <p:spPr>
          <a:xfrm>
            <a:off x="868680" y="3767328"/>
            <a:ext cx="7680960" cy="475488"/>
          </a:xfrm>
          <a:prstGeom prst="rect">
            <a:avLst/>
          </a:prstGeom>
          <a:noFill/>
          <a:ln/>
        </p:spPr>
        <p:txBody>
          <a:bodyPr wrap="square" lIns="0" tIns="0" rIns="0" bIns="0" rtlCol="0" anchor="ctr"/>
          <a:lstStyle/>
          <a:p>
            <a:pPr indent="0" marL="0">
              <a:buNone/>
            </a:pPr>
            <a:r>
              <a:rPr lang="en-US" sz="2500" dirty="0">
                <a:solidFill>
                  <a:srgbClr val="F59E0B"/>
                </a:solidFill>
                <a:latin typeface="Cambria" pitchFamily="34" charset="0"/>
                <a:ea typeface="Cambria" pitchFamily="34" charset="-122"/>
                <a:cs typeface="Cambria" pitchFamily="34" charset="-120"/>
              </a:rPr>
              <a:t>Fokus E-Commerce</a:t>
            </a:r>
            <a:endParaRPr lang="en-US" sz="2500" dirty="0"/>
          </a:p>
        </p:txBody>
      </p:sp>
      <p:sp>
        <p:nvSpPr>
          <p:cNvPr id="6" name="Text 3"/>
          <p:cNvSpPr txBox="1"/>
          <p:nvPr/>
        </p:nvSpPr>
        <p:spPr>
          <a:xfrm>
            <a:off x="868680" y="4892040"/>
            <a:ext cx="7680960" cy="274320"/>
          </a:xfrm>
          <a:prstGeom prst="rect">
            <a:avLst/>
          </a:prstGeom>
          <a:noFill/>
          <a:ln/>
        </p:spPr>
        <p:txBody>
          <a:bodyPr wrap="square" lIns="0" tIns="0" rIns="0" bIns="0" rtlCol="0" anchor="ctr"/>
          <a:lstStyle/>
          <a:p>
            <a:pPr indent="0" marL="0">
              <a:buNone/>
            </a:pPr>
            <a:r>
              <a:rPr lang="en-US" sz="1100" dirty="0">
                <a:solidFill>
                  <a:srgbClr val="C7D7F5"/>
                </a:solidFill>
                <a:latin typeface="Arial" pitchFamily="34" charset="0"/>
                <a:ea typeface="Arial" pitchFamily="34" charset="-122"/>
                <a:cs typeface="Arial" pitchFamily="34" charset="-120"/>
              </a:rPr>
              <a:t>Dauer ca. 15 Minuten  ·  Datenstand September 2026  ·  Jede Zahl mit Quellenangabe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3A8A"/>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F59E0B"/>
                </a:solidFill>
                <a:latin typeface="Arial" pitchFamily="34" charset="0"/>
                <a:ea typeface="Arial" pitchFamily="34" charset="-122"/>
                <a:cs typeface="Arial" pitchFamily="34" charset="-120"/>
              </a:rPr>
              <a:t>EINSTIEG</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Eine Zahl vorweg</a:t>
            </a:r>
            <a:endParaRPr lang="en-US" sz="2900" dirty="0"/>
          </a:p>
        </p:txBody>
      </p:sp>
      <p:sp>
        <p:nvSpPr>
          <p:cNvPr id="4" name="Text 2"/>
          <p:cNvSpPr txBox="1"/>
          <p:nvPr/>
        </p:nvSpPr>
        <p:spPr>
          <a:xfrm>
            <a:off x="566928" y="1737360"/>
            <a:ext cx="6309360" cy="1097280"/>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12 Mrd. $</a:t>
            </a:r>
            <a:endParaRPr lang="en-US" sz="7200" dirty="0"/>
          </a:p>
        </p:txBody>
      </p:sp>
      <p:sp>
        <p:nvSpPr>
          <p:cNvPr id="5" name="Text 3"/>
          <p:cNvSpPr txBox="1"/>
          <p:nvPr/>
        </p:nvSpPr>
        <p:spPr>
          <a:xfrm>
            <a:off x="566928" y="2980944"/>
            <a:ext cx="5760720" cy="868680"/>
          </a:xfrm>
          <a:prstGeom prst="rect">
            <a:avLst/>
          </a:prstGeom>
          <a:noFill/>
          <a:ln/>
        </p:spPr>
        <p:txBody>
          <a:bodyPr wrap="square" lIns="0" tIns="0" rIns="0" bIns="0" rtlCol="0" anchor="t"/>
          <a:lstStyle/>
          <a:p>
            <a:pPr indent="0" marL="0">
              <a:lnSpc>
                <a:spcPct val="125000"/>
              </a:lnSpc>
              <a:buNone/>
            </a:pPr>
            <a:r>
              <a:rPr lang="en-US" sz="1450" dirty="0">
                <a:solidFill>
                  <a:srgbClr val="C7D7F5"/>
                </a:solidFill>
                <a:latin typeface="Arial" pitchFamily="34" charset="0"/>
                <a:ea typeface="Arial" pitchFamily="34" charset="-122"/>
                <a:cs typeface="Arial" pitchFamily="34" charset="-120"/>
              </a:rPr>
              <a:t>zusätzlicher annualisierter Umsatz — erwirtschaftet von einem einzigen KI-Einkaufsassistenten im Jahr 2025.</a:t>
            </a:r>
            <a:endParaRPr lang="en-US" sz="1450" dirty="0"/>
          </a:p>
        </p:txBody>
      </p:sp>
      <p:sp>
        <p:nvSpPr>
          <p:cNvPr id="6" name="Text 4"/>
          <p:cNvSpPr txBox="1"/>
          <p:nvPr/>
        </p:nvSpPr>
        <p:spPr>
          <a:xfrm>
            <a:off x="566928" y="3986784"/>
            <a:ext cx="5760720" cy="292608"/>
          </a:xfrm>
          <a:prstGeom prst="rect">
            <a:avLst/>
          </a:prstGeom>
          <a:noFill/>
          <a:ln/>
        </p:spPr>
        <p:txBody>
          <a:bodyPr wrap="square" lIns="0" tIns="0" rIns="0" bIns="0" rtlCol="0" anchor="ctr"/>
          <a:lstStyle/>
          <a:p>
            <a:pPr indent="0" marL="0">
              <a:buNone/>
            </a:pPr>
            <a:r>
              <a:rPr lang="en-US" sz="1250" b="1" dirty="0">
                <a:solidFill>
                  <a:srgbClr val="F59E0B"/>
                </a:solidFill>
                <a:latin typeface="Arial" pitchFamily="34" charset="0"/>
                <a:ea typeface="Arial" pitchFamily="34" charset="-122"/>
                <a:cs typeface="Arial" pitchFamily="34" charset="-120"/>
              </a:rPr>
              <a:t>Amazon Rufus. Eingeführt 2024. Ein Eingabefeld.</a:t>
            </a:r>
            <a:endParaRPr lang="en-US" sz="1250" dirty="0"/>
          </a:p>
        </p:txBody>
      </p:sp>
      <p:sp>
        <p:nvSpPr>
          <p:cNvPr id="7" name="Shape 5"/>
          <p:cNvSpPr/>
          <p:nvPr/>
        </p:nvSpPr>
        <p:spPr>
          <a:xfrm>
            <a:off x="7113346" y="1664208"/>
            <a:ext cx="4511421" cy="1170432"/>
          </a:xfrm>
          <a:prstGeom prst="roundRect">
            <a:avLst>
              <a:gd name="adj" fmla="val 4688"/>
            </a:avLst>
          </a:prstGeom>
          <a:solidFill>
            <a:srgbClr val="24438F"/>
          </a:solidFill>
          <a:ln w="12700">
            <a:solidFill>
              <a:srgbClr val="3B62C9"/>
            </a:solidFill>
            <a:prstDash val="solid"/>
          </a:ln>
        </p:spPr>
      </p:sp>
      <p:sp>
        <p:nvSpPr>
          <p:cNvPr id="8" name="Shape 6"/>
          <p:cNvSpPr/>
          <p:nvPr/>
        </p:nvSpPr>
        <p:spPr>
          <a:xfrm>
            <a:off x="7387666" y="1938528"/>
            <a:ext cx="402336" cy="402336"/>
          </a:xfrm>
          <a:prstGeom prst="roundRect">
            <a:avLst>
              <a:gd name="adj" fmla="val 22727"/>
            </a:avLst>
          </a:prstGeom>
          <a:solidFill>
            <a:srgbClr val="F59E0B"/>
          </a:solidFill>
          <a:ln/>
        </p:spPr>
      </p:sp>
      <p:pic>
        <p:nvPicPr>
          <p:cNvPr id="9" name="Image 0" descr="preencoded.png">    </p:cNvPr>
          <p:cNvPicPr>
            <a:picLocks noChangeAspect="1"/>
          </p:cNvPicPr>
          <p:nvPr/>
        </p:nvPicPr>
        <p:blipFill>
          <a:blip r:embed="rId1"/>
          <a:stretch>
            <a:fillRect/>
          </a:stretch>
        </p:blipFill>
        <p:spPr>
          <a:xfrm>
            <a:off x="7483678" y="2034540"/>
            <a:ext cx="210312" cy="210312"/>
          </a:xfrm>
          <a:prstGeom prst="rect">
            <a:avLst/>
          </a:prstGeom>
        </p:spPr>
      </p:pic>
      <p:sp>
        <p:nvSpPr>
          <p:cNvPr id="10" name="Text 7"/>
          <p:cNvSpPr txBox="1"/>
          <p:nvPr/>
        </p:nvSpPr>
        <p:spPr>
          <a:xfrm>
            <a:off x="7982026" y="1847088"/>
            <a:ext cx="3368421" cy="3840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300 Mio.</a:t>
            </a:r>
            <a:endParaRPr lang="en-US" sz="2600" dirty="0"/>
          </a:p>
        </p:txBody>
      </p:sp>
      <p:sp>
        <p:nvSpPr>
          <p:cNvPr id="11" name="Text 8"/>
          <p:cNvSpPr txBox="1"/>
          <p:nvPr/>
        </p:nvSpPr>
        <p:spPr>
          <a:xfrm>
            <a:off x="7982026" y="2249424"/>
            <a:ext cx="3368421" cy="475488"/>
          </a:xfrm>
          <a:prstGeom prst="rect">
            <a:avLst/>
          </a:prstGeom>
          <a:noFill/>
          <a:ln/>
        </p:spPr>
        <p:txBody>
          <a:bodyPr wrap="square" lIns="0" tIns="0" rIns="0" bIns="0" rtlCol="0" anchor="t"/>
          <a:lstStyle/>
          <a:p>
            <a:pPr indent="0" marL="0">
              <a:lnSpc>
                <a:spcPct val="115000"/>
              </a:lnSpc>
              <a:buNone/>
            </a:pPr>
            <a:r>
              <a:rPr lang="en-US" sz="1100" dirty="0">
                <a:solidFill>
                  <a:srgbClr val="C7D7F5"/>
                </a:solidFill>
                <a:latin typeface="Arial" pitchFamily="34" charset="0"/>
                <a:ea typeface="Arial" pitchFamily="34" charset="-122"/>
                <a:cs typeface="Arial" pitchFamily="34" charset="-120"/>
              </a:rPr>
              <a:t>Kundinnen und Kunden nutzten den Assistenten im Jahr 2025.</a:t>
            </a:r>
            <a:endParaRPr lang="en-US" sz="1100" dirty="0"/>
          </a:p>
        </p:txBody>
      </p:sp>
      <p:sp>
        <p:nvSpPr>
          <p:cNvPr id="12" name="Shape 9"/>
          <p:cNvSpPr/>
          <p:nvPr/>
        </p:nvSpPr>
        <p:spPr>
          <a:xfrm>
            <a:off x="7113346" y="3054096"/>
            <a:ext cx="4511421" cy="1170432"/>
          </a:xfrm>
          <a:prstGeom prst="roundRect">
            <a:avLst>
              <a:gd name="adj" fmla="val 4688"/>
            </a:avLst>
          </a:prstGeom>
          <a:solidFill>
            <a:srgbClr val="24438F"/>
          </a:solidFill>
          <a:ln w="12700">
            <a:solidFill>
              <a:srgbClr val="3B62C9"/>
            </a:solidFill>
            <a:prstDash val="solid"/>
          </a:ln>
        </p:spPr>
      </p:sp>
      <p:sp>
        <p:nvSpPr>
          <p:cNvPr id="13" name="Shape 10"/>
          <p:cNvSpPr/>
          <p:nvPr/>
        </p:nvSpPr>
        <p:spPr>
          <a:xfrm>
            <a:off x="7387666" y="3328416"/>
            <a:ext cx="402336" cy="402336"/>
          </a:xfrm>
          <a:prstGeom prst="roundRect">
            <a:avLst>
              <a:gd name="adj" fmla="val 22727"/>
            </a:avLst>
          </a:prstGeom>
          <a:solidFill>
            <a:srgbClr val="F59E0B"/>
          </a:solidFill>
          <a:ln/>
        </p:spPr>
      </p:sp>
      <p:pic>
        <p:nvPicPr>
          <p:cNvPr id="14" name="Image 1" descr="preencoded.png">    </p:cNvPr>
          <p:cNvPicPr>
            <a:picLocks noChangeAspect="1"/>
          </p:cNvPicPr>
          <p:nvPr/>
        </p:nvPicPr>
        <p:blipFill>
          <a:blip r:embed="rId2"/>
          <a:stretch>
            <a:fillRect/>
          </a:stretch>
        </p:blipFill>
        <p:spPr>
          <a:xfrm>
            <a:off x="7483678" y="3424428"/>
            <a:ext cx="210312" cy="210312"/>
          </a:xfrm>
          <a:prstGeom prst="rect">
            <a:avLst/>
          </a:prstGeom>
        </p:spPr>
      </p:pic>
      <p:sp>
        <p:nvSpPr>
          <p:cNvPr id="15" name="Text 11"/>
          <p:cNvSpPr txBox="1"/>
          <p:nvPr/>
        </p:nvSpPr>
        <p:spPr>
          <a:xfrm>
            <a:off x="7982026" y="3236976"/>
            <a:ext cx="3368421" cy="3840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+60 %</a:t>
            </a:r>
            <a:endParaRPr lang="en-US" sz="2600" dirty="0"/>
          </a:p>
        </p:txBody>
      </p:sp>
      <p:sp>
        <p:nvSpPr>
          <p:cNvPr id="16" name="Text 12"/>
          <p:cNvSpPr txBox="1"/>
          <p:nvPr/>
        </p:nvSpPr>
        <p:spPr>
          <a:xfrm>
            <a:off x="7982026" y="3639312"/>
            <a:ext cx="3368421" cy="475488"/>
          </a:xfrm>
          <a:prstGeom prst="rect">
            <a:avLst/>
          </a:prstGeom>
          <a:noFill/>
          <a:ln/>
        </p:spPr>
        <p:txBody>
          <a:bodyPr wrap="square" lIns="0" tIns="0" rIns="0" bIns="0" rtlCol="0" anchor="t"/>
          <a:lstStyle/>
          <a:p>
            <a:pPr indent="0" marL="0">
              <a:lnSpc>
                <a:spcPct val="115000"/>
              </a:lnSpc>
              <a:buNone/>
            </a:pPr>
            <a:r>
              <a:rPr lang="en-US" sz="1100" dirty="0">
                <a:solidFill>
                  <a:srgbClr val="C7D7F5"/>
                </a:solidFill>
                <a:latin typeface="Arial" pitchFamily="34" charset="0"/>
                <a:ea typeface="Arial" pitchFamily="34" charset="-122"/>
                <a:cs typeface="Arial" pitchFamily="34" charset="-120"/>
              </a:rPr>
              <a:t>höhere Wahrscheinlichkeit, dass ein Kauf zustande kommt.</a:t>
            </a:r>
            <a:endParaRPr lang="en-US" sz="1100" dirty="0"/>
          </a:p>
        </p:txBody>
      </p:sp>
      <p:sp>
        <p:nvSpPr>
          <p:cNvPr id="17" name="Shape 13"/>
          <p:cNvSpPr/>
          <p:nvPr/>
        </p:nvSpPr>
        <p:spPr>
          <a:xfrm>
            <a:off x="7113346" y="4443984"/>
            <a:ext cx="4511421" cy="1170432"/>
          </a:xfrm>
          <a:prstGeom prst="roundRect">
            <a:avLst>
              <a:gd name="adj" fmla="val 4688"/>
            </a:avLst>
          </a:prstGeom>
          <a:solidFill>
            <a:srgbClr val="24438F"/>
          </a:solidFill>
          <a:ln w="12700">
            <a:solidFill>
              <a:srgbClr val="3B62C9"/>
            </a:solidFill>
            <a:prstDash val="solid"/>
          </a:ln>
        </p:spPr>
      </p:sp>
      <p:sp>
        <p:nvSpPr>
          <p:cNvPr id="18" name="Shape 14"/>
          <p:cNvSpPr/>
          <p:nvPr/>
        </p:nvSpPr>
        <p:spPr>
          <a:xfrm>
            <a:off x="7387666" y="4718304"/>
            <a:ext cx="402336" cy="402336"/>
          </a:xfrm>
          <a:prstGeom prst="roundRect">
            <a:avLst>
              <a:gd name="adj" fmla="val 22727"/>
            </a:avLst>
          </a:prstGeom>
          <a:solidFill>
            <a:srgbClr val="F59E0B"/>
          </a:solidFill>
          <a:ln/>
        </p:spPr>
      </p:sp>
      <p:pic>
        <p:nvPicPr>
          <p:cNvPr id="19" name="Image 2" descr="preencoded.png">    </p:cNvPr>
          <p:cNvPicPr>
            <a:picLocks noChangeAspect="1"/>
          </p:cNvPicPr>
          <p:nvPr/>
        </p:nvPicPr>
        <p:blipFill>
          <a:blip r:embed="rId3"/>
          <a:stretch>
            <a:fillRect/>
          </a:stretch>
        </p:blipFill>
        <p:spPr>
          <a:xfrm>
            <a:off x="7483678" y="4814316"/>
            <a:ext cx="210312" cy="210312"/>
          </a:xfrm>
          <a:prstGeom prst="rect">
            <a:avLst/>
          </a:prstGeom>
        </p:spPr>
      </p:pic>
      <p:sp>
        <p:nvSpPr>
          <p:cNvPr id="20" name="Text 15"/>
          <p:cNvSpPr txBox="1"/>
          <p:nvPr/>
        </p:nvSpPr>
        <p:spPr>
          <a:xfrm>
            <a:off x="7982026" y="4626864"/>
            <a:ext cx="3368421" cy="38404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2024</a:t>
            </a:r>
            <a:endParaRPr lang="en-US" sz="2600" dirty="0"/>
          </a:p>
        </p:txBody>
      </p:sp>
      <p:sp>
        <p:nvSpPr>
          <p:cNvPr id="21" name="Text 16"/>
          <p:cNvSpPr txBox="1"/>
          <p:nvPr/>
        </p:nvSpPr>
        <p:spPr>
          <a:xfrm>
            <a:off x="7982026" y="5029200"/>
            <a:ext cx="3368421" cy="475488"/>
          </a:xfrm>
          <a:prstGeom prst="rect">
            <a:avLst/>
          </a:prstGeom>
          <a:noFill/>
          <a:ln/>
        </p:spPr>
        <p:txBody>
          <a:bodyPr wrap="square" lIns="0" tIns="0" rIns="0" bIns="0" rtlCol="0" anchor="t"/>
          <a:lstStyle/>
          <a:p>
            <a:pPr indent="0" marL="0">
              <a:lnSpc>
                <a:spcPct val="115000"/>
              </a:lnSpc>
              <a:buNone/>
            </a:pPr>
            <a:r>
              <a:rPr lang="en-US" sz="1100" dirty="0">
                <a:solidFill>
                  <a:srgbClr val="C7D7F5"/>
                </a:solidFill>
                <a:latin typeface="Arial" pitchFamily="34" charset="0"/>
                <a:ea typeface="Arial" pitchFamily="34" charset="-122"/>
                <a:cs typeface="Arial" pitchFamily="34" charset="-120"/>
              </a:rPr>
              <a:t>Jahr der Einführung — der ausgewiesene Effekt ist der Jahreswert 2025.</a:t>
            </a:r>
            <a:endParaRPr lang="en-US" sz="1100" dirty="0"/>
          </a:p>
        </p:txBody>
      </p:sp>
      <p:sp>
        <p:nvSpPr>
          <p:cNvPr id="22" name="Text 17"/>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8FAEE4"/>
                </a:solidFill>
                <a:latin typeface="Arial" pitchFamily="34" charset="0"/>
                <a:ea typeface="Arial" pitchFamily="34" charset="-122"/>
                <a:cs typeface="Arial" pitchFamily="34" charset="-120"/>
              </a:rPr>
              <a:t>Quelle: Amazon, Q4/GJ-2025-Ergebnisse und Earnings Call, 02/2026</a:t>
            </a:r>
            <a:endParaRPr lang="en-US" sz="900" dirty="0"/>
          </a:p>
        </p:txBody>
      </p:sp>
      <p:sp>
        <p:nvSpPr>
          <p:cNvPr id="23" name="Text 18"/>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8FAEE4"/>
                </a:solidFill>
                <a:latin typeface="Arial" pitchFamily="34" charset="0"/>
                <a:ea typeface="Arial" pitchFamily="34" charset="-122"/>
                <a:cs typeface="Arial" pitchFamily="34" charset="-120"/>
              </a:rPr>
              <a:t>02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GRUNDLAGEN</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KI in einer Folie</a:t>
            </a:r>
            <a:endParaRPr lang="en-US" sz="2900" dirty="0"/>
          </a:p>
        </p:txBody>
      </p:sp>
      <p:sp>
        <p:nvSpPr>
          <p:cNvPr id="4" name="Shape 2"/>
          <p:cNvSpPr/>
          <p:nvPr/>
        </p:nvSpPr>
        <p:spPr>
          <a:xfrm>
            <a:off x="566928" y="1627632"/>
            <a:ext cx="3576218" cy="3310128"/>
          </a:xfrm>
          <a:prstGeom prst="roundRect">
            <a:avLst>
              <a:gd name="adj" fmla="val 1657"/>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5" name="Shape 3"/>
          <p:cNvSpPr/>
          <p:nvPr/>
        </p:nvSpPr>
        <p:spPr>
          <a:xfrm>
            <a:off x="877824" y="1920240"/>
            <a:ext cx="402336" cy="402336"/>
          </a:xfrm>
          <a:prstGeom prst="roundRect">
            <a:avLst>
              <a:gd name="adj" fmla="val 22727"/>
            </a:avLst>
          </a:prstGeom>
          <a:solidFill>
            <a:srgbClr val="1E40AF"/>
          </a:solidFill>
          <a:ln/>
        </p:spPr>
      </p:sp>
      <p:pic>
        <p:nvPicPr>
          <p:cNvPr id="6" name="Image 0" descr="preencoded.png">    </p:cNvPr>
          <p:cNvPicPr>
            <a:picLocks noChangeAspect="1"/>
          </p:cNvPicPr>
          <p:nvPr/>
        </p:nvPicPr>
        <p:blipFill>
          <a:blip r:embed="rId1"/>
          <a:stretch>
            <a:fillRect/>
          </a:stretch>
        </p:blipFill>
        <p:spPr>
          <a:xfrm>
            <a:off x="973836" y="2016252"/>
            <a:ext cx="210312" cy="210312"/>
          </a:xfrm>
          <a:prstGeom prst="rect">
            <a:avLst/>
          </a:prstGeom>
        </p:spPr>
      </p:pic>
      <p:sp>
        <p:nvSpPr>
          <p:cNvPr id="7" name="Text 4"/>
          <p:cNvSpPr txBox="1"/>
          <p:nvPr/>
        </p:nvSpPr>
        <p:spPr>
          <a:xfrm>
            <a:off x="877824" y="2487168"/>
            <a:ext cx="2954426" cy="310896"/>
          </a:xfrm>
          <a:prstGeom prst="rect">
            <a:avLst/>
          </a:prstGeom>
          <a:noFill/>
          <a:ln/>
        </p:spPr>
        <p:txBody>
          <a:bodyPr wrap="square" lIns="0" tIns="0" rIns="0" bIns="0" rtlCol="0" anchor="ctr"/>
          <a:lstStyle/>
          <a:p>
            <a:pPr indent="0" marL="0">
              <a:buNone/>
            </a:pPr>
            <a:r>
              <a:rPr lang="en-US" sz="1600" b="1" dirty="0">
                <a:solidFill>
                  <a:srgbClr val="1E3A8A"/>
                </a:solidFill>
                <a:latin typeface="Arial" pitchFamily="34" charset="0"/>
                <a:ea typeface="Arial" pitchFamily="34" charset="-122"/>
                <a:cs typeface="Arial" pitchFamily="34" charset="-120"/>
              </a:rPr>
              <a:t>Machine Learning</a:t>
            </a:r>
            <a:endParaRPr lang="en-US" sz="1600" dirty="0"/>
          </a:p>
        </p:txBody>
      </p:sp>
      <p:sp>
        <p:nvSpPr>
          <p:cNvPr id="8" name="Text 5"/>
          <p:cNvSpPr txBox="1"/>
          <p:nvPr/>
        </p:nvSpPr>
        <p:spPr>
          <a:xfrm>
            <a:off x="877824" y="2871216"/>
            <a:ext cx="2954426" cy="1188720"/>
          </a:xfrm>
          <a:prstGeom prst="rect">
            <a:avLst/>
          </a:prstGeom>
          <a:noFill/>
          <a:ln/>
        </p:spPr>
        <p:txBody>
          <a:bodyPr wrap="square" lIns="0" tIns="0" rIns="0" bIns="0" rtlCol="0" anchor="t"/>
          <a:lstStyle/>
          <a:p>
            <a:pPr indent="0" marL="0">
              <a:lnSpc>
                <a:spcPct val="128000"/>
              </a:lnSpc>
              <a:buNone/>
            </a:pPr>
            <a:r>
              <a:rPr lang="en-US" sz="1250" dirty="0">
                <a:solidFill>
                  <a:srgbClr val="475569"/>
                </a:solidFill>
                <a:latin typeface="Arial" pitchFamily="34" charset="0"/>
                <a:ea typeface="Arial" pitchFamily="34" charset="-122"/>
                <a:cs typeface="Arial" pitchFamily="34" charset="-120"/>
              </a:rPr>
              <a:t>Erkennt Muster in großen Datenmengen und leitet daraus Wahrscheinlichkeiten ab. Lernt aus Beispielen statt aus Regeln.</a:t>
            </a:r>
            <a:endParaRPr lang="en-US" sz="1250" dirty="0"/>
          </a:p>
        </p:txBody>
      </p:sp>
      <p:sp>
        <p:nvSpPr>
          <p:cNvPr id="9" name="Text 6"/>
          <p:cNvSpPr txBox="1"/>
          <p:nvPr/>
        </p:nvSpPr>
        <p:spPr>
          <a:xfrm>
            <a:off x="877824" y="4187952"/>
            <a:ext cx="2954426" cy="566928"/>
          </a:xfrm>
          <a:prstGeom prst="rect">
            <a:avLst/>
          </a:prstGeom>
          <a:noFill/>
          <a:ln/>
        </p:spPr>
        <p:txBody>
          <a:bodyPr wrap="square" lIns="0" tIns="0" rIns="0" bIns="0" rtlCol="0" anchor="t"/>
          <a:lstStyle/>
          <a:p>
            <a:pPr indent="0" marL="0">
              <a:lnSpc>
                <a:spcPct val="120000"/>
              </a:lnSpc>
              <a:buNone/>
            </a:pPr>
            <a:r>
              <a:rPr lang="en-US" sz="1100" b="1" dirty="0">
                <a:solidFill>
                  <a:srgbClr val="D97706"/>
                </a:solidFill>
                <a:latin typeface="Arial" pitchFamily="34" charset="0"/>
                <a:ea typeface="Arial" pitchFamily="34" charset="-122"/>
                <a:cs typeface="Arial" pitchFamily="34" charset="-120"/>
              </a:rPr>
              <a:t>Nachfrageprognose · Betrugs-Score · Empfehlungen</a:t>
            </a:r>
            <a:endParaRPr lang="en-US" sz="1100" dirty="0"/>
          </a:p>
        </p:txBody>
      </p:sp>
      <p:sp>
        <p:nvSpPr>
          <p:cNvPr id="10" name="Shape 7"/>
          <p:cNvSpPr/>
          <p:nvPr/>
        </p:nvSpPr>
        <p:spPr>
          <a:xfrm>
            <a:off x="4307738" y="1627632"/>
            <a:ext cx="3576218" cy="3310128"/>
          </a:xfrm>
          <a:prstGeom prst="roundRect">
            <a:avLst>
              <a:gd name="adj" fmla="val 1657"/>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1" name="Shape 8"/>
          <p:cNvSpPr/>
          <p:nvPr/>
        </p:nvSpPr>
        <p:spPr>
          <a:xfrm>
            <a:off x="4618634" y="1920240"/>
            <a:ext cx="402336" cy="402336"/>
          </a:xfrm>
          <a:prstGeom prst="roundRect">
            <a:avLst>
              <a:gd name="adj" fmla="val 22727"/>
            </a:avLst>
          </a:prstGeom>
          <a:solidFill>
            <a:srgbClr val="1E40AF"/>
          </a:solidFill>
          <a:ln/>
        </p:spPr>
      </p:sp>
      <p:pic>
        <p:nvPicPr>
          <p:cNvPr id="12" name="Image 1" descr="preencoded.png">    </p:cNvPr>
          <p:cNvPicPr>
            <a:picLocks noChangeAspect="1"/>
          </p:cNvPicPr>
          <p:nvPr/>
        </p:nvPicPr>
        <p:blipFill>
          <a:blip r:embed="rId2"/>
          <a:stretch>
            <a:fillRect/>
          </a:stretch>
        </p:blipFill>
        <p:spPr>
          <a:xfrm>
            <a:off x="4714646" y="2016252"/>
            <a:ext cx="210312" cy="210312"/>
          </a:xfrm>
          <a:prstGeom prst="rect">
            <a:avLst/>
          </a:prstGeom>
        </p:spPr>
      </p:pic>
      <p:sp>
        <p:nvSpPr>
          <p:cNvPr id="13" name="Text 9"/>
          <p:cNvSpPr txBox="1"/>
          <p:nvPr/>
        </p:nvSpPr>
        <p:spPr>
          <a:xfrm>
            <a:off x="4618634" y="2487168"/>
            <a:ext cx="2954426" cy="310896"/>
          </a:xfrm>
          <a:prstGeom prst="rect">
            <a:avLst/>
          </a:prstGeom>
          <a:noFill/>
          <a:ln/>
        </p:spPr>
        <p:txBody>
          <a:bodyPr wrap="square" lIns="0" tIns="0" rIns="0" bIns="0" rtlCol="0" anchor="ctr"/>
          <a:lstStyle/>
          <a:p>
            <a:pPr indent="0" marL="0">
              <a:buNone/>
            </a:pPr>
            <a:r>
              <a:rPr lang="en-US" sz="1600" b="1" dirty="0">
                <a:solidFill>
                  <a:srgbClr val="1E3A8A"/>
                </a:solidFill>
                <a:latin typeface="Arial" pitchFamily="34" charset="0"/>
                <a:ea typeface="Arial" pitchFamily="34" charset="-122"/>
                <a:cs typeface="Arial" pitchFamily="34" charset="-120"/>
              </a:rPr>
              <a:t>Generative KI</a:t>
            </a:r>
            <a:endParaRPr lang="en-US" sz="1600" dirty="0"/>
          </a:p>
        </p:txBody>
      </p:sp>
      <p:sp>
        <p:nvSpPr>
          <p:cNvPr id="14" name="Text 10"/>
          <p:cNvSpPr txBox="1"/>
          <p:nvPr/>
        </p:nvSpPr>
        <p:spPr>
          <a:xfrm>
            <a:off x="4618634" y="2871216"/>
            <a:ext cx="2954426" cy="1188720"/>
          </a:xfrm>
          <a:prstGeom prst="rect">
            <a:avLst/>
          </a:prstGeom>
          <a:noFill/>
          <a:ln/>
        </p:spPr>
        <p:txBody>
          <a:bodyPr wrap="square" lIns="0" tIns="0" rIns="0" bIns="0" rtlCol="0" anchor="t"/>
          <a:lstStyle/>
          <a:p>
            <a:pPr indent="0" marL="0">
              <a:lnSpc>
                <a:spcPct val="128000"/>
              </a:lnSpc>
              <a:buNone/>
            </a:pPr>
            <a:r>
              <a:rPr lang="en-US" sz="1250" dirty="0">
                <a:solidFill>
                  <a:srgbClr val="475569"/>
                </a:solidFill>
                <a:latin typeface="Arial" pitchFamily="34" charset="0"/>
                <a:ea typeface="Arial" pitchFamily="34" charset="-122"/>
                <a:cs typeface="Arial" pitchFamily="34" charset="-120"/>
              </a:rPr>
              <a:t>Erzeugt neue Inhalte: Text, Bild, Code. Sie berechnet Schritt für Schritt, was als Nächstes am plausibelsten ist.</a:t>
            </a:r>
            <a:endParaRPr lang="en-US" sz="1250" dirty="0"/>
          </a:p>
        </p:txBody>
      </p:sp>
      <p:sp>
        <p:nvSpPr>
          <p:cNvPr id="15" name="Text 11"/>
          <p:cNvSpPr txBox="1"/>
          <p:nvPr/>
        </p:nvSpPr>
        <p:spPr>
          <a:xfrm>
            <a:off x="4618634" y="4187952"/>
            <a:ext cx="2954426" cy="566928"/>
          </a:xfrm>
          <a:prstGeom prst="rect">
            <a:avLst/>
          </a:prstGeom>
          <a:noFill/>
          <a:ln/>
        </p:spPr>
        <p:txBody>
          <a:bodyPr wrap="square" lIns="0" tIns="0" rIns="0" bIns="0" rtlCol="0" anchor="t"/>
          <a:lstStyle/>
          <a:p>
            <a:pPr indent="0" marL="0">
              <a:lnSpc>
                <a:spcPct val="120000"/>
              </a:lnSpc>
              <a:buNone/>
            </a:pPr>
            <a:r>
              <a:rPr lang="en-US" sz="1100" b="1" dirty="0">
                <a:solidFill>
                  <a:srgbClr val="D97706"/>
                </a:solidFill>
                <a:latin typeface="Arial" pitchFamily="34" charset="0"/>
                <a:ea typeface="Arial" pitchFamily="34" charset="-122"/>
                <a:cs typeface="Arial" pitchFamily="34" charset="-120"/>
              </a:rPr>
              <a:t>Produkttexte · Kampagnenmotive · Übersetzungen</a:t>
            </a:r>
            <a:endParaRPr lang="en-US" sz="1100" dirty="0"/>
          </a:p>
        </p:txBody>
      </p:sp>
      <p:sp>
        <p:nvSpPr>
          <p:cNvPr id="16" name="Shape 12"/>
          <p:cNvSpPr/>
          <p:nvPr/>
        </p:nvSpPr>
        <p:spPr>
          <a:xfrm>
            <a:off x="8048549" y="1627632"/>
            <a:ext cx="3576218" cy="3310128"/>
          </a:xfrm>
          <a:prstGeom prst="roundRect">
            <a:avLst>
              <a:gd name="adj" fmla="val 1657"/>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7" name="Shape 13"/>
          <p:cNvSpPr/>
          <p:nvPr/>
        </p:nvSpPr>
        <p:spPr>
          <a:xfrm>
            <a:off x="8359445" y="1920240"/>
            <a:ext cx="402336" cy="402336"/>
          </a:xfrm>
          <a:prstGeom prst="roundRect">
            <a:avLst>
              <a:gd name="adj" fmla="val 22727"/>
            </a:avLst>
          </a:prstGeom>
          <a:solidFill>
            <a:srgbClr val="1E40AF"/>
          </a:solidFill>
          <a:ln/>
        </p:spPr>
      </p:sp>
      <p:pic>
        <p:nvPicPr>
          <p:cNvPr id="18" name="Image 2" descr="preencoded.png">    </p:cNvPr>
          <p:cNvPicPr>
            <a:picLocks noChangeAspect="1"/>
          </p:cNvPicPr>
          <p:nvPr/>
        </p:nvPicPr>
        <p:blipFill>
          <a:blip r:embed="rId3"/>
          <a:stretch>
            <a:fillRect/>
          </a:stretch>
        </p:blipFill>
        <p:spPr>
          <a:xfrm>
            <a:off x="8455457" y="2016252"/>
            <a:ext cx="210312" cy="210312"/>
          </a:xfrm>
          <a:prstGeom prst="rect">
            <a:avLst/>
          </a:prstGeom>
        </p:spPr>
      </p:pic>
      <p:sp>
        <p:nvSpPr>
          <p:cNvPr id="19" name="Text 14"/>
          <p:cNvSpPr txBox="1"/>
          <p:nvPr/>
        </p:nvSpPr>
        <p:spPr>
          <a:xfrm>
            <a:off x="8359445" y="2487168"/>
            <a:ext cx="2954426" cy="310896"/>
          </a:xfrm>
          <a:prstGeom prst="rect">
            <a:avLst/>
          </a:prstGeom>
          <a:noFill/>
          <a:ln/>
        </p:spPr>
        <p:txBody>
          <a:bodyPr wrap="square" lIns="0" tIns="0" rIns="0" bIns="0" rtlCol="0" anchor="ctr"/>
          <a:lstStyle/>
          <a:p>
            <a:pPr indent="0" marL="0">
              <a:buNone/>
            </a:pPr>
            <a:r>
              <a:rPr lang="en-US" sz="1600" b="1" dirty="0">
                <a:solidFill>
                  <a:srgbClr val="1E3A8A"/>
                </a:solidFill>
                <a:latin typeface="Arial" pitchFamily="34" charset="0"/>
                <a:ea typeface="Arial" pitchFamily="34" charset="-122"/>
                <a:cs typeface="Arial" pitchFamily="34" charset="-120"/>
              </a:rPr>
              <a:t>KI-Agenten</a:t>
            </a:r>
            <a:endParaRPr lang="en-US" sz="1600" dirty="0"/>
          </a:p>
        </p:txBody>
      </p:sp>
      <p:sp>
        <p:nvSpPr>
          <p:cNvPr id="20" name="Text 15"/>
          <p:cNvSpPr txBox="1"/>
          <p:nvPr/>
        </p:nvSpPr>
        <p:spPr>
          <a:xfrm>
            <a:off x="8359445" y="2871216"/>
            <a:ext cx="2954426" cy="1188720"/>
          </a:xfrm>
          <a:prstGeom prst="rect">
            <a:avLst/>
          </a:prstGeom>
          <a:noFill/>
          <a:ln/>
        </p:spPr>
        <p:txBody>
          <a:bodyPr wrap="square" lIns="0" tIns="0" rIns="0" bIns="0" rtlCol="0" anchor="t"/>
          <a:lstStyle/>
          <a:p>
            <a:pPr indent="0" marL="0">
              <a:lnSpc>
                <a:spcPct val="128000"/>
              </a:lnSpc>
              <a:buNone/>
            </a:pPr>
            <a:r>
              <a:rPr lang="en-US" sz="1250" dirty="0">
                <a:solidFill>
                  <a:srgbClr val="475569"/>
                </a:solidFill>
                <a:latin typeface="Arial" pitchFamily="34" charset="0"/>
                <a:ea typeface="Arial" pitchFamily="34" charset="-122"/>
                <a:cs typeface="Arial" pitchFamily="34" charset="-120"/>
              </a:rPr>
              <a:t>Planen mehrere Schritte, bedienen selbst Werkzeuge und handeln eigenständig, bis ein Ziel erreicht ist.</a:t>
            </a:r>
            <a:endParaRPr lang="en-US" sz="1250" dirty="0"/>
          </a:p>
        </p:txBody>
      </p:sp>
      <p:sp>
        <p:nvSpPr>
          <p:cNvPr id="21" name="Text 16"/>
          <p:cNvSpPr txBox="1"/>
          <p:nvPr/>
        </p:nvSpPr>
        <p:spPr>
          <a:xfrm>
            <a:off x="8359445" y="4187952"/>
            <a:ext cx="2954426" cy="566928"/>
          </a:xfrm>
          <a:prstGeom prst="rect">
            <a:avLst/>
          </a:prstGeom>
          <a:noFill/>
          <a:ln/>
        </p:spPr>
        <p:txBody>
          <a:bodyPr wrap="square" lIns="0" tIns="0" rIns="0" bIns="0" rtlCol="0" anchor="t"/>
          <a:lstStyle/>
          <a:p>
            <a:pPr indent="0" marL="0">
              <a:lnSpc>
                <a:spcPct val="120000"/>
              </a:lnSpc>
              <a:buNone/>
            </a:pPr>
            <a:r>
              <a:rPr lang="en-US" sz="1100" b="1" dirty="0">
                <a:solidFill>
                  <a:srgbClr val="D97706"/>
                </a:solidFill>
                <a:latin typeface="Arial" pitchFamily="34" charset="0"/>
                <a:ea typeface="Arial" pitchFamily="34" charset="-122"/>
                <a:cs typeface="Arial" pitchFamily="34" charset="-120"/>
              </a:rPr>
              <a:t>Assistent, der recherchiert, vergleicht und bestellt</a:t>
            </a:r>
            <a:endParaRPr lang="en-US" sz="1100" dirty="0"/>
          </a:p>
        </p:txBody>
      </p:sp>
      <p:sp>
        <p:nvSpPr>
          <p:cNvPr id="22" name="Shape 17"/>
          <p:cNvSpPr/>
          <p:nvPr/>
        </p:nvSpPr>
        <p:spPr>
          <a:xfrm>
            <a:off x="566928" y="5138928"/>
            <a:ext cx="11057839" cy="749808"/>
          </a:xfrm>
          <a:prstGeom prst="roundRect">
            <a:avLst>
              <a:gd name="adj" fmla="val 7317"/>
            </a:avLst>
          </a:prstGeom>
          <a:solidFill>
            <a:srgbClr val="E9EEF6"/>
          </a:solidFill>
          <a:ln w="12700">
            <a:solidFill>
              <a:srgbClr val="DBEAFE"/>
            </a:solidFill>
            <a:prstDash val="solid"/>
          </a:ln>
        </p:spPr>
      </p:sp>
      <p:sp>
        <p:nvSpPr>
          <p:cNvPr id="23" name="Shape 18"/>
          <p:cNvSpPr/>
          <p:nvPr/>
        </p:nvSpPr>
        <p:spPr>
          <a:xfrm>
            <a:off x="804672" y="5312664"/>
            <a:ext cx="402336" cy="402336"/>
          </a:xfrm>
          <a:prstGeom prst="roundRect">
            <a:avLst>
              <a:gd name="adj" fmla="val 22727"/>
            </a:avLst>
          </a:prstGeom>
          <a:solidFill>
            <a:srgbClr val="1E40AF"/>
          </a:solidFill>
          <a:ln/>
        </p:spPr>
      </p:sp>
      <p:pic>
        <p:nvPicPr>
          <p:cNvPr id="24" name="Image 3" descr="preencoded.png">    </p:cNvPr>
          <p:cNvPicPr>
            <a:picLocks noChangeAspect="1"/>
          </p:cNvPicPr>
          <p:nvPr/>
        </p:nvPicPr>
        <p:blipFill>
          <a:blip r:embed="rId4"/>
          <a:stretch>
            <a:fillRect/>
          </a:stretch>
        </p:blipFill>
        <p:spPr>
          <a:xfrm>
            <a:off x="900684" y="5408676"/>
            <a:ext cx="210312" cy="210312"/>
          </a:xfrm>
          <a:prstGeom prst="rect">
            <a:avLst/>
          </a:prstGeom>
        </p:spPr>
      </p:pic>
      <p:sp>
        <p:nvSpPr>
          <p:cNvPr id="25" name="Text 19"/>
          <p:cNvSpPr txBox="1"/>
          <p:nvPr/>
        </p:nvSpPr>
        <p:spPr>
          <a:xfrm>
            <a:off x="1371600" y="5248656"/>
            <a:ext cx="9960559" cy="548640"/>
          </a:xfrm>
          <a:prstGeom prst="rect">
            <a:avLst/>
          </a:prstGeom>
          <a:noFill/>
          <a:ln/>
        </p:spPr>
        <p:txBody>
          <a:bodyPr wrap="square" lIns="0" tIns="0" rIns="0" bIns="0" rtlCol="0" anchor="ctr"/>
          <a:lstStyle/>
          <a:p>
            <a:pPr indent="0" marL="0">
              <a:lnSpc>
                <a:spcPct val="120000"/>
              </a:lnSpc>
              <a:buNone/>
            </a:pPr>
            <a:r>
              <a:rPr lang="en-US" sz="1250" dirty="0">
                <a:solidFill>
                  <a:srgbClr val="1E3A8A"/>
                </a:solidFill>
                <a:latin typeface="Arial" pitchFamily="34" charset="0"/>
                <a:ea typeface="Arial" pitchFamily="34" charset="-122"/>
                <a:cs typeface="Arial" pitchFamily="34" charset="-120"/>
              </a:rPr>
              <a:t>Die Reihenfolge ist zugleich der Reifegrad: Machine Learning läuft seit Jahren im Hintergrund, generative KI seit 2023 im Alltag. 2026 verschiebt sich der Schwerpunkt vom Erzeugen zum Handeln.</a:t>
            </a:r>
            <a:endParaRPr lang="en-US" sz="1250" dirty="0"/>
          </a:p>
        </p:txBody>
      </p:sp>
      <p:sp>
        <p:nvSpPr>
          <p:cNvPr id="26" name="Text 20"/>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03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MAKRO-EBENE 1 VON 2</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KI ist in der Breite angekommen — das Geld folgt</a:t>
            </a:r>
            <a:endParaRPr lang="en-US" sz="2900" dirty="0"/>
          </a:p>
        </p:txBody>
      </p:sp>
      <p:sp>
        <p:nvSpPr>
          <p:cNvPr id="4" name="Shape 2"/>
          <p:cNvSpPr/>
          <p:nvPr/>
        </p:nvSpPr>
        <p:spPr>
          <a:xfrm>
            <a:off x="566928" y="1591056"/>
            <a:ext cx="6381826" cy="4224528"/>
          </a:xfrm>
          <a:prstGeom prst="roundRect">
            <a:avLst>
              <a:gd name="adj" fmla="val 1299"/>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5" name="Text 3"/>
          <p:cNvSpPr txBox="1"/>
          <p:nvPr/>
        </p:nvSpPr>
        <p:spPr>
          <a:xfrm>
            <a:off x="877824" y="1810512"/>
            <a:ext cx="5760034" cy="219456"/>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Unternehmen in Deutschland, die KI einsetzen</a:t>
            </a:r>
            <a:endParaRPr lang="en-US" sz="1400" dirty="0"/>
          </a:p>
        </p:txBody>
      </p:sp>
      <p:sp>
        <p:nvSpPr>
          <p:cNvPr id="6" name="Text 4"/>
          <p:cNvSpPr txBox="1"/>
          <p:nvPr/>
        </p:nvSpPr>
        <p:spPr>
          <a:xfrm>
            <a:off x="877824" y="2029968"/>
            <a:ext cx="5760034" cy="201168"/>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Anteil in Prozent · Befragung von Unternehmen ab 20 Beschäftigten</a:t>
            </a:r>
            <a:endParaRPr lang="en-US" sz="900" dirty="0"/>
          </a:p>
        </p:txBody>
      </p:sp>
      <p:graphicFrame>
        <p:nvGraphicFramePr>
          <p:cNvPr id="7" name="Chart 0" descr=""/>
          <p:cNvGraphicFramePr/>
          <p:nvPr/>
        </p:nvGraphicFramePr>
        <p:xfrm>
          <a:off x="731520" y="2304288"/>
          <a:ext cx="5979490" cy="32918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113346" y="1591056"/>
            <a:ext cx="4511421" cy="2029968"/>
          </a:xfrm>
          <a:prstGeom prst="roundRect">
            <a:avLst>
              <a:gd name="adj" fmla="val 2703"/>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9" name="Shape 6"/>
          <p:cNvSpPr/>
          <p:nvPr/>
        </p:nvSpPr>
        <p:spPr>
          <a:xfrm>
            <a:off x="7405954" y="1847088"/>
            <a:ext cx="402336" cy="402336"/>
          </a:xfrm>
          <a:prstGeom prst="roundRect">
            <a:avLst>
              <a:gd name="adj" fmla="val 22727"/>
            </a:avLst>
          </a:prstGeom>
          <a:solidFill>
            <a:srgbClr val="1E40AF"/>
          </a:solidFill>
          <a:ln/>
        </p:spPr>
      </p:sp>
      <p:pic>
        <p:nvPicPr>
          <p:cNvPr id="10" name="Image 0" descr="preencoded.png">    </p:cNvPr>
          <p:cNvPicPr>
            <a:picLocks noChangeAspect="1"/>
          </p:cNvPicPr>
          <p:nvPr/>
        </p:nvPicPr>
        <p:blipFill>
          <a:blip r:embed="rId2"/>
          <a:stretch>
            <a:fillRect/>
          </a:stretch>
        </p:blipFill>
        <p:spPr>
          <a:xfrm>
            <a:off x="7501966" y="1943100"/>
            <a:ext cx="210312" cy="210312"/>
          </a:xfrm>
          <a:prstGeom prst="rect">
            <a:avLst/>
          </a:prstGeom>
        </p:spPr>
      </p:pic>
      <p:sp>
        <p:nvSpPr>
          <p:cNvPr id="11" name="Text 7"/>
          <p:cNvSpPr txBox="1"/>
          <p:nvPr/>
        </p:nvSpPr>
        <p:spPr>
          <a:xfrm>
            <a:off x="7405954" y="2359152"/>
            <a:ext cx="3926205" cy="530352"/>
          </a:xfrm>
          <a:prstGeom prst="rect">
            <a:avLst/>
          </a:prstGeom>
          <a:noFill/>
          <a:ln/>
        </p:spPr>
        <p:txBody>
          <a:bodyPr wrap="square" lIns="0" tIns="0" rIns="0" bIns="0" rtlCol="0" anchor="ctr"/>
          <a:lstStyle/>
          <a:p>
            <a:pPr indent="0" marL="0">
              <a:buNone/>
            </a:pPr>
            <a:r>
              <a:rPr lang="en-US" sz="4000" b="1" dirty="0">
                <a:solidFill>
                  <a:srgbClr val="1E3A8A"/>
                </a:solidFill>
                <a:latin typeface="Cambria" pitchFamily="34" charset="0"/>
                <a:ea typeface="Cambria" pitchFamily="34" charset="-122"/>
                <a:cs typeface="Cambria" pitchFamily="34" charset="-120"/>
              </a:rPr>
              <a:t>2,59 Bio. $</a:t>
            </a:r>
            <a:endParaRPr lang="en-US" sz="4000" dirty="0"/>
          </a:p>
        </p:txBody>
      </p:sp>
      <p:sp>
        <p:nvSpPr>
          <p:cNvPr id="12" name="Text 8"/>
          <p:cNvSpPr txBox="1"/>
          <p:nvPr/>
        </p:nvSpPr>
        <p:spPr>
          <a:xfrm>
            <a:off x="7405954" y="2907792"/>
            <a:ext cx="3926205" cy="603504"/>
          </a:xfrm>
          <a:prstGeom prst="rect">
            <a:avLst/>
          </a:prstGeom>
          <a:noFill/>
          <a:ln/>
        </p:spPr>
        <p:txBody>
          <a:bodyPr wrap="square" lIns="0" tIns="0" rIns="0" bIns="0" rtlCol="0" anchor="t"/>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weltweite KI-Ausgaben 2026 (Prognose), nach rund 1,5 Bio. $ im Jahr 2025 — ein Plus von 47 %. Über 45 % davon fließen in Infrastruktur.</a:t>
            </a:r>
            <a:endParaRPr lang="en-US" sz="1100" dirty="0"/>
          </a:p>
        </p:txBody>
      </p:sp>
      <p:sp>
        <p:nvSpPr>
          <p:cNvPr id="13" name="Shape 9"/>
          <p:cNvSpPr/>
          <p:nvPr/>
        </p:nvSpPr>
        <p:spPr>
          <a:xfrm>
            <a:off x="7113346" y="3785616"/>
            <a:ext cx="4511421" cy="2029968"/>
          </a:xfrm>
          <a:prstGeom prst="roundRect">
            <a:avLst>
              <a:gd name="adj" fmla="val 2703"/>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4" name="Shape 10"/>
          <p:cNvSpPr/>
          <p:nvPr/>
        </p:nvSpPr>
        <p:spPr>
          <a:xfrm>
            <a:off x="7405954" y="4041648"/>
            <a:ext cx="402336" cy="402336"/>
          </a:xfrm>
          <a:prstGeom prst="roundRect">
            <a:avLst>
              <a:gd name="adj" fmla="val 22727"/>
            </a:avLst>
          </a:prstGeom>
          <a:solidFill>
            <a:srgbClr val="1E40AF"/>
          </a:solidFill>
          <a:ln/>
        </p:spPr>
      </p:sp>
      <p:pic>
        <p:nvPicPr>
          <p:cNvPr id="15" name="Image 1" descr="preencoded.png">    </p:cNvPr>
          <p:cNvPicPr>
            <a:picLocks noChangeAspect="1"/>
          </p:cNvPicPr>
          <p:nvPr/>
        </p:nvPicPr>
        <p:blipFill>
          <a:blip r:embed="rId3"/>
          <a:stretch>
            <a:fillRect/>
          </a:stretch>
        </p:blipFill>
        <p:spPr>
          <a:xfrm>
            <a:off x="7501966" y="4137660"/>
            <a:ext cx="210312" cy="210312"/>
          </a:xfrm>
          <a:prstGeom prst="rect">
            <a:avLst/>
          </a:prstGeom>
        </p:spPr>
      </p:pic>
      <p:sp>
        <p:nvSpPr>
          <p:cNvPr id="16" name="Text 11"/>
          <p:cNvSpPr txBox="1"/>
          <p:nvPr/>
        </p:nvSpPr>
        <p:spPr>
          <a:xfrm>
            <a:off x="7405954" y="4553712"/>
            <a:ext cx="3926205" cy="530352"/>
          </a:xfrm>
          <a:prstGeom prst="rect">
            <a:avLst/>
          </a:prstGeom>
          <a:noFill/>
          <a:ln/>
        </p:spPr>
        <p:txBody>
          <a:bodyPr wrap="square" lIns="0" tIns="0" rIns="0" bIns="0" rtlCol="0" anchor="ctr"/>
          <a:lstStyle/>
          <a:p>
            <a:pPr indent="0" marL="0">
              <a:buNone/>
            </a:pPr>
            <a:r>
              <a:rPr lang="en-US" sz="4000" b="1" dirty="0">
                <a:solidFill>
                  <a:srgbClr val="1E3A8A"/>
                </a:solidFill>
                <a:latin typeface="Cambria" pitchFamily="34" charset="0"/>
                <a:ea typeface="Cambria" pitchFamily="34" charset="-122"/>
                <a:cs typeface="Cambria" pitchFamily="34" charset="-120"/>
              </a:rPr>
              <a:t>38 % / 4 %</a:t>
            </a:r>
            <a:endParaRPr lang="en-US" sz="4000" dirty="0"/>
          </a:p>
        </p:txBody>
      </p:sp>
      <p:sp>
        <p:nvSpPr>
          <p:cNvPr id="17" name="Text 12"/>
          <p:cNvSpPr txBox="1"/>
          <p:nvPr/>
        </p:nvSpPr>
        <p:spPr>
          <a:xfrm>
            <a:off x="7405954" y="5102352"/>
            <a:ext cx="3926205" cy="603504"/>
          </a:xfrm>
          <a:prstGeom prst="rect">
            <a:avLst/>
          </a:prstGeom>
          <a:noFill/>
          <a:ln/>
        </p:spPr>
        <p:txBody>
          <a:bodyPr wrap="square" lIns="0" tIns="0" rIns="0" bIns="0" rtlCol="0" anchor="t"/>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38 % der Unternehmen planen oder diskutieren den Einsatz. Nur noch 4 % sagen, KI sei für sie kein Thema — vor zwei Jahren waren es 41 %.</a:t>
            </a:r>
            <a:endParaRPr lang="en-US" sz="1100" dirty="0"/>
          </a:p>
        </p:txBody>
      </p:sp>
      <p:sp>
        <p:nvSpPr>
          <p:cNvPr id="18" name="Text 13"/>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475569"/>
                </a:solidFill>
                <a:latin typeface="Arial" pitchFamily="34" charset="0"/>
                <a:ea typeface="Arial" pitchFamily="34" charset="-122"/>
                <a:cs typeface="Arial" pitchFamily="34" charset="-120"/>
              </a:rPr>
              <a:t>Quelle: Bitkom, KI in Deutschland 2026 (n = 603 Unternehmen ab 20 Beschäftigten), Stand 09/2026  ·  Gartner, Prognose weltweiter KI-Ausgaben, 05/2026 und 09/2025</a:t>
            </a:r>
            <a:endParaRPr lang="en-US" sz="900" dirty="0"/>
          </a:p>
        </p:txBody>
      </p:sp>
      <p:sp>
        <p:nvSpPr>
          <p:cNvPr id="19" name="Text 14"/>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04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MAKRO-EBENE 2 VON 2</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Produktivität, Wertschöpfung, Arbeitsmarkt</a:t>
            </a:r>
            <a:endParaRPr lang="en-US" sz="2900" dirty="0"/>
          </a:p>
        </p:txBody>
      </p:sp>
      <p:sp>
        <p:nvSpPr>
          <p:cNvPr id="4" name="Shape 2"/>
          <p:cNvSpPr/>
          <p:nvPr/>
        </p:nvSpPr>
        <p:spPr>
          <a:xfrm>
            <a:off x="566928" y="1627632"/>
            <a:ext cx="6381826" cy="1225296"/>
          </a:xfrm>
          <a:prstGeom prst="roundRect">
            <a:avLst>
              <a:gd name="adj" fmla="val 4478"/>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5" name="Shape 3"/>
          <p:cNvSpPr/>
          <p:nvPr/>
        </p:nvSpPr>
        <p:spPr>
          <a:xfrm>
            <a:off x="859536" y="2029968"/>
            <a:ext cx="402336" cy="402336"/>
          </a:xfrm>
          <a:prstGeom prst="roundRect">
            <a:avLst>
              <a:gd name="adj" fmla="val 22727"/>
            </a:avLst>
          </a:prstGeom>
          <a:solidFill>
            <a:srgbClr val="1E40AF"/>
          </a:solidFill>
          <a:ln/>
        </p:spPr>
      </p:sp>
      <p:pic>
        <p:nvPicPr>
          <p:cNvPr id="6" name="Image 0" descr="preencoded.png">    </p:cNvPr>
          <p:cNvPicPr>
            <a:picLocks noChangeAspect="1"/>
          </p:cNvPicPr>
          <p:nvPr/>
        </p:nvPicPr>
        <p:blipFill>
          <a:blip r:embed="rId1"/>
          <a:stretch>
            <a:fillRect/>
          </a:stretch>
        </p:blipFill>
        <p:spPr>
          <a:xfrm>
            <a:off x="955548" y="2125980"/>
            <a:ext cx="210312" cy="210312"/>
          </a:xfrm>
          <a:prstGeom prst="rect">
            <a:avLst/>
          </a:prstGeom>
        </p:spPr>
      </p:pic>
      <p:sp>
        <p:nvSpPr>
          <p:cNvPr id="7" name="Text 4"/>
          <p:cNvSpPr txBox="1"/>
          <p:nvPr/>
        </p:nvSpPr>
        <p:spPr>
          <a:xfrm>
            <a:off x="1463040" y="1847088"/>
            <a:ext cx="5193106" cy="274320"/>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Produktivität</a:t>
            </a:r>
            <a:endParaRPr lang="en-US" sz="1400" dirty="0"/>
          </a:p>
        </p:txBody>
      </p:sp>
      <p:sp>
        <p:nvSpPr>
          <p:cNvPr id="8" name="Text 5"/>
          <p:cNvSpPr txBox="1"/>
          <p:nvPr/>
        </p:nvSpPr>
        <p:spPr>
          <a:xfrm>
            <a:off x="1463040" y="2157984"/>
            <a:ext cx="5193106" cy="603504"/>
          </a:xfrm>
          <a:prstGeom prst="rect">
            <a:avLst/>
          </a:prstGeom>
          <a:noFill/>
          <a:ln/>
        </p:spPr>
        <p:txBody>
          <a:bodyPr wrap="square" lIns="0" tIns="0" rIns="0" bIns="0" rtlCol="0" anchor="t"/>
          <a:lstStyle/>
          <a:p>
            <a:pPr indent="0" marL="0">
              <a:lnSpc>
                <a:spcPct val="122000"/>
              </a:lnSpc>
              <a:buNone/>
            </a:pPr>
            <a:r>
              <a:rPr lang="en-US" sz="1250" dirty="0">
                <a:solidFill>
                  <a:srgbClr val="475569"/>
                </a:solidFill>
                <a:latin typeface="Arial" pitchFamily="34" charset="0"/>
                <a:ea typeface="Arial" pitchFamily="34" charset="-122"/>
                <a:cs typeface="Arial" pitchFamily="34" charset="-120"/>
              </a:rPr>
              <a:t>Generative KI könnte weltweit 2,6 bis 4,4 Bio. $ zusätzlichen Wert pro Jahr erzeugen — gerechnet über 63 untersuchte Anwendungsfälle.</a:t>
            </a:r>
            <a:endParaRPr lang="en-US" sz="1250" dirty="0"/>
          </a:p>
        </p:txBody>
      </p:sp>
      <p:sp>
        <p:nvSpPr>
          <p:cNvPr id="9" name="Shape 6"/>
          <p:cNvSpPr/>
          <p:nvPr/>
        </p:nvSpPr>
        <p:spPr>
          <a:xfrm>
            <a:off x="566928" y="3072384"/>
            <a:ext cx="6381826" cy="1225296"/>
          </a:xfrm>
          <a:prstGeom prst="roundRect">
            <a:avLst>
              <a:gd name="adj" fmla="val 4478"/>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0" name="Shape 7"/>
          <p:cNvSpPr/>
          <p:nvPr/>
        </p:nvSpPr>
        <p:spPr>
          <a:xfrm>
            <a:off x="859536" y="3474720"/>
            <a:ext cx="402336" cy="402336"/>
          </a:xfrm>
          <a:prstGeom prst="roundRect">
            <a:avLst>
              <a:gd name="adj" fmla="val 22727"/>
            </a:avLst>
          </a:prstGeom>
          <a:solidFill>
            <a:srgbClr val="1E40AF"/>
          </a:solidFill>
          <a:ln/>
        </p:spPr>
      </p:sp>
      <p:pic>
        <p:nvPicPr>
          <p:cNvPr id="11" name="Image 1" descr="preencoded.png">    </p:cNvPr>
          <p:cNvPicPr>
            <a:picLocks noChangeAspect="1"/>
          </p:cNvPicPr>
          <p:nvPr/>
        </p:nvPicPr>
        <p:blipFill>
          <a:blip r:embed="rId2"/>
          <a:stretch>
            <a:fillRect/>
          </a:stretch>
        </p:blipFill>
        <p:spPr>
          <a:xfrm>
            <a:off x="955548" y="3570732"/>
            <a:ext cx="210312" cy="210312"/>
          </a:xfrm>
          <a:prstGeom prst="rect">
            <a:avLst/>
          </a:prstGeom>
        </p:spPr>
      </p:pic>
      <p:sp>
        <p:nvSpPr>
          <p:cNvPr id="12" name="Text 8"/>
          <p:cNvSpPr txBox="1"/>
          <p:nvPr/>
        </p:nvSpPr>
        <p:spPr>
          <a:xfrm>
            <a:off x="1463040" y="3291840"/>
            <a:ext cx="5193106" cy="274320"/>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Wertschöpfung</a:t>
            </a:r>
            <a:endParaRPr lang="en-US" sz="1400" dirty="0"/>
          </a:p>
        </p:txBody>
      </p:sp>
      <p:sp>
        <p:nvSpPr>
          <p:cNvPr id="13" name="Text 9"/>
          <p:cNvSpPr txBox="1"/>
          <p:nvPr/>
        </p:nvSpPr>
        <p:spPr>
          <a:xfrm>
            <a:off x="1463040" y="3602736"/>
            <a:ext cx="5193106" cy="603504"/>
          </a:xfrm>
          <a:prstGeom prst="rect">
            <a:avLst/>
          </a:prstGeom>
          <a:noFill/>
          <a:ln/>
        </p:spPr>
        <p:txBody>
          <a:bodyPr wrap="square" lIns="0" tIns="0" rIns="0" bIns="0" rtlCol="0" anchor="t"/>
          <a:lstStyle/>
          <a:p>
            <a:pPr indent="0" marL="0">
              <a:lnSpc>
                <a:spcPct val="122000"/>
              </a:lnSpc>
              <a:buNone/>
            </a:pPr>
            <a:r>
              <a:rPr lang="en-US" sz="1250" dirty="0">
                <a:solidFill>
                  <a:srgbClr val="475569"/>
                </a:solidFill>
                <a:latin typeface="Arial" pitchFamily="34" charset="0"/>
                <a:ea typeface="Arial" pitchFamily="34" charset="-122"/>
                <a:cs typeface="Arial" pitchFamily="34" charset="-120"/>
              </a:rPr>
              <a:t>Für Deutschland läge das Bruttoinlandsprodukt im Jahr 2037 um bis zu 12,8 % höher, wenn sich KI weiter in der Breite durchsetzt.</a:t>
            </a:r>
            <a:endParaRPr lang="en-US" sz="1250" dirty="0"/>
          </a:p>
        </p:txBody>
      </p:sp>
      <p:sp>
        <p:nvSpPr>
          <p:cNvPr id="14" name="Shape 10"/>
          <p:cNvSpPr/>
          <p:nvPr/>
        </p:nvSpPr>
        <p:spPr>
          <a:xfrm>
            <a:off x="566928" y="4517136"/>
            <a:ext cx="6381826" cy="1225296"/>
          </a:xfrm>
          <a:prstGeom prst="roundRect">
            <a:avLst>
              <a:gd name="adj" fmla="val 4478"/>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5" name="Shape 11"/>
          <p:cNvSpPr/>
          <p:nvPr/>
        </p:nvSpPr>
        <p:spPr>
          <a:xfrm>
            <a:off x="859536" y="4919472"/>
            <a:ext cx="402336" cy="402336"/>
          </a:xfrm>
          <a:prstGeom prst="roundRect">
            <a:avLst>
              <a:gd name="adj" fmla="val 22727"/>
            </a:avLst>
          </a:prstGeom>
          <a:solidFill>
            <a:srgbClr val="1E40AF"/>
          </a:solidFill>
          <a:ln/>
        </p:spPr>
      </p:sp>
      <p:pic>
        <p:nvPicPr>
          <p:cNvPr id="16" name="Image 2" descr="preencoded.png">    </p:cNvPr>
          <p:cNvPicPr>
            <a:picLocks noChangeAspect="1"/>
          </p:cNvPicPr>
          <p:nvPr/>
        </p:nvPicPr>
        <p:blipFill>
          <a:blip r:embed="rId3"/>
          <a:stretch>
            <a:fillRect/>
          </a:stretch>
        </p:blipFill>
        <p:spPr>
          <a:xfrm>
            <a:off x="955548" y="5015484"/>
            <a:ext cx="210312" cy="210312"/>
          </a:xfrm>
          <a:prstGeom prst="rect">
            <a:avLst/>
          </a:prstGeom>
        </p:spPr>
      </p:pic>
      <p:sp>
        <p:nvSpPr>
          <p:cNvPr id="17" name="Text 12"/>
          <p:cNvSpPr txBox="1"/>
          <p:nvPr/>
        </p:nvSpPr>
        <p:spPr>
          <a:xfrm>
            <a:off x="1463040" y="4736592"/>
            <a:ext cx="5193106" cy="274320"/>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Arbeitsmarkt</a:t>
            </a:r>
            <a:endParaRPr lang="en-US" sz="1400" dirty="0"/>
          </a:p>
        </p:txBody>
      </p:sp>
      <p:sp>
        <p:nvSpPr>
          <p:cNvPr id="18" name="Text 13"/>
          <p:cNvSpPr txBox="1"/>
          <p:nvPr/>
        </p:nvSpPr>
        <p:spPr>
          <a:xfrm>
            <a:off x="1463040" y="5047488"/>
            <a:ext cx="5193106" cy="603504"/>
          </a:xfrm>
          <a:prstGeom prst="rect">
            <a:avLst/>
          </a:prstGeom>
          <a:noFill/>
          <a:ln/>
        </p:spPr>
        <p:txBody>
          <a:bodyPr wrap="square" lIns="0" tIns="0" rIns="0" bIns="0" rtlCol="0" anchor="t"/>
          <a:lstStyle/>
          <a:p>
            <a:pPr indent="0" marL="0">
              <a:lnSpc>
                <a:spcPct val="122000"/>
              </a:lnSpc>
              <a:buNone/>
            </a:pPr>
            <a:r>
              <a:rPr lang="en-US" sz="1250" dirty="0">
                <a:solidFill>
                  <a:srgbClr val="475569"/>
                </a:solidFill>
                <a:latin typeface="Arial" pitchFamily="34" charset="0"/>
                <a:ea typeface="Arial" pitchFamily="34" charset="-122"/>
                <a:cs typeface="Arial" pitchFamily="34" charset="-120"/>
              </a:rPr>
              <a:t>Die Beschäftigung bleibt in Summe weitgehend stabil. In Bewegung geraten trotzdem rund 1,6 Mio. Arbeitsplätze über 15 Jahre.</a:t>
            </a:r>
            <a:endParaRPr lang="en-US" sz="1250" dirty="0"/>
          </a:p>
        </p:txBody>
      </p:sp>
      <p:sp>
        <p:nvSpPr>
          <p:cNvPr id="19" name="Shape 14"/>
          <p:cNvSpPr/>
          <p:nvPr/>
        </p:nvSpPr>
        <p:spPr>
          <a:xfrm>
            <a:off x="7113346" y="1627632"/>
            <a:ext cx="4511421" cy="4187952"/>
          </a:xfrm>
          <a:prstGeom prst="roundRect">
            <a:avLst>
              <a:gd name="adj" fmla="val 1310"/>
            </a:avLst>
          </a:prstGeom>
          <a:solidFill>
            <a:srgbClr val="FEF6E7"/>
          </a:solidFill>
          <a:ln w="12700">
            <a:solidFill>
              <a:srgbClr val="F3D9A4"/>
            </a:solidFill>
            <a:prstDash val="solid"/>
          </a:ln>
          <a:effectLst>
            <a:outerShdw sx="100000" sy="100000" kx="0" ky="0" algn="bl" rotWithShape="0" blurRad="127000" dist="25400" dir="5400000">
              <a:srgbClr val="1E3A8A">
                <a:alpha val="10000"/>
              </a:srgbClr>
            </a:outerShdw>
          </a:effectLst>
        </p:spPr>
      </p:sp>
      <p:sp>
        <p:nvSpPr>
          <p:cNvPr id="20" name="Shape 15"/>
          <p:cNvSpPr/>
          <p:nvPr/>
        </p:nvSpPr>
        <p:spPr>
          <a:xfrm>
            <a:off x="7424242" y="1920240"/>
            <a:ext cx="402336" cy="402336"/>
          </a:xfrm>
          <a:prstGeom prst="roundRect">
            <a:avLst>
              <a:gd name="adj" fmla="val 22727"/>
            </a:avLst>
          </a:prstGeom>
          <a:solidFill>
            <a:srgbClr val="D97706"/>
          </a:solidFill>
          <a:ln/>
        </p:spPr>
      </p:sp>
      <p:pic>
        <p:nvPicPr>
          <p:cNvPr id="21" name="Image 3" descr="preencoded.png">    </p:cNvPr>
          <p:cNvPicPr>
            <a:picLocks noChangeAspect="1"/>
          </p:cNvPicPr>
          <p:nvPr/>
        </p:nvPicPr>
        <p:blipFill>
          <a:blip r:embed="rId4"/>
          <a:stretch>
            <a:fillRect/>
          </a:stretch>
        </p:blipFill>
        <p:spPr>
          <a:xfrm>
            <a:off x="7520254" y="2016252"/>
            <a:ext cx="210312" cy="210312"/>
          </a:xfrm>
          <a:prstGeom prst="rect">
            <a:avLst/>
          </a:prstGeom>
        </p:spPr>
      </p:pic>
      <p:sp>
        <p:nvSpPr>
          <p:cNvPr id="22" name="Text 16"/>
          <p:cNvSpPr txBox="1"/>
          <p:nvPr/>
        </p:nvSpPr>
        <p:spPr>
          <a:xfrm>
            <a:off x="7424242" y="2487168"/>
            <a:ext cx="3889629" cy="310896"/>
          </a:xfrm>
          <a:prstGeom prst="rect">
            <a:avLst/>
          </a:prstGeom>
          <a:noFill/>
          <a:ln/>
        </p:spPr>
        <p:txBody>
          <a:bodyPr wrap="square" lIns="0" tIns="0" rIns="0" bIns="0" rtlCol="0" anchor="ctr"/>
          <a:lstStyle/>
          <a:p>
            <a:pPr indent="0" marL="0">
              <a:buNone/>
            </a:pPr>
            <a:r>
              <a:rPr lang="en-US" sz="1600" b="1" dirty="0">
                <a:solidFill>
                  <a:srgbClr val="7C4A06"/>
                </a:solidFill>
                <a:latin typeface="Arial" pitchFamily="34" charset="0"/>
                <a:ea typeface="Arial" pitchFamily="34" charset="-122"/>
                <a:cs typeface="Arial" pitchFamily="34" charset="-120"/>
              </a:rPr>
              <a:t>Der Realitätscheck</a:t>
            </a:r>
            <a:endParaRPr lang="en-US" sz="1600" dirty="0"/>
          </a:p>
        </p:txBody>
      </p:sp>
      <p:sp>
        <p:nvSpPr>
          <p:cNvPr id="23" name="Text 17"/>
          <p:cNvSpPr txBox="1"/>
          <p:nvPr/>
        </p:nvSpPr>
        <p:spPr>
          <a:xfrm>
            <a:off x="7424242" y="2926080"/>
            <a:ext cx="3889629" cy="265176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250" dirty="0">
                <a:solidFill>
                  <a:srgbClr val="7C4A06"/>
                </a:solidFill>
                <a:latin typeface="Arial" pitchFamily="34" charset="0"/>
                <a:ea typeface="Arial" pitchFamily="34" charset="-122"/>
                <a:cs typeface="Arial" pitchFamily="34" charset="-120"/>
              </a:rPr>
              <a:t>Nur 39 % der Unternehmen weltweit führen überhaupt einen EBIT-Effekt auf KI zurück — und bei den meisten liegt er unter 5 %.</a:t>
            </a:r>
            <a:endParaRPr lang="en-US" sz="1250" dirty="0"/>
          </a:p>
          <a:p>
            <a:pPr marL="342900" indent="-342900">
              <a:lnSpc>
                <a:spcPct val="125000"/>
              </a:lnSpc>
              <a:spcAft>
                <a:spcPts val="1000"/>
              </a:spcAft>
              <a:buSzPct val="100000"/>
              <a:buChar char="•"/>
            </a:pPr>
            <a:r>
              <a:rPr lang="en-US" sz="1250" dirty="0">
                <a:solidFill>
                  <a:srgbClr val="7C4A06"/>
                </a:solidFill>
                <a:latin typeface="Arial" pitchFamily="34" charset="0"/>
                <a:ea typeface="Arial" pitchFamily="34" charset="-122"/>
                <a:cs typeface="Arial" pitchFamily="34" charset="-120"/>
              </a:rPr>
              <a:t>Rund zwei Drittel haben noch gar nicht begonnen, KI im Unternehmen zu skalieren.</a:t>
            </a:r>
            <a:endParaRPr lang="en-US" sz="1250" dirty="0"/>
          </a:p>
          <a:p>
            <a:pPr marL="342900" indent="-342900">
              <a:lnSpc>
                <a:spcPct val="125000"/>
              </a:lnSpc>
              <a:buSzPct val="100000"/>
              <a:buChar char="•"/>
            </a:pPr>
            <a:r>
              <a:rPr lang="en-US" sz="1250" dirty="0">
                <a:solidFill>
                  <a:srgbClr val="7C4A06"/>
                </a:solidFill>
                <a:latin typeface="Arial" pitchFamily="34" charset="0"/>
                <a:ea typeface="Arial" pitchFamily="34" charset="-122"/>
                <a:cs typeface="Arial" pitchFamily="34" charset="-120"/>
              </a:rPr>
              <a:t>Einsatz ist nicht gleich Ertrag. Zwischen Pilotprojekt und Bilanz liegt die eigentliche Arbeit.</a:t>
            </a:r>
            <a:endParaRPr lang="en-US" sz="1250" dirty="0"/>
          </a:p>
        </p:txBody>
      </p:sp>
      <p:sp>
        <p:nvSpPr>
          <p:cNvPr id="24" name="Text 18"/>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475569"/>
                </a:solidFill>
                <a:latin typeface="Arial" pitchFamily="34" charset="0"/>
                <a:ea typeface="Arial" pitchFamily="34" charset="-122"/>
                <a:cs typeface="Arial" pitchFamily="34" charset="-120"/>
              </a:rPr>
              <a:t>Quelle: McKinsey, The economic potential of generative AI (63 analysierte Anwendungsfälle)  ·  IAB-Forschungsbericht 23/2025 (Simulation über 15 Jahre)  ·  McKinsey, The state of AI 2025</a:t>
            </a:r>
            <a:endParaRPr lang="en-US" sz="900" dirty="0"/>
          </a:p>
        </p:txBody>
      </p:sp>
      <p:sp>
        <p:nvSpPr>
          <p:cNvPr id="25" name="Text 19"/>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05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DER MARKT</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Onlinehandel in Deutschland wächst wieder</a:t>
            </a:r>
            <a:endParaRPr lang="en-US" sz="2900" dirty="0"/>
          </a:p>
        </p:txBody>
      </p:sp>
      <p:sp>
        <p:nvSpPr>
          <p:cNvPr id="4" name="Shape 2"/>
          <p:cNvSpPr/>
          <p:nvPr/>
        </p:nvSpPr>
        <p:spPr>
          <a:xfrm>
            <a:off x="566928" y="1591056"/>
            <a:ext cx="6381826" cy="4224528"/>
          </a:xfrm>
          <a:prstGeom prst="roundRect">
            <a:avLst>
              <a:gd name="adj" fmla="val 1299"/>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5" name="Text 3"/>
          <p:cNvSpPr txBox="1"/>
          <p:nvPr/>
        </p:nvSpPr>
        <p:spPr>
          <a:xfrm>
            <a:off x="877824" y="1810512"/>
            <a:ext cx="5760034" cy="219456"/>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Nettoumsatz im Onlinehandel in Deutschland</a:t>
            </a:r>
            <a:endParaRPr lang="en-US" sz="1400" dirty="0"/>
          </a:p>
        </p:txBody>
      </p:sp>
      <p:sp>
        <p:nvSpPr>
          <p:cNvPr id="6" name="Text 4"/>
          <p:cNvSpPr txBox="1"/>
          <p:nvPr/>
        </p:nvSpPr>
        <p:spPr>
          <a:xfrm>
            <a:off x="877824" y="2029968"/>
            <a:ext cx="5760034" cy="201168"/>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in Milliarden Euro · Wert für 2026 ist eine Prognose</a:t>
            </a:r>
            <a:endParaRPr lang="en-US" sz="900" dirty="0"/>
          </a:p>
        </p:txBody>
      </p:sp>
      <p:graphicFrame>
        <p:nvGraphicFramePr>
          <p:cNvPr id="7" name="Chart 0" descr=""/>
          <p:cNvGraphicFramePr/>
          <p:nvPr/>
        </p:nvGraphicFramePr>
        <p:xfrm>
          <a:off x="731520" y="2304288"/>
          <a:ext cx="5979490" cy="32918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113346" y="1591056"/>
            <a:ext cx="4511421" cy="1216152"/>
          </a:xfrm>
          <a:prstGeom prst="roundRect">
            <a:avLst>
              <a:gd name="adj" fmla="val 4511"/>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9" name="Shape 6"/>
          <p:cNvSpPr/>
          <p:nvPr/>
        </p:nvSpPr>
        <p:spPr>
          <a:xfrm>
            <a:off x="7387666" y="1993392"/>
            <a:ext cx="402336" cy="402336"/>
          </a:xfrm>
          <a:prstGeom prst="roundRect">
            <a:avLst>
              <a:gd name="adj" fmla="val 22727"/>
            </a:avLst>
          </a:prstGeom>
          <a:solidFill>
            <a:srgbClr val="1E40AF"/>
          </a:solidFill>
          <a:ln/>
        </p:spPr>
      </p:sp>
      <p:pic>
        <p:nvPicPr>
          <p:cNvPr id="10" name="Image 0" descr="preencoded.png">    </p:cNvPr>
          <p:cNvPicPr>
            <a:picLocks noChangeAspect="1"/>
          </p:cNvPicPr>
          <p:nvPr/>
        </p:nvPicPr>
        <p:blipFill>
          <a:blip r:embed="rId2"/>
          <a:stretch>
            <a:fillRect/>
          </a:stretch>
        </p:blipFill>
        <p:spPr>
          <a:xfrm>
            <a:off x="7483678" y="2089404"/>
            <a:ext cx="210312" cy="210312"/>
          </a:xfrm>
          <a:prstGeom prst="rect">
            <a:avLst/>
          </a:prstGeom>
        </p:spPr>
      </p:pic>
      <p:sp>
        <p:nvSpPr>
          <p:cNvPr id="11" name="Text 7"/>
          <p:cNvSpPr txBox="1"/>
          <p:nvPr/>
        </p:nvSpPr>
        <p:spPr>
          <a:xfrm>
            <a:off x="7972882" y="1773936"/>
            <a:ext cx="3377565" cy="347472"/>
          </a:xfrm>
          <a:prstGeom prst="rect">
            <a:avLst/>
          </a:prstGeom>
          <a:noFill/>
          <a:ln/>
        </p:spPr>
        <p:txBody>
          <a:bodyPr wrap="square" lIns="0" tIns="0" rIns="0" bIns="0" rtlCol="0" anchor="ctr"/>
          <a:lstStyle/>
          <a:p>
            <a:pPr indent="0" marL="0">
              <a:buNone/>
            </a:pPr>
            <a:r>
              <a:rPr lang="en-US" sz="2300" b="1" dirty="0">
                <a:solidFill>
                  <a:srgbClr val="1E3A8A"/>
                </a:solidFill>
                <a:latin typeface="Cambria" pitchFamily="34" charset="0"/>
                <a:ea typeface="Cambria" pitchFamily="34" charset="-122"/>
                <a:cs typeface="Cambria" pitchFamily="34" charset="-120"/>
              </a:rPr>
              <a:t>56,7 %</a:t>
            </a:r>
            <a:endParaRPr lang="en-US" sz="2300" dirty="0"/>
          </a:p>
        </p:txBody>
      </p:sp>
      <p:sp>
        <p:nvSpPr>
          <p:cNvPr id="12" name="Text 8"/>
          <p:cNvSpPr txBox="1"/>
          <p:nvPr/>
        </p:nvSpPr>
        <p:spPr>
          <a:xfrm>
            <a:off x="7972882" y="2139696"/>
            <a:ext cx="3377565" cy="548640"/>
          </a:xfrm>
          <a:prstGeom prst="rect">
            <a:avLst/>
          </a:prstGeom>
          <a:noFill/>
          <a:ln/>
        </p:spPr>
        <p:txBody>
          <a:bodyPr wrap="square" lIns="0" tIns="0" rIns="0" bIns="0" rtlCol="0" anchor="t"/>
          <a:lstStyle/>
          <a:p>
            <a:pPr indent="0" marL="0">
              <a:lnSpc>
                <a:spcPct val="118000"/>
              </a:lnSpc>
              <a:buNone/>
            </a:pPr>
            <a:r>
              <a:rPr lang="en-US" sz="1100" dirty="0">
                <a:solidFill>
                  <a:srgbClr val="475569"/>
                </a:solidFill>
                <a:latin typeface="Arial" pitchFamily="34" charset="0"/>
                <a:ea typeface="Arial" pitchFamily="34" charset="-122"/>
                <a:cs typeface="Arial" pitchFamily="34" charset="-120"/>
              </a:rPr>
              <a:t>des Onlineumsatzes laufen über Marktplätze — der mit Abstand wichtigste Kanal.</a:t>
            </a:r>
            <a:endParaRPr lang="en-US" sz="1100" dirty="0"/>
          </a:p>
        </p:txBody>
      </p:sp>
      <p:sp>
        <p:nvSpPr>
          <p:cNvPr id="13" name="Shape 9"/>
          <p:cNvSpPr/>
          <p:nvPr/>
        </p:nvSpPr>
        <p:spPr>
          <a:xfrm>
            <a:off x="7113346" y="3026664"/>
            <a:ext cx="4511421" cy="1216152"/>
          </a:xfrm>
          <a:prstGeom prst="roundRect">
            <a:avLst>
              <a:gd name="adj" fmla="val 4511"/>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4" name="Shape 10"/>
          <p:cNvSpPr/>
          <p:nvPr/>
        </p:nvSpPr>
        <p:spPr>
          <a:xfrm>
            <a:off x="7387666" y="3429000"/>
            <a:ext cx="402336" cy="402336"/>
          </a:xfrm>
          <a:prstGeom prst="roundRect">
            <a:avLst>
              <a:gd name="adj" fmla="val 22727"/>
            </a:avLst>
          </a:prstGeom>
          <a:solidFill>
            <a:srgbClr val="1E40AF"/>
          </a:solidFill>
          <a:ln/>
        </p:spPr>
      </p:sp>
      <p:pic>
        <p:nvPicPr>
          <p:cNvPr id="15" name="Image 1" descr="preencoded.png">    </p:cNvPr>
          <p:cNvPicPr>
            <a:picLocks noChangeAspect="1"/>
          </p:cNvPicPr>
          <p:nvPr/>
        </p:nvPicPr>
        <p:blipFill>
          <a:blip r:embed="rId3"/>
          <a:stretch>
            <a:fillRect/>
          </a:stretch>
        </p:blipFill>
        <p:spPr>
          <a:xfrm>
            <a:off x="7483678" y="3525012"/>
            <a:ext cx="210312" cy="210312"/>
          </a:xfrm>
          <a:prstGeom prst="rect">
            <a:avLst/>
          </a:prstGeom>
        </p:spPr>
      </p:pic>
      <p:sp>
        <p:nvSpPr>
          <p:cNvPr id="16" name="Text 11"/>
          <p:cNvSpPr txBox="1"/>
          <p:nvPr/>
        </p:nvSpPr>
        <p:spPr>
          <a:xfrm>
            <a:off x="7972882" y="3209544"/>
            <a:ext cx="3377565" cy="347472"/>
          </a:xfrm>
          <a:prstGeom prst="rect">
            <a:avLst/>
          </a:prstGeom>
          <a:noFill/>
          <a:ln/>
        </p:spPr>
        <p:txBody>
          <a:bodyPr wrap="square" lIns="0" tIns="0" rIns="0" bIns="0" rtlCol="0" anchor="ctr"/>
          <a:lstStyle/>
          <a:p>
            <a:pPr indent="0" marL="0">
              <a:buNone/>
            </a:pPr>
            <a:r>
              <a:rPr lang="en-US" sz="2300" b="1" dirty="0">
                <a:solidFill>
                  <a:srgbClr val="1E3A8A"/>
                </a:solidFill>
                <a:latin typeface="Cambria" pitchFamily="34" charset="0"/>
                <a:ea typeface="Cambria" pitchFamily="34" charset="-122"/>
                <a:cs typeface="Cambria" pitchFamily="34" charset="-120"/>
              </a:rPr>
              <a:t>97,5 Mrd. €</a:t>
            </a:r>
            <a:endParaRPr lang="en-US" sz="2300" dirty="0"/>
          </a:p>
        </p:txBody>
      </p:sp>
      <p:sp>
        <p:nvSpPr>
          <p:cNvPr id="17" name="Text 12"/>
          <p:cNvSpPr txBox="1"/>
          <p:nvPr/>
        </p:nvSpPr>
        <p:spPr>
          <a:xfrm>
            <a:off x="7972882" y="3575304"/>
            <a:ext cx="3377565" cy="548640"/>
          </a:xfrm>
          <a:prstGeom prst="rect">
            <a:avLst/>
          </a:prstGeom>
          <a:noFill/>
          <a:ln/>
        </p:spPr>
        <p:txBody>
          <a:bodyPr wrap="square" lIns="0" tIns="0" rIns="0" bIns="0" rtlCol="0" anchor="t"/>
          <a:lstStyle/>
          <a:p>
            <a:pPr indent="0" marL="0">
              <a:lnSpc>
                <a:spcPct val="118000"/>
              </a:lnSpc>
              <a:buNone/>
            </a:pPr>
            <a:r>
              <a:rPr lang="en-US" sz="1100" dirty="0">
                <a:solidFill>
                  <a:srgbClr val="475569"/>
                </a:solidFill>
                <a:latin typeface="Arial" pitchFamily="34" charset="0"/>
                <a:ea typeface="Arial" pitchFamily="34" charset="-122"/>
                <a:cs typeface="Arial" pitchFamily="34" charset="-120"/>
              </a:rPr>
              <a:t>Gesamtumsatz des deutschen E-Commerce 2025 inklusive digitaler Dienstleistungen.</a:t>
            </a:r>
            <a:endParaRPr lang="en-US" sz="1100" dirty="0"/>
          </a:p>
        </p:txBody>
      </p:sp>
      <p:sp>
        <p:nvSpPr>
          <p:cNvPr id="18" name="Shape 13"/>
          <p:cNvSpPr/>
          <p:nvPr/>
        </p:nvSpPr>
        <p:spPr>
          <a:xfrm>
            <a:off x="7113346" y="4462272"/>
            <a:ext cx="4511421" cy="1216152"/>
          </a:xfrm>
          <a:prstGeom prst="roundRect">
            <a:avLst>
              <a:gd name="adj" fmla="val 4511"/>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9" name="Shape 14"/>
          <p:cNvSpPr/>
          <p:nvPr/>
        </p:nvSpPr>
        <p:spPr>
          <a:xfrm>
            <a:off x="7387666" y="4864608"/>
            <a:ext cx="402336" cy="402336"/>
          </a:xfrm>
          <a:prstGeom prst="roundRect">
            <a:avLst>
              <a:gd name="adj" fmla="val 22727"/>
            </a:avLst>
          </a:prstGeom>
          <a:solidFill>
            <a:srgbClr val="1E40AF"/>
          </a:solidFill>
          <a:ln/>
        </p:spPr>
      </p:sp>
      <p:pic>
        <p:nvPicPr>
          <p:cNvPr id="20" name="Image 2" descr="preencoded.png">    </p:cNvPr>
          <p:cNvPicPr>
            <a:picLocks noChangeAspect="1"/>
          </p:cNvPicPr>
          <p:nvPr/>
        </p:nvPicPr>
        <p:blipFill>
          <a:blip r:embed="rId4"/>
          <a:stretch>
            <a:fillRect/>
          </a:stretch>
        </p:blipFill>
        <p:spPr>
          <a:xfrm>
            <a:off x="7483678" y="4960620"/>
            <a:ext cx="210312" cy="210312"/>
          </a:xfrm>
          <a:prstGeom prst="rect">
            <a:avLst/>
          </a:prstGeom>
        </p:spPr>
      </p:pic>
      <p:sp>
        <p:nvSpPr>
          <p:cNvPr id="21" name="Text 15"/>
          <p:cNvSpPr txBox="1"/>
          <p:nvPr/>
        </p:nvSpPr>
        <p:spPr>
          <a:xfrm>
            <a:off x="7972882" y="4645152"/>
            <a:ext cx="3377565" cy="347472"/>
          </a:xfrm>
          <a:prstGeom prst="rect">
            <a:avLst/>
          </a:prstGeom>
          <a:noFill/>
          <a:ln/>
        </p:spPr>
        <p:txBody>
          <a:bodyPr wrap="square" lIns="0" tIns="0" rIns="0" bIns="0" rtlCol="0" anchor="ctr"/>
          <a:lstStyle/>
          <a:p>
            <a:pPr indent="0" marL="0">
              <a:buNone/>
            </a:pPr>
            <a:r>
              <a:rPr lang="en-US" sz="2300" b="1" dirty="0">
                <a:solidFill>
                  <a:srgbClr val="1E3A8A"/>
                </a:solidFill>
                <a:latin typeface="Cambria" pitchFamily="34" charset="0"/>
                <a:ea typeface="Cambria" pitchFamily="34" charset="-122"/>
                <a:cs typeface="Cambria" pitchFamily="34" charset="-120"/>
              </a:rPr>
              <a:t>+4,3 % zu +1,6 %</a:t>
            </a:r>
            <a:endParaRPr lang="en-US" sz="2300" dirty="0"/>
          </a:p>
        </p:txBody>
      </p:sp>
      <p:sp>
        <p:nvSpPr>
          <p:cNvPr id="22" name="Text 16"/>
          <p:cNvSpPr txBox="1"/>
          <p:nvPr/>
        </p:nvSpPr>
        <p:spPr>
          <a:xfrm>
            <a:off x="7972882" y="5010912"/>
            <a:ext cx="3377565" cy="548640"/>
          </a:xfrm>
          <a:prstGeom prst="rect">
            <a:avLst/>
          </a:prstGeom>
          <a:noFill/>
          <a:ln/>
        </p:spPr>
        <p:txBody>
          <a:bodyPr wrap="square" lIns="0" tIns="0" rIns="0" bIns="0" rtlCol="0" anchor="t"/>
          <a:lstStyle/>
          <a:p>
            <a:pPr indent="0" marL="0">
              <a:lnSpc>
                <a:spcPct val="118000"/>
              </a:lnSpc>
              <a:buNone/>
            </a:pPr>
            <a:r>
              <a:rPr lang="en-US" sz="1100" dirty="0">
                <a:solidFill>
                  <a:srgbClr val="475569"/>
                </a:solidFill>
                <a:latin typeface="Arial" pitchFamily="34" charset="0"/>
                <a:ea typeface="Arial" pitchFamily="34" charset="-122"/>
                <a:cs typeface="Arial" pitchFamily="34" charset="-120"/>
              </a:rPr>
              <a:t>Prognose 2026: Onlinehandel gegenüber stationärem Handel.</a:t>
            </a:r>
            <a:endParaRPr lang="en-US" sz="1100" dirty="0"/>
          </a:p>
        </p:txBody>
      </p:sp>
      <p:sp>
        <p:nvSpPr>
          <p:cNvPr id="23" name="Text 17"/>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475569"/>
                </a:solidFill>
                <a:latin typeface="Arial" pitchFamily="34" charset="0"/>
                <a:ea typeface="Arial" pitchFamily="34" charset="-122"/>
                <a:cs typeface="Arial" pitchFamily="34" charset="-120"/>
              </a:rPr>
              <a:t>Quelle: HDE Online-Monitor 2026 (Nettoumsatz Onlinehandel Deutschland); Wert für 2026 eigene Berechnung aus der HDE-Wachstumsprognose von +4,3 %  ·  bevh, Jahreszahlen 2025</a:t>
            </a:r>
            <a:endParaRPr lang="en-US" sz="900" dirty="0"/>
          </a:p>
        </p:txBody>
      </p:sp>
      <p:sp>
        <p:nvSpPr>
          <p:cNvPr id="24" name="Text 18"/>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06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E-COMMERCE KONKRET</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Wo KI im Onlinehandel konkret wirkt</a:t>
            </a:r>
            <a:endParaRPr lang="en-US" sz="2900" dirty="0"/>
          </a:p>
        </p:txBody>
      </p:sp>
      <p:sp>
        <p:nvSpPr>
          <p:cNvPr id="4" name="Shape 2"/>
          <p:cNvSpPr/>
          <p:nvPr/>
        </p:nvSpPr>
        <p:spPr>
          <a:xfrm>
            <a:off x="566928" y="1609344"/>
            <a:ext cx="2641016" cy="2029968"/>
          </a:xfrm>
          <a:prstGeom prst="roundRect">
            <a:avLst>
              <a:gd name="adj" fmla="val 2703"/>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5" name="Shape 3"/>
          <p:cNvSpPr/>
          <p:nvPr/>
        </p:nvSpPr>
        <p:spPr>
          <a:xfrm>
            <a:off x="822960" y="1865376"/>
            <a:ext cx="402336" cy="402336"/>
          </a:xfrm>
          <a:prstGeom prst="roundRect">
            <a:avLst>
              <a:gd name="adj" fmla="val 22727"/>
            </a:avLst>
          </a:prstGeom>
          <a:solidFill>
            <a:srgbClr val="1E40AF"/>
          </a:solidFill>
          <a:ln/>
        </p:spPr>
      </p:sp>
      <p:pic>
        <p:nvPicPr>
          <p:cNvPr id="6" name="Image 0" descr="preencoded.png">    </p:cNvPr>
          <p:cNvPicPr>
            <a:picLocks noChangeAspect="1"/>
          </p:cNvPicPr>
          <p:nvPr/>
        </p:nvPicPr>
        <p:blipFill>
          <a:blip r:embed="rId1"/>
          <a:stretch>
            <a:fillRect/>
          </a:stretch>
        </p:blipFill>
        <p:spPr>
          <a:xfrm>
            <a:off x="918972" y="1961388"/>
            <a:ext cx="210312" cy="210312"/>
          </a:xfrm>
          <a:prstGeom prst="rect">
            <a:avLst/>
          </a:prstGeom>
        </p:spPr>
      </p:pic>
      <p:sp>
        <p:nvSpPr>
          <p:cNvPr id="7" name="Text 4"/>
          <p:cNvSpPr txBox="1"/>
          <p:nvPr/>
        </p:nvSpPr>
        <p:spPr>
          <a:xfrm>
            <a:off x="822960" y="2395728"/>
            <a:ext cx="2128952" cy="274320"/>
          </a:xfrm>
          <a:prstGeom prst="rect">
            <a:avLst/>
          </a:prstGeom>
          <a:noFill/>
          <a:ln/>
        </p:spPr>
        <p:txBody>
          <a:bodyPr wrap="square" lIns="0" tIns="0" rIns="0" bIns="0" rtlCol="0" anchor="ctr"/>
          <a:lstStyle/>
          <a:p>
            <a:pPr indent="0" marL="0">
              <a:buNone/>
            </a:pPr>
            <a:r>
              <a:rPr lang="en-US" sz="1350" b="1" dirty="0">
                <a:solidFill>
                  <a:srgbClr val="1E3A8A"/>
                </a:solidFill>
                <a:latin typeface="Arial" pitchFamily="34" charset="0"/>
                <a:ea typeface="Arial" pitchFamily="34" charset="-122"/>
                <a:cs typeface="Arial" pitchFamily="34" charset="-120"/>
              </a:rPr>
              <a:t>Personalisierung</a:t>
            </a:r>
            <a:endParaRPr lang="en-US" sz="1350" dirty="0"/>
          </a:p>
        </p:txBody>
      </p:sp>
      <p:sp>
        <p:nvSpPr>
          <p:cNvPr id="8" name="Text 5"/>
          <p:cNvSpPr txBox="1"/>
          <p:nvPr/>
        </p:nvSpPr>
        <p:spPr>
          <a:xfrm>
            <a:off x="822960" y="2706624"/>
            <a:ext cx="2128952" cy="749808"/>
          </a:xfrm>
          <a:prstGeom prst="rect">
            <a:avLst/>
          </a:prstGeom>
          <a:noFill/>
          <a:ln/>
        </p:spPr>
        <p:txBody>
          <a:bodyPr wrap="square" lIns="0" tIns="0" rIns="0" bIns="0" rtlCol="0" anchor="t"/>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Startseite, Sortiment und Empfehlungen je Person</a:t>
            </a:r>
            <a:endParaRPr lang="en-US" sz="1100" dirty="0"/>
          </a:p>
        </p:txBody>
      </p:sp>
      <p:sp>
        <p:nvSpPr>
          <p:cNvPr id="9" name="Shape 6"/>
          <p:cNvSpPr/>
          <p:nvPr/>
        </p:nvSpPr>
        <p:spPr>
          <a:xfrm>
            <a:off x="3372536" y="1609344"/>
            <a:ext cx="2641016" cy="2029968"/>
          </a:xfrm>
          <a:prstGeom prst="roundRect">
            <a:avLst>
              <a:gd name="adj" fmla="val 2703"/>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0" name="Shape 7"/>
          <p:cNvSpPr/>
          <p:nvPr/>
        </p:nvSpPr>
        <p:spPr>
          <a:xfrm>
            <a:off x="3628568" y="1865376"/>
            <a:ext cx="402336" cy="402336"/>
          </a:xfrm>
          <a:prstGeom prst="roundRect">
            <a:avLst>
              <a:gd name="adj" fmla="val 22727"/>
            </a:avLst>
          </a:prstGeom>
          <a:solidFill>
            <a:srgbClr val="1E40AF"/>
          </a:solidFill>
          <a:ln/>
        </p:spPr>
      </p:sp>
      <p:pic>
        <p:nvPicPr>
          <p:cNvPr id="11" name="Image 1" descr="preencoded.png">    </p:cNvPr>
          <p:cNvPicPr>
            <a:picLocks noChangeAspect="1"/>
          </p:cNvPicPr>
          <p:nvPr/>
        </p:nvPicPr>
        <p:blipFill>
          <a:blip r:embed="rId2"/>
          <a:stretch>
            <a:fillRect/>
          </a:stretch>
        </p:blipFill>
        <p:spPr>
          <a:xfrm>
            <a:off x="3724580" y="1961388"/>
            <a:ext cx="210312" cy="210312"/>
          </a:xfrm>
          <a:prstGeom prst="rect">
            <a:avLst/>
          </a:prstGeom>
        </p:spPr>
      </p:pic>
      <p:sp>
        <p:nvSpPr>
          <p:cNvPr id="12" name="Text 8"/>
          <p:cNvSpPr txBox="1"/>
          <p:nvPr/>
        </p:nvSpPr>
        <p:spPr>
          <a:xfrm>
            <a:off x="3628568" y="2395728"/>
            <a:ext cx="2128952" cy="274320"/>
          </a:xfrm>
          <a:prstGeom prst="rect">
            <a:avLst/>
          </a:prstGeom>
          <a:noFill/>
          <a:ln/>
        </p:spPr>
        <p:txBody>
          <a:bodyPr wrap="square" lIns="0" tIns="0" rIns="0" bIns="0" rtlCol="0" anchor="ctr"/>
          <a:lstStyle/>
          <a:p>
            <a:pPr indent="0" marL="0">
              <a:buNone/>
            </a:pPr>
            <a:r>
              <a:rPr lang="en-US" sz="1350" b="1" dirty="0">
                <a:solidFill>
                  <a:srgbClr val="1E3A8A"/>
                </a:solidFill>
                <a:latin typeface="Arial" pitchFamily="34" charset="0"/>
                <a:ea typeface="Arial" pitchFamily="34" charset="-122"/>
                <a:cs typeface="Arial" pitchFamily="34" charset="-120"/>
              </a:rPr>
              <a:t>Produktsuche</a:t>
            </a:r>
            <a:endParaRPr lang="en-US" sz="1350" dirty="0"/>
          </a:p>
        </p:txBody>
      </p:sp>
      <p:sp>
        <p:nvSpPr>
          <p:cNvPr id="13" name="Text 9"/>
          <p:cNvSpPr txBox="1"/>
          <p:nvPr/>
        </p:nvSpPr>
        <p:spPr>
          <a:xfrm>
            <a:off x="3628568" y="2706624"/>
            <a:ext cx="2128952" cy="749808"/>
          </a:xfrm>
          <a:prstGeom prst="rect">
            <a:avLst/>
          </a:prstGeom>
          <a:noFill/>
          <a:ln/>
        </p:spPr>
        <p:txBody>
          <a:bodyPr wrap="square" lIns="0" tIns="0" rIns="0" bIns="0" rtlCol="0" anchor="t"/>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Dialog statt Stichwort: „Regenjacke unter 100 €"</a:t>
            </a:r>
            <a:endParaRPr lang="en-US" sz="1100" dirty="0"/>
          </a:p>
        </p:txBody>
      </p:sp>
      <p:sp>
        <p:nvSpPr>
          <p:cNvPr id="14" name="Shape 10"/>
          <p:cNvSpPr/>
          <p:nvPr/>
        </p:nvSpPr>
        <p:spPr>
          <a:xfrm>
            <a:off x="6178144" y="1609344"/>
            <a:ext cx="2641016" cy="2029968"/>
          </a:xfrm>
          <a:prstGeom prst="roundRect">
            <a:avLst>
              <a:gd name="adj" fmla="val 2703"/>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5" name="Shape 11"/>
          <p:cNvSpPr/>
          <p:nvPr/>
        </p:nvSpPr>
        <p:spPr>
          <a:xfrm>
            <a:off x="6434176" y="1865376"/>
            <a:ext cx="402336" cy="402336"/>
          </a:xfrm>
          <a:prstGeom prst="roundRect">
            <a:avLst>
              <a:gd name="adj" fmla="val 22727"/>
            </a:avLst>
          </a:prstGeom>
          <a:solidFill>
            <a:srgbClr val="1E40AF"/>
          </a:solidFill>
          <a:ln/>
        </p:spPr>
      </p:sp>
      <p:pic>
        <p:nvPicPr>
          <p:cNvPr id="16" name="Image 2" descr="preencoded.png">    </p:cNvPr>
          <p:cNvPicPr>
            <a:picLocks noChangeAspect="1"/>
          </p:cNvPicPr>
          <p:nvPr/>
        </p:nvPicPr>
        <p:blipFill>
          <a:blip r:embed="rId3"/>
          <a:stretch>
            <a:fillRect/>
          </a:stretch>
        </p:blipFill>
        <p:spPr>
          <a:xfrm>
            <a:off x="6530188" y="1961388"/>
            <a:ext cx="210312" cy="210312"/>
          </a:xfrm>
          <a:prstGeom prst="rect">
            <a:avLst/>
          </a:prstGeom>
        </p:spPr>
      </p:pic>
      <p:sp>
        <p:nvSpPr>
          <p:cNvPr id="17" name="Text 12"/>
          <p:cNvSpPr txBox="1"/>
          <p:nvPr/>
        </p:nvSpPr>
        <p:spPr>
          <a:xfrm>
            <a:off x="6434176" y="2395728"/>
            <a:ext cx="2128952" cy="274320"/>
          </a:xfrm>
          <a:prstGeom prst="rect">
            <a:avLst/>
          </a:prstGeom>
          <a:noFill/>
          <a:ln/>
        </p:spPr>
        <p:txBody>
          <a:bodyPr wrap="square" lIns="0" tIns="0" rIns="0" bIns="0" rtlCol="0" anchor="ctr"/>
          <a:lstStyle/>
          <a:p>
            <a:pPr indent="0" marL="0">
              <a:buNone/>
            </a:pPr>
            <a:r>
              <a:rPr lang="en-US" sz="1350" b="1" dirty="0">
                <a:solidFill>
                  <a:srgbClr val="1E3A8A"/>
                </a:solidFill>
                <a:latin typeface="Arial" pitchFamily="34" charset="0"/>
                <a:ea typeface="Arial" pitchFamily="34" charset="-122"/>
                <a:cs typeface="Arial" pitchFamily="34" charset="-120"/>
              </a:rPr>
              <a:t>Dynamic Pricing</a:t>
            </a:r>
            <a:endParaRPr lang="en-US" sz="1350" dirty="0"/>
          </a:p>
        </p:txBody>
      </p:sp>
      <p:sp>
        <p:nvSpPr>
          <p:cNvPr id="18" name="Text 13"/>
          <p:cNvSpPr txBox="1"/>
          <p:nvPr/>
        </p:nvSpPr>
        <p:spPr>
          <a:xfrm>
            <a:off x="6434176" y="2706624"/>
            <a:ext cx="2128952" cy="749808"/>
          </a:xfrm>
          <a:prstGeom prst="rect">
            <a:avLst/>
          </a:prstGeom>
          <a:noFill/>
          <a:ln/>
        </p:spPr>
        <p:txBody>
          <a:bodyPr wrap="square" lIns="0" tIns="0" rIns="0" bIns="0" rtlCol="0" anchor="t"/>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Preise reagieren auf Nachfrage, Lager, Wettbewerb</a:t>
            </a:r>
            <a:endParaRPr lang="en-US" sz="1100" dirty="0"/>
          </a:p>
        </p:txBody>
      </p:sp>
      <p:sp>
        <p:nvSpPr>
          <p:cNvPr id="19" name="Shape 14"/>
          <p:cNvSpPr/>
          <p:nvPr/>
        </p:nvSpPr>
        <p:spPr>
          <a:xfrm>
            <a:off x="8983751" y="1609344"/>
            <a:ext cx="2641016" cy="2029968"/>
          </a:xfrm>
          <a:prstGeom prst="roundRect">
            <a:avLst>
              <a:gd name="adj" fmla="val 2703"/>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20" name="Shape 15"/>
          <p:cNvSpPr/>
          <p:nvPr/>
        </p:nvSpPr>
        <p:spPr>
          <a:xfrm>
            <a:off x="9239783" y="1865376"/>
            <a:ext cx="402336" cy="402336"/>
          </a:xfrm>
          <a:prstGeom prst="roundRect">
            <a:avLst>
              <a:gd name="adj" fmla="val 22727"/>
            </a:avLst>
          </a:prstGeom>
          <a:solidFill>
            <a:srgbClr val="1E40AF"/>
          </a:solidFill>
          <a:ln/>
        </p:spPr>
      </p:sp>
      <p:pic>
        <p:nvPicPr>
          <p:cNvPr id="21" name="Image 3" descr="preencoded.png">    </p:cNvPr>
          <p:cNvPicPr>
            <a:picLocks noChangeAspect="1"/>
          </p:cNvPicPr>
          <p:nvPr/>
        </p:nvPicPr>
        <p:blipFill>
          <a:blip r:embed="rId4"/>
          <a:stretch>
            <a:fillRect/>
          </a:stretch>
        </p:blipFill>
        <p:spPr>
          <a:xfrm>
            <a:off x="9335795" y="1961388"/>
            <a:ext cx="210312" cy="210312"/>
          </a:xfrm>
          <a:prstGeom prst="rect">
            <a:avLst/>
          </a:prstGeom>
        </p:spPr>
      </p:pic>
      <p:sp>
        <p:nvSpPr>
          <p:cNvPr id="22" name="Text 16"/>
          <p:cNvSpPr txBox="1"/>
          <p:nvPr/>
        </p:nvSpPr>
        <p:spPr>
          <a:xfrm>
            <a:off x="9239783" y="2395728"/>
            <a:ext cx="2128952" cy="274320"/>
          </a:xfrm>
          <a:prstGeom prst="rect">
            <a:avLst/>
          </a:prstGeom>
          <a:noFill/>
          <a:ln/>
        </p:spPr>
        <p:txBody>
          <a:bodyPr wrap="square" lIns="0" tIns="0" rIns="0" bIns="0" rtlCol="0" anchor="ctr"/>
          <a:lstStyle/>
          <a:p>
            <a:pPr indent="0" marL="0">
              <a:buNone/>
            </a:pPr>
            <a:r>
              <a:rPr lang="en-US" sz="1350" b="1" dirty="0">
                <a:solidFill>
                  <a:srgbClr val="1E3A8A"/>
                </a:solidFill>
                <a:latin typeface="Arial" pitchFamily="34" charset="0"/>
                <a:ea typeface="Arial" pitchFamily="34" charset="-122"/>
                <a:cs typeface="Arial" pitchFamily="34" charset="-120"/>
              </a:rPr>
              <a:t>Kundenservice</a:t>
            </a:r>
            <a:endParaRPr lang="en-US" sz="1350" dirty="0"/>
          </a:p>
        </p:txBody>
      </p:sp>
      <p:sp>
        <p:nvSpPr>
          <p:cNvPr id="23" name="Text 17"/>
          <p:cNvSpPr txBox="1"/>
          <p:nvPr/>
        </p:nvSpPr>
        <p:spPr>
          <a:xfrm>
            <a:off x="9239783" y="2706624"/>
            <a:ext cx="2128952" cy="749808"/>
          </a:xfrm>
          <a:prstGeom prst="rect">
            <a:avLst/>
          </a:prstGeom>
          <a:noFill/>
          <a:ln/>
        </p:spPr>
        <p:txBody>
          <a:bodyPr wrap="square" lIns="0" tIns="0" rIns="0" bIns="0" rtlCol="0" anchor="t"/>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Chat und Mail rund um die Uhr, in jeder Sprache</a:t>
            </a:r>
            <a:endParaRPr lang="en-US" sz="1100" dirty="0"/>
          </a:p>
        </p:txBody>
      </p:sp>
      <p:sp>
        <p:nvSpPr>
          <p:cNvPr id="24" name="Shape 18"/>
          <p:cNvSpPr/>
          <p:nvPr/>
        </p:nvSpPr>
        <p:spPr>
          <a:xfrm>
            <a:off x="566928" y="3822192"/>
            <a:ext cx="2641016" cy="2029968"/>
          </a:xfrm>
          <a:prstGeom prst="roundRect">
            <a:avLst>
              <a:gd name="adj" fmla="val 2703"/>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25" name="Shape 19"/>
          <p:cNvSpPr/>
          <p:nvPr/>
        </p:nvSpPr>
        <p:spPr>
          <a:xfrm>
            <a:off x="822960" y="4078224"/>
            <a:ext cx="402336" cy="402336"/>
          </a:xfrm>
          <a:prstGeom prst="roundRect">
            <a:avLst>
              <a:gd name="adj" fmla="val 22727"/>
            </a:avLst>
          </a:prstGeom>
          <a:solidFill>
            <a:srgbClr val="1E40AF"/>
          </a:solidFill>
          <a:ln/>
        </p:spPr>
      </p:sp>
      <p:pic>
        <p:nvPicPr>
          <p:cNvPr id="26" name="Image 4" descr="preencoded.png">    </p:cNvPr>
          <p:cNvPicPr>
            <a:picLocks noChangeAspect="1"/>
          </p:cNvPicPr>
          <p:nvPr/>
        </p:nvPicPr>
        <p:blipFill>
          <a:blip r:embed="rId5"/>
          <a:stretch>
            <a:fillRect/>
          </a:stretch>
        </p:blipFill>
        <p:spPr>
          <a:xfrm>
            <a:off x="918972" y="4174236"/>
            <a:ext cx="210312" cy="210312"/>
          </a:xfrm>
          <a:prstGeom prst="rect">
            <a:avLst/>
          </a:prstGeom>
        </p:spPr>
      </p:pic>
      <p:sp>
        <p:nvSpPr>
          <p:cNvPr id="27" name="Text 20"/>
          <p:cNvSpPr txBox="1"/>
          <p:nvPr/>
        </p:nvSpPr>
        <p:spPr>
          <a:xfrm>
            <a:off x="822960" y="4608576"/>
            <a:ext cx="2128952" cy="274320"/>
          </a:xfrm>
          <a:prstGeom prst="rect">
            <a:avLst/>
          </a:prstGeom>
          <a:noFill/>
          <a:ln/>
        </p:spPr>
        <p:txBody>
          <a:bodyPr wrap="square" lIns="0" tIns="0" rIns="0" bIns="0" rtlCol="0" anchor="ctr"/>
          <a:lstStyle/>
          <a:p>
            <a:pPr indent="0" marL="0">
              <a:buNone/>
            </a:pPr>
            <a:r>
              <a:rPr lang="en-US" sz="1350" b="1" dirty="0">
                <a:solidFill>
                  <a:srgbClr val="1E3A8A"/>
                </a:solidFill>
                <a:latin typeface="Arial" pitchFamily="34" charset="0"/>
                <a:ea typeface="Arial" pitchFamily="34" charset="-122"/>
                <a:cs typeface="Arial" pitchFamily="34" charset="-120"/>
              </a:rPr>
              <a:t>Content &amp; Listings</a:t>
            </a:r>
            <a:endParaRPr lang="en-US" sz="1350" dirty="0"/>
          </a:p>
        </p:txBody>
      </p:sp>
      <p:sp>
        <p:nvSpPr>
          <p:cNvPr id="28" name="Text 21"/>
          <p:cNvSpPr txBox="1"/>
          <p:nvPr/>
        </p:nvSpPr>
        <p:spPr>
          <a:xfrm>
            <a:off x="822960" y="4919472"/>
            <a:ext cx="2128952" cy="749808"/>
          </a:xfrm>
          <a:prstGeom prst="rect">
            <a:avLst/>
          </a:prstGeom>
          <a:noFill/>
          <a:ln/>
        </p:spPr>
        <p:txBody>
          <a:bodyPr wrap="square" lIns="0" tIns="0" rIns="0" bIns="0" rtlCol="0" anchor="t"/>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Produkttexte, Bilder und Kampagnen automatisch</a:t>
            </a:r>
            <a:endParaRPr lang="en-US" sz="1100" dirty="0"/>
          </a:p>
        </p:txBody>
      </p:sp>
      <p:sp>
        <p:nvSpPr>
          <p:cNvPr id="29" name="Shape 22"/>
          <p:cNvSpPr/>
          <p:nvPr/>
        </p:nvSpPr>
        <p:spPr>
          <a:xfrm>
            <a:off x="3372536" y="3822192"/>
            <a:ext cx="2641016" cy="2029968"/>
          </a:xfrm>
          <a:prstGeom prst="roundRect">
            <a:avLst>
              <a:gd name="adj" fmla="val 2703"/>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30" name="Shape 23"/>
          <p:cNvSpPr/>
          <p:nvPr/>
        </p:nvSpPr>
        <p:spPr>
          <a:xfrm>
            <a:off x="3628568" y="4078224"/>
            <a:ext cx="402336" cy="402336"/>
          </a:xfrm>
          <a:prstGeom prst="roundRect">
            <a:avLst>
              <a:gd name="adj" fmla="val 22727"/>
            </a:avLst>
          </a:prstGeom>
          <a:solidFill>
            <a:srgbClr val="1E40AF"/>
          </a:solidFill>
          <a:ln/>
        </p:spPr>
      </p:sp>
      <p:pic>
        <p:nvPicPr>
          <p:cNvPr id="31" name="Image 5" descr="preencoded.png">    </p:cNvPr>
          <p:cNvPicPr>
            <a:picLocks noChangeAspect="1"/>
          </p:cNvPicPr>
          <p:nvPr/>
        </p:nvPicPr>
        <p:blipFill>
          <a:blip r:embed="rId6"/>
          <a:stretch>
            <a:fillRect/>
          </a:stretch>
        </p:blipFill>
        <p:spPr>
          <a:xfrm>
            <a:off x="3724580" y="4174236"/>
            <a:ext cx="210312" cy="210312"/>
          </a:xfrm>
          <a:prstGeom prst="rect">
            <a:avLst/>
          </a:prstGeom>
        </p:spPr>
      </p:pic>
      <p:sp>
        <p:nvSpPr>
          <p:cNvPr id="32" name="Text 24"/>
          <p:cNvSpPr txBox="1"/>
          <p:nvPr/>
        </p:nvSpPr>
        <p:spPr>
          <a:xfrm>
            <a:off x="3628568" y="4608576"/>
            <a:ext cx="2128952" cy="274320"/>
          </a:xfrm>
          <a:prstGeom prst="rect">
            <a:avLst/>
          </a:prstGeom>
          <a:noFill/>
          <a:ln/>
        </p:spPr>
        <p:txBody>
          <a:bodyPr wrap="square" lIns="0" tIns="0" rIns="0" bIns="0" rtlCol="0" anchor="ctr"/>
          <a:lstStyle/>
          <a:p>
            <a:pPr indent="0" marL="0">
              <a:buNone/>
            </a:pPr>
            <a:r>
              <a:rPr lang="en-US" sz="1350" b="1" dirty="0">
                <a:solidFill>
                  <a:srgbClr val="1E3A8A"/>
                </a:solidFill>
                <a:latin typeface="Arial" pitchFamily="34" charset="0"/>
                <a:ea typeface="Arial" pitchFamily="34" charset="-122"/>
                <a:cs typeface="Arial" pitchFamily="34" charset="-120"/>
              </a:rPr>
              <a:t>Logistik &amp; Prognose</a:t>
            </a:r>
            <a:endParaRPr lang="en-US" sz="1350" dirty="0"/>
          </a:p>
        </p:txBody>
      </p:sp>
      <p:sp>
        <p:nvSpPr>
          <p:cNvPr id="33" name="Text 25"/>
          <p:cNvSpPr txBox="1"/>
          <p:nvPr/>
        </p:nvSpPr>
        <p:spPr>
          <a:xfrm>
            <a:off x="3628568" y="4919472"/>
            <a:ext cx="2128952" cy="749808"/>
          </a:xfrm>
          <a:prstGeom prst="rect">
            <a:avLst/>
          </a:prstGeom>
          <a:noFill/>
          <a:ln/>
        </p:spPr>
        <p:txBody>
          <a:bodyPr wrap="square" lIns="0" tIns="0" rIns="0" bIns="0" rtlCol="0" anchor="t"/>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Bedarf vorhersagen, Lieferzusagen schärfen</a:t>
            </a:r>
            <a:endParaRPr lang="en-US" sz="1100" dirty="0"/>
          </a:p>
        </p:txBody>
      </p:sp>
      <p:sp>
        <p:nvSpPr>
          <p:cNvPr id="34" name="Shape 26"/>
          <p:cNvSpPr/>
          <p:nvPr/>
        </p:nvSpPr>
        <p:spPr>
          <a:xfrm>
            <a:off x="6178144" y="3822192"/>
            <a:ext cx="2641016" cy="2029968"/>
          </a:xfrm>
          <a:prstGeom prst="roundRect">
            <a:avLst>
              <a:gd name="adj" fmla="val 2703"/>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35" name="Shape 27"/>
          <p:cNvSpPr/>
          <p:nvPr/>
        </p:nvSpPr>
        <p:spPr>
          <a:xfrm>
            <a:off x="6434176" y="4078224"/>
            <a:ext cx="402336" cy="402336"/>
          </a:xfrm>
          <a:prstGeom prst="roundRect">
            <a:avLst>
              <a:gd name="adj" fmla="val 22727"/>
            </a:avLst>
          </a:prstGeom>
          <a:solidFill>
            <a:srgbClr val="1E40AF"/>
          </a:solidFill>
          <a:ln/>
        </p:spPr>
      </p:sp>
      <p:pic>
        <p:nvPicPr>
          <p:cNvPr id="36" name="Image 6" descr="preencoded.png">    </p:cNvPr>
          <p:cNvPicPr>
            <a:picLocks noChangeAspect="1"/>
          </p:cNvPicPr>
          <p:nvPr/>
        </p:nvPicPr>
        <p:blipFill>
          <a:blip r:embed="rId7"/>
          <a:stretch>
            <a:fillRect/>
          </a:stretch>
        </p:blipFill>
        <p:spPr>
          <a:xfrm>
            <a:off x="6530188" y="4174236"/>
            <a:ext cx="210312" cy="210312"/>
          </a:xfrm>
          <a:prstGeom prst="rect">
            <a:avLst/>
          </a:prstGeom>
        </p:spPr>
      </p:pic>
      <p:sp>
        <p:nvSpPr>
          <p:cNvPr id="37" name="Text 28"/>
          <p:cNvSpPr txBox="1"/>
          <p:nvPr/>
        </p:nvSpPr>
        <p:spPr>
          <a:xfrm>
            <a:off x="6434176" y="4608576"/>
            <a:ext cx="2128952" cy="274320"/>
          </a:xfrm>
          <a:prstGeom prst="rect">
            <a:avLst/>
          </a:prstGeom>
          <a:noFill/>
          <a:ln/>
        </p:spPr>
        <p:txBody>
          <a:bodyPr wrap="square" lIns="0" tIns="0" rIns="0" bIns="0" rtlCol="0" anchor="ctr"/>
          <a:lstStyle/>
          <a:p>
            <a:pPr indent="0" marL="0">
              <a:buNone/>
            </a:pPr>
            <a:r>
              <a:rPr lang="en-US" sz="1350" b="1" dirty="0">
                <a:solidFill>
                  <a:srgbClr val="1E3A8A"/>
                </a:solidFill>
                <a:latin typeface="Arial" pitchFamily="34" charset="0"/>
                <a:ea typeface="Arial" pitchFamily="34" charset="-122"/>
                <a:cs typeface="Arial" pitchFamily="34" charset="-120"/>
              </a:rPr>
              <a:t>Betrugserkennung</a:t>
            </a:r>
            <a:endParaRPr lang="en-US" sz="1350" dirty="0"/>
          </a:p>
        </p:txBody>
      </p:sp>
      <p:sp>
        <p:nvSpPr>
          <p:cNvPr id="38" name="Text 29"/>
          <p:cNvSpPr txBox="1"/>
          <p:nvPr/>
        </p:nvSpPr>
        <p:spPr>
          <a:xfrm>
            <a:off x="6434176" y="4919472"/>
            <a:ext cx="2128952" cy="749808"/>
          </a:xfrm>
          <a:prstGeom prst="rect">
            <a:avLst/>
          </a:prstGeom>
          <a:noFill/>
          <a:ln/>
        </p:spPr>
        <p:txBody>
          <a:bodyPr wrap="square" lIns="0" tIns="0" rIns="0" bIns="0" rtlCol="0" anchor="t"/>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Auffällige Bestellungen in Millisekunden bewerten</a:t>
            </a:r>
            <a:endParaRPr lang="en-US" sz="1100" dirty="0"/>
          </a:p>
        </p:txBody>
      </p:sp>
      <p:sp>
        <p:nvSpPr>
          <p:cNvPr id="39" name="Shape 30"/>
          <p:cNvSpPr/>
          <p:nvPr/>
        </p:nvSpPr>
        <p:spPr>
          <a:xfrm>
            <a:off x="8983751" y="3822192"/>
            <a:ext cx="2641016" cy="2029968"/>
          </a:xfrm>
          <a:prstGeom prst="roundRect">
            <a:avLst>
              <a:gd name="adj" fmla="val 2703"/>
            </a:avLst>
          </a:prstGeom>
          <a:solidFill>
            <a:srgbClr val="1E3A8A"/>
          </a:solidFill>
          <a:ln/>
          <a:effectLst>
            <a:outerShdw sx="100000" sy="100000" kx="0" ky="0" algn="bl" rotWithShape="0" blurRad="127000" dist="25400" dir="5400000">
              <a:srgbClr val="1E3A8A">
                <a:alpha val="10000"/>
              </a:srgbClr>
            </a:outerShdw>
          </a:effectLst>
        </p:spPr>
      </p:sp>
      <p:sp>
        <p:nvSpPr>
          <p:cNvPr id="40" name="Shape 31"/>
          <p:cNvSpPr/>
          <p:nvPr/>
        </p:nvSpPr>
        <p:spPr>
          <a:xfrm>
            <a:off x="9239783" y="4078224"/>
            <a:ext cx="402336" cy="402336"/>
          </a:xfrm>
          <a:prstGeom prst="roundRect">
            <a:avLst>
              <a:gd name="adj" fmla="val 22727"/>
            </a:avLst>
          </a:prstGeom>
          <a:solidFill>
            <a:srgbClr val="F59E0B"/>
          </a:solidFill>
          <a:ln/>
        </p:spPr>
      </p:sp>
      <p:pic>
        <p:nvPicPr>
          <p:cNvPr id="41" name="Image 7" descr="preencoded.png">    </p:cNvPr>
          <p:cNvPicPr>
            <a:picLocks noChangeAspect="1"/>
          </p:cNvPicPr>
          <p:nvPr/>
        </p:nvPicPr>
        <p:blipFill>
          <a:blip r:embed="rId8"/>
          <a:stretch>
            <a:fillRect/>
          </a:stretch>
        </p:blipFill>
        <p:spPr>
          <a:xfrm>
            <a:off x="9335795" y="4174236"/>
            <a:ext cx="210312" cy="210312"/>
          </a:xfrm>
          <a:prstGeom prst="rect">
            <a:avLst/>
          </a:prstGeom>
        </p:spPr>
      </p:pic>
      <p:sp>
        <p:nvSpPr>
          <p:cNvPr id="42" name="Text 32"/>
          <p:cNvSpPr txBox="1"/>
          <p:nvPr/>
        </p:nvSpPr>
        <p:spPr>
          <a:xfrm>
            <a:off x="9239783" y="4608576"/>
            <a:ext cx="2128952" cy="27432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Gemeinsamer Nenner</a:t>
            </a:r>
            <a:endParaRPr lang="en-US" sz="1350" dirty="0"/>
          </a:p>
        </p:txBody>
      </p:sp>
      <p:sp>
        <p:nvSpPr>
          <p:cNvPr id="43" name="Text 33"/>
          <p:cNvSpPr txBox="1"/>
          <p:nvPr/>
        </p:nvSpPr>
        <p:spPr>
          <a:xfrm>
            <a:off x="9239783" y="4919472"/>
            <a:ext cx="2128952" cy="749808"/>
          </a:xfrm>
          <a:prstGeom prst="rect">
            <a:avLst/>
          </a:prstGeom>
          <a:noFill/>
          <a:ln/>
        </p:spPr>
        <p:txBody>
          <a:bodyPr wrap="square" lIns="0" tIns="0" rIns="0" bIns="0" rtlCol="0" anchor="t"/>
          <a:lstStyle/>
          <a:p>
            <a:pPr indent="0" marL="0">
              <a:lnSpc>
                <a:spcPct val="120000"/>
              </a:lnSpc>
              <a:buNone/>
            </a:pPr>
            <a:r>
              <a:rPr lang="en-US" sz="1100" dirty="0">
                <a:solidFill>
                  <a:srgbClr val="C7D7F5"/>
                </a:solidFill>
                <a:latin typeface="Arial" pitchFamily="34" charset="0"/>
                <a:ea typeface="Arial" pitchFamily="34" charset="-122"/>
                <a:cs typeface="Arial" pitchFamily="34" charset="-120"/>
              </a:rPr>
              <a:t>Alle sieben Hebel stehen auf derselben Grundlage: sauberen, zusammengeführten Daten.</a:t>
            </a:r>
            <a:endParaRPr lang="en-US" sz="1100" dirty="0"/>
          </a:p>
        </p:txBody>
      </p:sp>
      <p:sp>
        <p:nvSpPr>
          <p:cNvPr id="44" name="Text 34"/>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07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WIRKUNG</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Was das messbar bringt</a:t>
            </a:r>
            <a:endParaRPr lang="en-US" sz="2900" dirty="0"/>
          </a:p>
        </p:txBody>
      </p:sp>
      <p:sp>
        <p:nvSpPr>
          <p:cNvPr id="4" name="Shape 2"/>
          <p:cNvSpPr/>
          <p:nvPr/>
        </p:nvSpPr>
        <p:spPr>
          <a:xfrm>
            <a:off x="566928" y="1591056"/>
            <a:ext cx="7317029" cy="4224528"/>
          </a:xfrm>
          <a:prstGeom prst="roundRect">
            <a:avLst>
              <a:gd name="adj" fmla="val 1299"/>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5" name="Text 3"/>
          <p:cNvSpPr txBox="1"/>
          <p:nvPr/>
        </p:nvSpPr>
        <p:spPr>
          <a:xfrm>
            <a:off x="877824" y="1810512"/>
            <a:ext cx="6695237" cy="219456"/>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Berichtete Effektgrößen aus Studien und Unternehmensangaben</a:t>
            </a:r>
            <a:endParaRPr lang="en-US" sz="1400" dirty="0"/>
          </a:p>
        </p:txBody>
      </p:sp>
      <p:sp>
        <p:nvSpPr>
          <p:cNvPr id="6" name="Text 4"/>
          <p:cNvSpPr txBox="1"/>
          <p:nvPr/>
        </p:nvSpPr>
        <p:spPr>
          <a:xfrm>
            <a:off x="877824" y="2029968"/>
            <a:ext cx="6695237" cy="201168"/>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Angaben in Prozent · Richtung der Veränderung steht in der Beschriftung</a:t>
            </a:r>
            <a:endParaRPr lang="en-US" sz="900" dirty="0"/>
          </a:p>
        </p:txBody>
      </p:sp>
      <p:graphicFrame>
        <p:nvGraphicFramePr>
          <p:cNvPr id="7" name="Chart 0" descr=""/>
          <p:cNvGraphicFramePr/>
          <p:nvPr/>
        </p:nvGraphicFramePr>
        <p:xfrm>
          <a:off x="694944" y="2322576"/>
          <a:ext cx="6951269" cy="3273552"/>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048549" y="1591056"/>
            <a:ext cx="3576218" cy="2084832"/>
          </a:xfrm>
          <a:prstGeom prst="roundRect">
            <a:avLst>
              <a:gd name="adj" fmla="val 2632"/>
            </a:avLst>
          </a:prstGeom>
          <a:solidFill>
            <a:srgbClr val="1E3A8A"/>
          </a:solidFill>
          <a:ln/>
          <a:effectLst>
            <a:outerShdw sx="100000" sy="100000" kx="0" ky="0" algn="bl" rotWithShape="0" blurRad="127000" dist="25400" dir="5400000">
              <a:srgbClr val="1E3A8A">
                <a:alpha val="10000"/>
              </a:srgbClr>
            </a:outerShdw>
          </a:effectLst>
        </p:spPr>
      </p:sp>
      <p:sp>
        <p:nvSpPr>
          <p:cNvPr id="9" name="Shape 6"/>
          <p:cNvSpPr/>
          <p:nvPr/>
        </p:nvSpPr>
        <p:spPr>
          <a:xfrm>
            <a:off x="8322869" y="1847088"/>
            <a:ext cx="402336" cy="402336"/>
          </a:xfrm>
          <a:prstGeom prst="roundRect">
            <a:avLst>
              <a:gd name="adj" fmla="val 22727"/>
            </a:avLst>
          </a:prstGeom>
          <a:solidFill>
            <a:srgbClr val="F59E0B"/>
          </a:solidFill>
          <a:ln/>
        </p:spPr>
      </p:sp>
      <p:pic>
        <p:nvPicPr>
          <p:cNvPr id="10" name="Image 0" descr="preencoded.png">    </p:cNvPr>
          <p:cNvPicPr>
            <a:picLocks noChangeAspect="1"/>
          </p:cNvPicPr>
          <p:nvPr/>
        </p:nvPicPr>
        <p:blipFill>
          <a:blip r:embed="rId2"/>
          <a:stretch>
            <a:fillRect/>
          </a:stretch>
        </p:blipFill>
        <p:spPr>
          <a:xfrm>
            <a:off x="8418881" y="1943100"/>
            <a:ext cx="210312" cy="210312"/>
          </a:xfrm>
          <a:prstGeom prst="rect">
            <a:avLst/>
          </a:prstGeom>
        </p:spPr>
      </p:pic>
      <p:sp>
        <p:nvSpPr>
          <p:cNvPr id="11" name="Text 7"/>
          <p:cNvSpPr txBox="1"/>
          <p:nvPr/>
        </p:nvSpPr>
        <p:spPr>
          <a:xfrm>
            <a:off x="8322869" y="2377440"/>
            <a:ext cx="3027578"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So lesen Sie die Grafik</a:t>
            </a:r>
            <a:endParaRPr lang="en-US" sz="1400" dirty="0"/>
          </a:p>
        </p:txBody>
      </p:sp>
      <p:sp>
        <p:nvSpPr>
          <p:cNvPr id="12" name="Text 8"/>
          <p:cNvSpPr txBox="1"/>
          <p:nvPr/>
        </p:nvSpPr>
        <p:spPr>
          <a:xfrm>
            <a:off x="8322869" y="2706624"/>
            <a:ext cx="3027578" cy="841248"/>
          </a:xfrm>
          <a:prstGeom prst="rect">
            <a:avLst/>
          </a:prstGeom>
          <a:noFill/>
          <a:ln/>
        </p:spPr>
        <p:txBody>
          <a:bodyPr wrap="square" lIns="0" tIns="0" rIns="0" bIns="0" rtlCol="0" anchor="t"/>
          <a:lstStyle/>
          <a:p>
            <a:pPr indent="0" marL="0">
              <a:lnSpc>
                <a:spcPct val="120000"/>
              </a:lnSpc>
              <a:buNone/>
            </a:pPr>
            <a:r>
              <a:rPr lang="en-US" sz="1100" dirty="0">
                <a:solidFill>
                  <a:srgbClr val="C7D7F5"/>
                </a:solidFill>
                <a:latin typeface="Arial" pitchFamily="34" charset="0"/>
                <a:ea typeface="Arial" pitchFamily="34" charset="-122"/>
                <a:cs typeface="Arial" pitchFamily="34" charset="-120"/>
              </a:rPr>
              <a:t>Die Balkenlänge zeigt die Größe des Effekts, nicht seine Richtung. Ob ein Wert steigt oder sinkt, steht in der Beschriftung.</a:t>
            </a:r>
            <a:endParaRPr lang="en-US" sz="1100" dirty="0"/>
          </a:p>
        </p:txBody>
      </p:sp>
      <p:sp>
        <p:nvSpPr>
          <p:cNvPr id="13" name="Shape 9"/>
          <p:cNvSpPr/>
          <p:nvPr/>
        </p:nvSpPr>
        <p:spPr>
          <a:xfrm>
            <a:off x="8048549" y="3785616"/>
            <a:ext cx="3576218" cy="2029968"/>
          </a:xfrm>
          <a:prstGeom prst="roundRect">
            <a:avLst>
              <a:gd name="adj" fmla="val 2703"/>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4" name="Shape 10"/>
          <p:cNvSpPr/>
          <p:nvPr/>
        </p:nvSpPr>
        <p:spPr>
          <a:xfrm>
            <a:off x="8322869" y="4041648"/>
            <a:ext cx="402336" cy="402336"/>
          </a:xfrm>
          <a:prstGeom prst="roundRect">
            <a:avLst>
              <a:gd name="adj" fmla="val 22727"/>
            </a:avLst>
          </a:prstGeom>
          <a:solidFill>
            <a:srgbClr val="D97706"/>
          </a:solidFill>
          <a:ln/>
        </p:spPr>
      </p:sp>
      <p:pic>
        <p:nvPicPr>
          <p:cNvPr id="15" name="Image 1" descr="preencoded.png">    </p:cNvPr>
          <p:cNvPicPr>
            <a:picLocks noChangeAspect="1"/>
          </p:cNvPicPr>
          <p:nvPr/>
        </p:nvPicPr>
        <p:blipFill>
          <a:blip r:embed="rId3"/>
          <a:stretch>
            <a:fillRect/>
          </a:stretch>
        </p:blipFill>
        <p:spPr>
          <a:xfrm>
            <a:off x="8418881" y="4137660"/>
            <a:ext cx="210312" cy="210312"/>
          </a:xfrm>
          <a:prstGeom prst="rect">
            <a:avLst/>
          </a:prstGeom>
        </p:spPr>
      </p:pic>
      <p:sp>
        <p:nvSpPr>
          <p:cNvPr id="16" name="Text 11"/>
          <p:cNvSpPr txBox="1"/>
          <p:nvPr/>
        </p:nvSpPr>
        <p:spPr>
          <a:xfrm>
            <a:off x="8322869" y="4572000"/>
            <a:ext cx="3027578" cy="274320"/>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Nicht addierbar</a:t>
            </a:r>
            <a:endParaRPr lang="en-US" sz="1400" dirty="0"/>
          </a:p>
        </p:txBody>
      </p:sp>
      <p:sp>
        <p:nvSpPr>
          <p:cNvPr id="17" name="Text 12"/>
          <p:cNvSpPr txBox="1"/>
          <p:nvPr/>
        </p:nvSpPr>
        <p:spPr>
          <a:xfrm>
            <a:off x="8322869" y="4901184"/>
            <a:ext cx="3027578" cy="841248"/>
          </a:xfrm>
          <a:prstGeom prst="rect">
            <a:avLst/>
          </a:prstGeom>
          <a:noFill/>
          <a:ln/>
        </p:spPr>
        <p:txBody>
          <a:bodyPr wrap="square" lIns="0" tIns="0" rIns="0" bIns="0" rtlCol="0" anchor="t"/>
          <a:lstStyle/>
          <a:p>
            <a:pPr indent="0" marL="0">
              <a:lnSpc>
                <a:spcPct val="120000"/>
              </a:lnSpc>
              <a:buNone/>
            </a:pPr>
            <a:r>
              <a:rPr lang="en-US" sz="1100" dirty="0">
                <a:solidFill>
                  <a:srgbClr val="475569"/>
                </a:solidFill>
                <a:latin typeface="Arial" pitchFamily="34" charset="0"/>
                <a:ea typeface="Arial" pitchFamily="34" charset="-122"/>
                <a:cs typeface="Arial" pitchFamily="34" charset="-120"/>
              </a:rPr>
              <a:t>Die Werte stammen aus verschiedenen Studien und Unternehmen mit unterschiedlichen Ausgangslagen. Sie zeigen Größenordnungen, keine Garantien.</a:t>
            </a:r>
            <a:endParaRPr lang="en-US" sz="1100" dirty="0"/>
          </a:p>
        </p:txBody>
      </p:sp>
      <p:sp>
        <p:nvSpPr>
          <p:cNvPr id="18" name="Text 13"/>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475569"/>
                </a:solidFill>
                <a:latin typeface="Arial" pitchFamily="34" charset="0"/>
                <a:ea typeface="Arial" pitchFamily="34" charset="-122"/>
                <a:cs typeface="Arial" pitchFamily="34" charset="-120"/>
              </a:rPr>
              <a:t>Quelle: Personalisierung, Lagerbestände, Prognosefehler, Fehlbestände: McKinsey, The economic potential of generative AI (63 analysierte Anwendungsfälle)  ·  Content-Performance: Zalando SE, Geschäftsjahr 2025 (Veröffentlichung 12.03.2026)  ·  Bearbeitungszeit: Klarna, Pressemitteilung zum KI-Assistenten; Kurskorrektur 2025</a:t>
            </a:r>
            <a:endParaRPr lang="en-US" sz="900" dirty="0"/>
          </a:p>
        </p:txBody>
      </p:sp>
      <p:sp>
        <p:nvSpPr>
          <p:cNvPr id="19" name="Text 14"/>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08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PRAXISBEISPIEL 1 VON 3</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Amazon Rufus: der Assistent im Suchfeld</a:t>
            </a:r>
            <a:endParaRPr lang="en-US" sz="2900" dirty="0"/>
          </a:p>
        </p:txBody>
      </p:sp>
      <p:sp>
        <p:nvSpPr>
          <p:cNvPr id="4" name="Shape 2"/>
          <p:cNvSpPr/>
          <p:nvPr/>
        </p:nvSpPr>
        <p:spPr>
          <a:xfrm>
            <a:off x="566928" y="1591056"/>
            <a:ext cx="5446624" cy="4224528"/>
          </a:xfrm>
          <a:prstGeom prst="roundRect">
            <a:avLst>
              <a:gd name="adj" fmla="val 1299"/>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5" name="Text 3"/>
          <p:cNvSpPr txBox="1"/>
          <p:nvPr/>
        </p:nvSpPr>
        <p:spPr>
          <a:xfrm>
            <a:off x="877824" y="1810512"/>
            <a:ext cx="4824832" cy="219456"/>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Wahrscheinlichkeit eines Kaufabschlusses</a:t>
            </a:r>
            <a:endParaRPr lang="en-US" sz="1400" dirty="0"/>
          </a:p>
        </p:txBody>
      </p:sp>
      <p:sp>
        <p:nvSpPr>
          <p:cNvPr id="6" name="Text 4"/>
          <p:cNvSpPr txBox="1"/>
          <p:nvPr/>
        </p:nvSpPr>
        <p:spPr>
          <a:xfrm>
            <a:off x="877824" y="2029968"/>
            <a:ext cx="4824832" cy="201168"/>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Indexwert · Einkaufsvorgänge ohne Assistent = 100</a:t>
            </a:r>
            <a:endParaRPr lang="en-US" sz="900" dirty="0"/>
          </a:p>
        </p:txBody>
      </p:sp>
      <p:graphicFrame>
        <p:nvGraphicFramePr>
          <p:cNvPr id="7" name="Chart 0" descr=""/>
          <p:cNvGraphicFramePr/>
          <p:nvPr/>
        </p:nvGraphicFramePr>
        <p:xfrm>
          <a:off x="731520" y="2359152"/>
          <a:ext cx="5044288" cy="321868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178144" y="1591056"/>
            <a:ext cx="5446624" cy="1956816"/>
          </a:xfrm>
          <a:prstGeom prst="roundRect">
            <a:avLst>
              <a:gd name="adj" fmla="val 2804"/>
            </a:avLst>
          </a:prstGeom>
          <a:solidFill>
            <a:srgbClr val="1E3A8A"/>
          </a:solidFill>
          <a:ln/>
          <a:effectLst>
            <a:outerShdw sx="100000" sy="100000" kx="0" ky="0" algn="bl" rotWithShape="0" blurRad="127000" dist="25400" dir="5400000">
              <a:srgbClr val="1E3A8A">
                <a:alpha val="10000"/>
              </a:srgbClr>
            </a:outerShdw>
          </a:effectLst>
        </p:spPr>
      </p:sp>
      <p:sp>
        <p:nvSpPr>
          <p:cNvPr id="9" name="Text 6"/>
          <p:cNvSpPr txBox="1"/>
          <p:nvPr/>
        </p:nvSpPr>
        <p:spPr>
          <a:xfrm>
            <a:off x="6489040" y="1847088"/>
            <a:ext cx="4824832" cy="658368"/>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12 Mrd. $</a:t>
            </a:r>
            <a:endParaRPr lang="en-US" sz="4400" dirty="0"/>
          </a:p>
        </p:txBody>
      </p:sp>
      <p:sp>
        <p:nvSpPr>
          <p:cNvPr id="10" name="Text 7"/>
          <p:cNvSpPr txBox="1"/>
          <p:nvPr/>
        </p:nvSpPr>
        <p:spPr>
          <a:xfrm>
            <a:off x="6489040" y="2578608"/>
            <a:ext cx="4824832" cy="731520"/>
          </a:xfrm>
          <a:prstGeom prst="rect">
            <a:avLst/>
          </a:prstGeom>
          <a:noFill/>
          <a:ln/>
        </p:spPr>
        <p:txBody>
          <a:bodyPr wrap="square" lIns="0" tIns="0" rIns="0" bIns="0" rtlCol="0" anchor="t"/>
          <a:lstStyle/>
          <a:p>
            <a:pPr indent="0" marL="0">
              <a:lnSpc>
                <a:spcPct val="122000"/>
              </a:lnSpc>
              <a:buNone/>
            </a:pPr>
            <a:r>
              <a:rPr lang="en-US" sz="1250" dirty="0">
                <a:solidFill>
                  <a:srgbClr val="C7D7F5"/>
                </a:solidFill>
                <a:latin typeface="Arial" pitchFamily="34" charset="0"/>
                <a:ea typeface="Arial" pitchFamily="34" charset="-122"/>
                <a:cs typeface="Arial" pitchFamily="34" charset="-120"/>
              </a:rPr>
              <a:t>zusätzlicher annualisierter Umsatz im Jahr 2025 · über 300 Mio. Nutzerinnen und Nutzer</a:t>
            </a:r>
            <a:endParaRPr lang="en-US" sz="1250" dirty="0"/>
          </a:p>
        </p:txBody>
      </p:sp>
      <p:sp>
        <p:nvSpPr>
          <p:cNvPr id="11" name="Shape 8"/>
          <p:cNvSpPr/>
          <p:nvPr/>
        </p:nvSpPr>
        <p:spPr>
          <a:xfrm>
            <a:off x="6178144" y="3694176"/>
            <a:ext cx="5446624" cy="2121408"/>
          </a:xfrm>
          <a:prstGeom prst="roundRect">
            <a:avLst>
              <a:gd name="adj" fmla="val 2586"/>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2" name="Shape 9"/>
          <p:cNvSpPr/>
          <p:nvPr/>
        </p:nvSpPr>
        <p:spPr>
          <a:xfrm>
            <a:off x="6489040" y="3950208"/>
            <a:ext cx="402336" cy="402336"/>
          </a:xfrm>
          <a:prstGeom prst="roundRect">
            <a:avLst>
              <a:gd name="adj" fmla="val 22727"/>
            </a:avLst>
          </a:prstGeom>
          <a:solidFill>
            <a:srgbClr val="1E40AF"/>
          </a:solidFill>
          <a:ln/>
        </p:spPr>
      </p:sp>
      <p:pic>
        <p:nvPicPr>
          <p:cNvPr id="13" name="Image 0" descr="preencoded.png">    </p:cNvPr>
          <p:cNvPicPr>
            <a:picLocks noChangeAspect="1"/>
          </p:cNvPicPr>
          <p:nvPr/>
        </p:nvPicPr>
        <p:blipFill>
          <a:blip r:embed="rId2"/>
          <a:stretch>
            <a:fillRect/>
          </a:stretch>
        </p:blipFill>
        <p:spPr>
          <a:xfrm>
            <a:off x="6585052" y="4046220"/>
            <a:ext cx="210312" cy="210312"/>
          </a:xfrm>
          <a:prstGeom prst="rect">
            <a:avLst/>
          </a:prstGeom>
        </p:spPr>
      </p:pic>
      <p:sp>
        <p:nvSpPr>
          <p:cNvPr id="14" name="Text 10"/>
          <p:cNvSpPr txBox="1"/>
          <p:nvPr/>
        </p:nvSpPr>
        <p:spPr>
          <a:xfrm>
            <a:off x="7074256" y="4005072"/>
            <a:ext cx="4239616" cy="292608"/>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Was der Assistent tut</a:t>
            </a:r>
            <a:endParaRPr lang="en-US" sz="1400" dirty="0"/>
          </a:p>
        </p:txBody>
      </p:sp>
      <p:sp>
        <p:nvSpPr>
          <p:cNvPr id="15" name="Text 11"/>
          <p:cNvSpPr txBox="1"/>
          <p:nvPr/>
        </p:nvSpPr>
        <p:spPr>
          <a:xfrm>
            <a:off x="6489040" y="4443984"/>
            <a:ext cx="4824832" cy="1243584"/>
          </a:xfrm>
          <a:prstGeom prst="rect">
            <a:avLst/>
          </a:prstGeom>
          <a:noFill/>
          <a:ln/>
        </p:spPr>
        <p:txBody>
          <a:bodyPr wrap="square" lIns="0" tIns="0" rIns="0" bIns="0" rtlCol="0" anchor="t"/>
          <a:lstStyle/>
          <a:p>
            <a:pPr marL="342900" indent="-342900">
              <a:lnSpc>
                <a:spcPct val="120000"/>
              </a:lnSpc>
              <a:spcAft>
                <a:spcPts val="800"/>
              </a:spcAft>
              <a:buSzPct val="100000"/>
              <a:buChar char="•"/>
            </a:pPr>
            <a:r>
              <a:rPr lang="en-US" sz="1250" dirty="0">
                <a:solidFill>
                  <a:srgbClr val="475569"/>
                </a:solidFill>
                <a:latin typeface="Arial" pitchFamily="34" charset="0"/>
                <a:ea typeface="Arial" pitchFamily="34" charset="-122"/>
                <a:cs typeface="Arial" pitchFamily="34" charset="-120"/>
              </a:rPr>
              <a:t>beantwortet Produktfragen im Dialog und vergleicht Alternativen</a:t>
            </a:r>
            <a:endParaRPr lang="en-US" sz="1250" dirty="0"/>
          </a:p>
          <a:p>
            <a:pPr marL="342900" indent="-342900">
              <a:lnSpc>
                <a:spcPct val="120000"/>
              </a:lnSpc>
              <a:spcAft>
                <a:spcPts val="800"/>
              </a:spcAft>
              <a:buSzPct val="100000"/>
              <a:buChar char="•"/>
            </a:pPr>
            <a:r>
              <a:rPr lang="en-US" sz="1250" dirty="0">
                <a:solidFill>
                  <a:srgbClr val="475569"/>
                </a:solidFill>
                <a:latin typeface="Arial" pitchFamily="34" charset="0"/>
                <a:ea typeface="Arial" pitchFamily="34" charset="-122"/>
                <a:cs typeface="Arial" pitchFamily="34" charset="-120"/>
              </a:rPr>
              <a:t>beobachtet Preise und kauft auf Wunsch selbstständig beim Wunschpreis</a:t>
            </a:r>
            <a:endParaRPr lang="en-US" sz="1250" dirty="0"/>
          </a:p>
          <a:p>
            <a:pPr marL="342900" indent="-342900">
              <a:lnSpc>
                <a:spcPct val="120000"/>
              </a:lnSpc>
              <a:buSzPct val="100000"/>
              <a:buChar char="•"/>
            </a:pPr>
            <a:r>
              <a:rPr lang="en-US" sz="1250" dirty="0">
                <a:solidFill>
                  <a:srgbClr val="475569"/>
                </a:solidFill>
                <a:latin typeface="Arial" pitchFamily="34" charset="0"/>
                <a:ea typeface="Arial" pitchFamily="34" charset="-122"/>
                <a:cs typeface="Arial" pitchFamily="34" charset="-120"/>
              </a:rPr>
              <a:t>kauft über „Buy for Me" inzwischen auch in fremden Shops ein</a:t>
            </a:r>
            <a:endParaRPr lang="en-US" sz="1250" dirty="0"/>
          </a:p>
        </p:txBody>
      </p:sp>
      <p:sp>
        <p:nvSpPr>
          <p:cNvPr id="16" name="Text 12"/>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475569"/>
                </a:solidFill>
                <a:latin typeface="Arial" pitchFamily="34" charset="0"/>
                <a:ea typeface="Arial" pitchFamily="34" charset="-122"/>
                <a:cs typeface="Arial" pitchFamily="34" charset="-120"/>
              </a:rPr>
              <a:t>Quelle: Amazon, Q4/GJ-2025-Ergebnisse und Earnings Call, 02/2026</a:t>
            </a:r>
            <a:endParaRPr lang="en-US" sz="900" dirty="0"/>
          </a:p>
        </p:txBody>
      </p:sp>
      <p:sp>
        <p:nvSpPr>
          <p:cNvPr id="17" name="Text 13"/>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09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PRAXISBEISPIEL 2 VON 3</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Zalando: KI entlang der gesamten Kette</a:t>
            </a:r>
            <a:endParaRPr lang="en-US" sz="2900" dirty="0"/>
          </a:p>
        </p:txBody>
      </p:sp>
      <p:sp>
        <p:nvSpPr>
          <p:cNvPr id="4" name="Shape 2"/>
          <p:cNvSpPr/>
          <p:nvPr/>
        </p:nvSpPr>
        <p:spPr>
          <a:xfrm>
            <a:off x="566928" y="1609344"/>
            <a:ext cx="3576218" cy="1700784"/>
          </a:xfrm>
          <a:prstGeom prst="roundRect">
            <a:avLst>
              <a:gd name="adj" fmla="val 3226"/>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5" name="Text 3"/>
          <p:cNvSpPr txBox="1"/>
          <p:nvPr/>
        </p:nvSpPr>
        <p:spPr>
          <a:xfrm>
            <a:off x="841248" y="1773936"/>
            <a:ext cx="3027578" cy="512064"/>
          </a:xfrm>
          <a:prstGeom prst="rect">
            <a:avLst/>
          </a:prstGeom>
          <a:noFill/>
          <a:ln/>
        </p:spPr>
        <p:txBody>
          <a:bodyPr wrap="square" lIns="0" tIns="0" rIns="0" bIns="0" rtlCol="0" anchor="ctr"/>
          <a:lstStyle/>
          <a:p>
            <a:pPr indent="0" marL="0">
              <a:buNone/>
            </a:pPr>
            <a:r>
              <a:rPr lang="en-US" sz="3400" b="1" dirty="0">
                <a:solidFill>
                  <a:srgbClr val="1E40AF"/>
                </a:solidFill>
                <a:latin typeface="Cambria" pitchFamily="34" charset="0"/>
                <a:ea typeface="Cambria" pitchFamily="34" charset="-122"/>
                <a:cs typeface="Cambria" pitchFamily="34" charset="-120"/>
              </a:rPr>
              <a:t>−8 %</a:t>
            </a:r>
            <a:endParaRPr lang="en-US" sz="3400" dirty="0"/>
          </a:p>
        </p:txBody>
      </p:sp>
      <p:sp>
        <p:nvSpPr>
          <p:cNvPr id="6" name="Text 4"/>
          <p:cNvSpPr txBox="1"/>
          <p:nvPr/>
        </p:nvSpPr>
        <p:spPr>
          <a:xfrm>
            <a:off x="841248" y="2322576"/>
            <a:ext cx="3027578" cy="859536"/>
          </a:xfrm>
          <a:prstGeom prst="rect">
            <a:avLst/>
          </a:prstGeom>
          <a:noFill/>
          <a:ln/>
        </p:spPr>
        <p:txBody>
          <a:bodyPr wrap="square" lIns="0" tIns="0" rIns="0" bIns="0" rtlCol="0" anchor="t"/>
          <a:lstStyle/>
          <a:p>
            <a:pPr indent="0" marL="0">
              <a:lnSpc>
                <a:spcPct val="122000"/>
              </a:lnSpc>
              <a:buNone/>
            </a:pPr>
            <a:r>
              <a:rPr lang="en-US" sz="1100" dirty="0">
                <a:solidFill>
                  <a:srgbClr val="475569"/>
                </a:solidFill>
                <a:latin typeface="Arial" pitchFamily="34" charset="0"/>
                <a:ea typeface="Arial" pitchFamily="34" charset="-122"/>
                <a:cs typeface="Arial" pitchFamily="34" charset="-120"/>
              </a:rPr>
              <a:t>größenbedingte Retouren durch Size &amp; Fit — auf Basis der Körpermaße von über einer Million Kundinnen und Kunden</a:t>
            </a:r>
            <a:endParaRPr lang="en-US" sz="1100" dirty="0"/>
          </a:p>
        </p:txBody>
      </p:sp>
      <p:sp>
        <p:nvSpPr>
          <p:cNvPr id="7" name="Shape 5"/>
          <p:cNvSpPr/>
          <p:nvPr/>
        </p:nvSpPr>
        <p:spPr>
          <a:xfrm>
            <a:off x="4307738" y="1609344"/>
            <a:ext cx="3576218" cy="1700784"/>
          </a:xfrm>
          <a:prstGeom prst="roundRect">
            <a:avLst>
              <a:gd name="adj" fmla="val 3226"/>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8" name="Text 6"/>
          <p:cNvSpPr txBox="1"/>
          <p:nvPr/>
        </p:nvSpPr>
        <p:spPr>
          <a:xfrm>
            <a:off x="4582058" y="1773936"/>
            <a:ext cx="3027578" cy="512064"/>
          </a:xfrm>
          <a:prstGeom prst="rect">
            <a:avLst/>
          </a:prstGeom>
          <a:noFill/>
          <a:ln/>
        </p:spPr>
        <p:txBody>
          <a:bodyPr wrap="square" lIns="0" tIns="0" rIns="0" bIns="0" rtlCol="0" anchor="ctr"/>
          <a:lstStyle/>
          <a:p>
            <a:pPr indent="0" marL="0">
              <a:buNone/>
            </a:pPr>
            <a:r>
              <a:rPr lang="en-US" sz="3400" b="1" dirty="0">
                <a:solidFill>
                  <a:srgbClr val="D97706"/>
                </a:solidFill>
                <a:latin typeface="Cambria" pitchFamily="34" charset="0"/>
                <a:ea typeface="Cambria" pitchFamily="34" charset="-122"/>
                <a:cs typeface="Cambria" pitchFamily="34" charset="-120"/>
              </a:rPr>
              <a:t>+13 %</a:t>
            </a:r>
            <a:endParaRPr lang="en-US" sz="3400" dirty="0"/>
          </a:p>
        </p:txBody>
      </p:sp>
      <p:sp>
        <p:nvSpPr>
          <p:cNvPr id="9" name="Text 7"/>
          <p:cNvSpPr txBox="1"/>
          <p:nvPr/>
        </p:nvSpPr>
        <p:spPr>
          <a:xfrm>
            <a:off x="4582058" y="2322576"/>
            <a:ext cx="3027578" cy="859536"/>
          </a:xfrm>
          <a:prstGeom prst="rect">
            <a:avLst/>
          </a:prstGeom>
          <a:noFill/>
          <a:ln/>
        </p:spPr>
        <p:txBody>
          <a:bodyPr wrap="square" lIns="0" tIns="0" rIns="0" bIns="0" rtlCol="0" anchor="t"/>
          <a:lstStyle/>
          <a:p>
            <a:pPr indent="0" marL="0">
              <a:lnSpc>
                <a:spcPct val="122000"/>
              </a:lnSpc>
              <a:buNone/>
            </a:pPr>
            <a:r>
              <a:rPr lang="en-US" sz="1100" dirty="0">
                <a:solidFill>
                  <a:srgbClr val="475569"/>
                </a:solidFill>
                <a:latin typeface="Arial" pitchFamily="34" charset="0"/>
                <a:ea typeface="Arial" pitchFamily="34" charset="-122"/>
                <a:cs typeface="Arial" pitchFamily="34" charset="-120"/>
              </a:rPr>
              <a:t>Artikel im Warenkorb durch KI-gestütztes Matching von Stil und Person</a:t>
            </a:r>
            <a:endParaRPr lang="en-US" sz="1100" dirty="0"/>
          </a:p>
        </p:txBody>
      </p:sp>
      <p:sp>
        <p:nvSpPr>
          <p:cNvPr id="10" name="Shape 8"/>
          <p:cNvSpPr/>
          <p:nvPr/>
        </p:nvSpPr>
        <p:spPr>
          <a:xfrm>
            <a:off x="8048549" y="1609344"/>
            <a:ext cx="3576218" cy="1700784"/>
          </a:xfrm>
          <a:prstGeom prst="roundRect">
            <a:avLst>
              <a:gd name="adj" fmla="val 3226"/>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1" name="Text 9"/>
          <p:cNvSpPr txBox="1"/>
          <p:nvPr/>
        </p:nvSpPr>
        <p:spPr>
          <a:xfrm>
            <a:off x="8322869" y="1773936"/>
            <a:ext cx="3027578" cy="512064"/>
          </a:xfrm>
          <a:prstGeom prst="rect">
            <a:avLst/>
          </a:prstGeom>
          <a:noFill/>
          <a:ln/>
        </p:spPr>
        <p:txBody>
          <a:bodyPr wrap="square" lIns="0" tIns="0" rIns="0" bIns="0" rtlCol="0" anchor="ctr"/>
          <a:lstStyle/>
          <a:p>
            <a:pPr indent="0" marL="0">
              <a:buNone/>
            </a:pPr>
            <a:r>
              <a:rPr lang="en-US" sz="3400" b="1" dirty="0">
                <a:solidFill>
                  <a:srgbClr val="1E40AF"/>
                </a:solidFill>
                <a:latin typeface="Cambria" pitchFamily="34" charset="0"/>
                <a:ea typeface="Cambria" pitchFamily="34" charset="-122"/>
                <a:cs typeface="Cambria" pitchFamily="34" charset="-120"/>
              </a:rPr>
              <a:t>6 Mio.</a:t>
            </a:r>
            <a:endParaRPr lang="en-US" sz="3400" dirty="0"/>
          </a:p>
        </p:txBody>
      </p:sp>
      <p:sp>
        <p:nvSpPr>
          <p:cNvPr id="12" name="Text 10"/>
          <p:cNvSpPr txBox="1"/>
          <p:nvPr/>
        </p:nvSpPr>
        <p:spPr>
          <a:xfrm>
            <a:off x="8322869" y="2322576"/>
            <a:ext cx="3027578" cy="859536"/>
          </a:xfrm>
          <a:prstGeom prst="rect">
            <a:avLst/>
          </a:prstGeom>
          <a:noFill/>
          <a:ln/>
        </p:spPr>
        <p:txBody>
          <a:bodyPr wrap="square" lIns="0" tIns="0" rIns="0" bIns="0" rtlCol="0" anchor="t"/>
          <a:lstStyle/>
          <a:p>
            <a:pPr indent="0" marL="0">
              <a:lnSpc>
                <a:spcPct val="122000"/>
              </a:lnSpc>
              <a:buNone/>
            </a:pPr>
            <a:r>
              <a:rPr lang="en-US" sz="1100" dirty="0">
                <a:solidFill>
                  <a:srgbClr val="475569"/>
                </a:solidFill>
                <a:latin typeface="Arial" pitchFamily="34" charset="0"/>
                <a:ea typeface="Arial" pitchFamily="34" charset="-122"/>
                <a:cs typeface="Arial" pitchFamily="34" charset="-120"/>
              </a:rPr>
              <a:t>Nutzerinnen und Nutzer des Zalando Assistant — viermal so viele wie im Vorjahr</a:t>
            </a:r>
            <a:endParaRPr lang="en-US" sz="1100" dirty="0"/>
          </a:p>
        </p:txBody>
      </p:sp>
      <p:sp>
        <p:nvSpPr>
          <p:cNvPr id="13" name="Shape 11"/>
          <p:cNvSpPr/>
          <p:nvPr/>
        </p:nvSpPr>
        <p:spPr>
          <a:xfrm>
            <a:off x="566928" y="3493008"/>
            <a:ext cx="3576218" cy="1700784"/>
          </a:xfrm>
          <a:prstGeom prst="roundRect">
            <a:avLst>
              <a:gd name="adj" fmla="val 3226"/>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4" name="Text 12"/>
          <p:cNvSpPr txBox="1"/>
          <p:nvPr/>
        </p:nvSpPr>
        <p:spPr>
          <a:xfrm>
            <a:off x="841248" y="3657600"/>
            <a:ext cx="3027578" cy="512064"/>
          </a:xfrm>
          <a:prstGeom prst="rect">
            <a:avLst/>
          </a:prstGeom>
          <a:noFill/>
          <a:ln/>
        </p:spPr>
        <p:txBody>
          <a:bodyPr wrap="square" lIns="0" tIns="0" rIns="0" bIns="0" rtlCol="0" anchor="ctr"/>
          <a:lstStyle/>
          <a:p>
            <a:pPr indent="0" marL="0">
              <a:buNone/>
            </a:pPr>
            <a:r>
              <a:rPr lang="en-US" sz="3400" b="1" dirty="0">
                <a:solidFill>
                  <a:srgbClr val="D97706"/>
                </a:solidFill>
                <a:latin typeface="Cambria" pitchFamily="34" charset="0"/>
                <a:ea typeface="Cambria" pitchFamily="34" charset="-122"/>
                <a:cs typeface="Cambria" pitchFamily="34" charset="-120"/>
              </a:rPr>
              <a:t>90 %</a:t>
            </a:r>
            <a:endParaRPr lang="en-US" sz="3400" dirty="0"/>
          </a:p>
        </p:txBody>
      </p:sp>
      <p:sp>
        <p:nvSpPr>
          <p:cNvPr id="15" name="Text 13"/>
          <p:cNvSpPr txBox="1"/>
          <p:nvPr/>
        </p:nvSpPr>
        <p:spPr>
          <a:xfrm>
            <a:off x="841248" y="4206240"/>
            <a:ext cx="3027578" cy="859536"/>
          </a:xfrm>
          <a:prstGeom prst="rect">
            <a:avLst/>
          </a:prstGeom>
          <a:noFill/>
          <a:ln/>
        </p:spPr>
        <p:txBody>
          <a:bodyPr wrap="square" lIns="0" tIns="0" rIns="0" bIns="0" rtlCol="0" anchor="t"/>
          <a:lstStyle/>
          <a:p>
            <a:pPr indent="0" marL="0">
              <a:lnSpc>
                <a:spcPct val="122000"/>
              </a:lnSpc>
              <a:buNone/>
            </a:pPr>
            <a:r>
              <a:rPr lang="en-US" sz="1100" dirty="0">
                <a:solidFill>
                  <a:srgbClr val="475569"/>
                </a:solidFill>
                <a:latin typeface="Arial" pitchFamily="34" charset="0"/>
                <a:ea typeface="Arial" pitchFamily="34" charset="-122"/>
                <a:cs typeface="Arial" pitchFamily="34" charset="-120"/>
              </a:rPr>
              <a:t>der Produktinhalte werden KI-erzeugt — innerhalb eines Jahres von nahezu null</a:t>
            </a:r>
            <a:endParaRPr lang="en-US" sz="1100" dirty="0"/>
          </a:p>
        </p:txBody>
      </p:sp>
      <p:sp>
        <p:nvSpPr>
          <p:cNvPr id="16" name="Shape 14"/>
          <p:cNvSpPr/>
          <p:nvPr/>
        </p:nvSpPr>
        <p:spPr>
          <a:xfrm>
            <a:off x="4307738" y="3493008"/>
            <a:ext cx="3576218" cy="1700784"/>
          </a:xfrm>
          <a:prstGeom prst="roundRect">
            <a:avLst>
              <a:gd name="adj" fmla="val 3226"/>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7" name="Text 15"/>
          <p:cNvSpPr txBox="1"/>
          <p:nvPr/>
        </p:nvSpPr>
        <p:spPr>
          <a:xfrm>
            <a:off x="4582058" y="3657600"/>
            <a:ext cx="3027578" cy="512064"/>
          </a:xfrm>
          <a:prstGeom prst="rect">
            <a:avLst/>
          </a:prstGeom>
          <a:noFill/>
          <a:ln/>
        </p:spPr>
        <p:txBody>
          <a:bodyPr wrap="square" lIns="0" tIns="0" rIns="0" bIns="0" rtlCol="0" anchor="ctr"/>
          <a:lstStyle/>
          <a:p>
            <a:pPr indent="0" marL="0">
              <a:buNone/>
            </a:pPr>
            <a:r>
              <a:rPr lang="en-US" sz="3400" b="1" dirty="0">
                <a:solidFill>
                  <a:srgbClr val="1E40AF"/>
                </a:solidFill>
                <a:latin typeface="Cambria" pitchFamily="34" charset="0"/>
                <a:ea typeface="Cambria" pitchFamily="34" charset="-122"/>
                <a:cs typeface="Cambria" pitchFamily="34" charset="-120"/>
              </a:rPr>
              <a:t>+70 %</a:t>
            </a:r>
            <a:endParaRPr lang="en-US" sz="3400" dirty="0"/>
          </a:p>
        </p:txBody>
      </p:sp>
      <p:sp>
        <p:nvSpPr>
          <p:cNvPr id="18" name="Text 16"/>
          <p:cNvSpPr txBox="1"/>
          <p:nvPr/>
        </p:nvSpPr>
        <p:spPr>
          <a:xfrm>
            <a:off x="4582058" y="4206240"/>
            <a:ext cx="3027578" cy="859536"/>
          </a:xfrm>
          <a:prstGeom prst="rect">
            <a:avLst/>
          </a:prstGeom>
          <a:noFill/>
          <a:ln/>
        </p:spPr>
        <p:txBody>
          <a:bodyPr wrap="square" lIns="0" tIns="0" rIns="0" bIns="0" rtlCol="0" anchor="t"/>
          <a:lstStyle/>
          <a:p>
            <a:pPr indent="0" marL="0">
              <a:lnSpc>
                <a:spcPct val="122000"/>
              </a:lnSpc>
              <a:buNone/>
            </a:pPr>
            <a:r>
              <a:rPr lang="en-US" sz="1100" dirty="0">
                <a:solidFill>
                  <a:srgbClr val="475569"/>
                </a:solidFill>
                <a:latin typeface="Arial" pitchFamily="34" charset="0"/>
                <a:ea typeface="Arial" pitchFamily="34" charset="-122"/>
                <a:cs typeface="Arial" pitchFamily="34" charset="-120"/>
              </a:rPr>
              <a:t>Content-Performance; Kampagnen entstehen in Tagen statt in sechs Wochen</a:t>
            </a:r>
            <a:endParaRPr lang="en-US" sz="1100" dirty="0"/>
          </a:p>
        </p:txBody>
      </p:sp>
      <p:sp>
        <p:nvSpPr>
          <p:cNvPr id="19" name="Shape 17"/>
          <p:cNvSpPr/>
          <p:nvPr/>
        </p:nvSpPr>
        <p:spPr>
          <a:xfrm>
            <a:off x="8048549" y="3493008"/>
            <a:ext cx="3576218" cy="1700784"/>
          </a:xfrm>
          <a:prstGeom prst="roundRect">
            <a:avLst>
              <a:gd name="adj" fmla="val 3226"/>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20" name="Text 18"/>
          <p:cNvSpPr txBox="1"/>
          <p:nvPr/>
        </p:nvSpPr>
        <p:spPr>
          <a:xfrm>
            <a:off x="8322869" y="3657600"/>
            <a:ext cx="3027578" cy="512064"/>
          </a:xfrm>
          <a:prstGeom prst="rect">
            <a:avLst/>
          </a:prstGeom>
          <a:noFill/>
          <a:ln/>
        </p:spPr>
        <p:txBody>
          <a:bodyPr wrap="square" lIns="0" tIns="0" rIns="0" bIns="0" rtlCol="0" anchor="ctr"/>
          <a:lstStyle/>
          <a:p>
            <a:pPr indent="0" marL="0">
              <a:buNone/>
            </a:pPr>
            <a:r>
              <a:rPr lang="en-US" sz="3400" b="1" dirty="0">
                <a:solidFill>
                  <a:srgbClr val="D97706"/>
                </a:solidFill>
                <a:latin typeface="Cambria" pitchFamily="34" charset="0"/>
                <a:ea typeface="Cambria" pitchFamily="34" charset="-122"/>
                <a:cs typeface="Cambria" pitchFamily="34" charset="-120"/>
              </a:rPr>
              <a:t>+22 Pp</a:t>
            </a:r>
            <a:endParaRPr lang="en-US" sz="3400" dirty="0"/>
          </a:p>
        </p:txBody>
      </p:sp>
      <p:sp>
        <p:nvSpPr>
          <p:cNvPr id="21" name="Text 19"/>
          <p:cNvSpPr txBox="1"/>
          <p:nvPr/>
        </p:nvSpPr>
        <p:spPr>
          <a:xfrm>
            <a:off x="8322869" y="4206240"/>
            <a:ext cx="3027578" cy="859536"/>
          </a:xfrm>
          <a:prstGeom prst="rect">
            <a:avLst/>
          </a:prstGeom>
          <a:noFill/>
          <a:ln/>
        </p:spPr>
        <p:txBody>
          <a:bodyPr wrap="square" lIns="0" tIns="0" rIns="0" bIns="0" rtlCol="0" anchor="t"/>
          <a:lstStyle/>
          <a:p>
            <a:pPr indent="0" marL="0">
              <a:lnSpc>
                <a:spcPct val="122000"/>
              </a:lnSpc>
              <a:buNone/>
            </a:pPr>
            <a:r>
              <a:rPr lang="en-US" sz="1100" dirty="0">
                <a:solidFill>
                  <a:srgbClr val="475569"/>
                </a:solidFill>
                <a:latin typeface="Arial" pitchFamily="34" charset="0"/>
                <a:ea typeface="Arial" pitchFamily="34" charset="-122"/>
                <a:cs typeface="Arial" pitchFamily="34" charset="-120"/>
              </a:rPr>
              <a:t>genauere Lieferzusage an Kundinnen und Kunden durch KI in der Lieferkette</a:t>
            </a:r>
            <a:endParaRPr lang="en-US" sz="1100" dirty="0"/>
          </a:p>
        </p:txBody>
      </p:sp>
      <p:sp>
        <p:nvSpPr>
          <p:cNvPr id="22" name="Shape 20"/>
          <p:cNvSpPr/>
          <p:nvPr/>
        </p:nvSpPr>
        <p:spPr>
          <a:xfrm>
            <a:off x="566928" y="5376672"/>
            <a:ext cx="11057839" cy="512064"/>
          </a:xfrm>
          <a:prstGeom prst="roundRect">
            <a:avLst>
              <a:gd name="adj" fmla="val 10714"/>
            </a:avLst>
          </a:prstGeom>
          <a:solidFill>
            <a:srgbClr val="E9EEF6"/>
          </a:solidFill>
          <a:ln w="12700">
            <a:solidFill>
              <a:srgbClr val="DBEAFE"/>
            </a:solidFill>
            <a:prstDash val="solid"/>
          </a:ln>
        </p:spPr>
      </p:sp>
      <p:sp>
        <p:nvSpPr>
          <p:cNvPr id="23" name="Text 21"/>
          <p:cNvSpPr txBox="1"/>
          <p:nvPr/>
        </p:nvSpPr>
        <p:spPr>
          <a:xfrm>
            <a:off x="841248" y="5394960"/>
            <a:ext cx="10509199" cy="475488"/>
          </a:xfrm>
          <a:prstGeom prst="rect">
            <a:avLst/>
          </a:prstGeom>
          <a:noFill/>
          <a:ln/>
        </p:spPr>
        <p:txBody>
          <a:bodyPr wrap="square" lIns="0" tIns="0" rIns="0" bIns="0" rtlCol="0" anchor="ctr"/>
          <a:lstStyle/>
          <a:p>
            <a:pPr indent="0" marL="0">
              <a:buNone/>
            </a:pPr>
            <a:r>
              <a:rPr lang="en-US" sz="1100" dirty="0">
                <a:solidFill>
                  <a:srgbClr val="1E3A8A"/>
                </a:solidFill>
                <a:latin typeface="Arial" pitchFamily="34" charset="0"/>
                <a:ea typeface="Arial" pitchFamily="34" charset="-122"/>
                <a:cs typeface="Arial" pitchFamily="34" charset="-120"/>
              </a:rPr>
              <a:t>Rahmen des Geschäftsjahres 2025: 12,3 Mrd. € Umsatz (+16,8 %) und 591 Mio. € bereinigtes EBIT. Das Unternehmen führt die Beschleunigung ausdrücklich auf skalierte KI zurück.</a:t>
            </a:r>
            <a:endParaRPr lang="en-US" sz="1100" dirty="0"/>
          </a:p>
        </p:txBody>
      </p:sp>
      <p:sp>
        <p:nvSpPr>
          <p:cNvPr id="24" name="Text 22"/>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475569"/>
                </a:solidFill>
                <a:latin typeface="Arial" pitchFamily="34" charset="0"/>
                <a:ea typeface="Arial" pitchFamily="34" charset="-122"/>
                <a:cs typeface="Arial" pitchFamily="34" charset="-120"/>
              </a:rPr>
              <a:t>Quelle: Zalando SE, Geschäftsjahr 2025 (Veröffentlichung 12.03.2026)</a:t>
            </a:r>
            <a:endParaRPr lang="en-US" sz="900" dirty="0"/>
          </a:p>
        </p:txBody>
      </p:sp>
      <p:sp>
        <p:nvSpPr>
          <p:cNvPr id="25" name="Text 23"/>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PRAXISBEISPIEL 3 VON 3</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Shopify skaliert — und Klarna zeigt die Grenze</a:t>
            </a:r>
            <a:endParaRPr lang="en-US" sz="2900" dirty="0"/>
          </a:p>
        </p:txBody>
      </p:sp>
      <p:sp>
        <p:nvSpPr>
          <p:cNvPr id="4" name="Shape 2"/>
          <p:cNvSpPr/>
          <p:nvPr/>
        </p:nvSpPr>
        <p:spPr>
          <a:xfrm>
            <a:off x="566928" y="1591056"/>
            <a:ext cx="5446624" cy="3584448"/>
          </a:xfrm>
          <a:prstGeom prst="roundRect">
            <a:avLst>
              <a:gd name="adj" fmla="val 1531"/>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5" name="Shape 3"/>
          <p:cNvSpPr/>
          <p:nvPr/>
        </p:nvSpPr>
        <p:spPr>
          <a:xfrm>
            <a:off x="877824" y="1847088"/>
            <a:ext cx="402336" cy="402336"/>
          </a:xfrm>
          <a:prstGeom prst="roundRect">
            <a:avLst>
              <a:gd name="adj" fmla="val 22727"/>
            </a:avLst>
          </a:prstGeom>
          <a:solidFill>
            <a:srgbClr val="1E40AF"/>
          </a:solidFill>
          <a:ln/>
        </p:spPr>
      </p:sp>
      <p:pic>
        <p:nvPicPr>
          <p:cNvPr id="6" name="Image 0" descr="preencoded.png">    </p:cNvPr>
          <p:cNvPicPr>
            <a:picLocks noChangeAspect="1"/>
          </p:cNvPicPr>
          <p:nvPr/>
        </p:nvPicPr>
        <p:blipFill>
          <a:blip r:embed="rId1"/>
          <a:stretch>
            <a:fillRect/>
          </a:stretch>
        </p:blipFill>
        <p:spPr>
          <a:xfrm>
            <a:off x="973836" y="1943100"/>
            <a:ext cx="210312" cy="210312"/>
          </a:xfrm>
          <a:prstGeom prst="rect">
            <a:avLst/>
          </a:prstGeom>
        </p:spPr>
      </p:pic>
      <p:sp>
        <p:nvSpPr>
          <p:cNvPr id="7" name="Text 4"/>
          <p:cNvSpPr txBox="1"/>
          <p:nvPr/>
        </p:nvSpPr>
        <p:spPr>
          <a:xfrm>
            <a:off x="1463040" y="1901952"/>
            <a:ext cx="4239616" cy="292608"/>
          </a:xfrm>
          <a:prstGeom prst="rect">
            <a:avLst/>
          </a:prstGeom>
          <a:noFill/>
          <a:ln/>
        </p:spPr>
        <p:txBody>
          <a:bodyPr wrap="square" lIns="0" tIns="0" rIns="0" bIns="0" rtlCol="0" anchor="ctr"/>
          <a:lstStyle/>
          <a:p>
            <a:pPr indent="0" marL="0">
              <a:buNone/>
            </a:pPr>
            <a:r>
              <a:rPr lang="en-US" sz="1600" b="1" dirty="0">
                <a:solidFill>
                  <a:srgbClr val="1E3A8A"/>
                </a:solidFill>
                <a:latin typeface="Arial" pitchFamily="34" charset="0"/>
                <a:ea typeface="Arial" pitchFamily="34" charset="-122"/>
                <a:cs typeface="Arial" pitchFamily="34" charset="-120"/>
              </a:rPr>
              <a:t>Shopify</a:t>
            </a:r>
            <a:endParaRPr lang="en-US" sz="1600" dirty="0"/>
          </a:p>
        </p:txBody>
      </p:sp>
      <p:sp>
        <p:nvSpPr>
          <p:cNvPr id="8" name="Text 5"/>
          <p:cNvSpPr txBox="1"/>
          <p:nvPr/>
        </p:nvSpPr>
        <p:spPr>
          <a:xfrm>
            <a:off x="877824" y="2322576"/>
            <a:ext cx="4824832" cy="548640"/>
          </a:xfrm>
          <a:prstGeom prst="rect">
            <a:avLst/>
          </a:prstGeom>
          <a:noFill/>
          <a:ln/>
        </p:spPr>
        <p:txBody>
          <a:bodyPr wrap="square" lIns="0" tIns="0" rIns="0" bIns="0" rtlCol="0" anchor="ctr"/>
          <a:lstStyle/>
          <a:p>
            <a:pPr indent="0" marL="0">
              <a:buNone/>
            </a:pPr>
            <a:r>
              <a:rPr lang="en-US" sz="3800" b="1" dirty="0">
                <a:solidFill>
                  <a:srgbClr val="1E40AF"/>
                </a:solidFill>
                <a:latin typeface="Cambria" pitchFamily="34" charset="0"/>
                <a:ea typeface="Cambria" pitchFamily="34" charset="-122"/>
                <a:cs typeface="Cambria" pitchFamily="34" charset="-120"/>
              </a:rPr>
              <a:t>15-fach</a:t>
            </a:r>
            <a:endParaRPr lang="en-US" sz="3800" dirty="0"/>
          </a:p>
        </p:txBody>
      </p:sp>
      <p:sp>
        <p:nvSpPr>
          <p:cNvPr id="9" name="Text 6"/>
          <p:cNvSpPr txBox="1"/>
          <p:nvPr/>
        </p:nvSpPr>
        <p:spPr>
          <a:xfrm>
            <a:off x="877824" y="2889504"/>
            <a:ext cx="4824832" cy="493776"/>
          </a:xfrm>
          <a:prstGeom prst="rect">
            <a:avLst/>
          </a:prstGeom>
          <a:noFill/>
          <a:ln/>
        </p:spPr>
        <p:txBody>
          <a:bodyPr wrap="square" lIns="0" tIns="0" rIns="0" bIns="0" rtlCol="0" anchor="t"/>
          <a:lstStyle/>
          <a:p>
            <a:pPr indent="0" marL="0">
              <a:lnSpc>
                <a:spcPct val="120000"/>
              </a:lnSpc>
              <a:buNone/>
            </a:pPr>
            <a:r>
              <a:rPr lang="en-US" sz="1250" dirty="0">
                <a:solidFill>
                  <a:srgbClr val="475569"/>
                </a:solidFill>
                <a:latin typeface="Arial" pitchFamily="34" charset="0"/>
                <a:ea typeface="Arial" pitchFamily="34" charset="-122"/>
                <a:cs typeface="Arial" pitchFamily="34" charset="-120"/>
              </a:rPr>
              <a:t>wuchsen KI-zugeordnete Bestellungen zwischen Januar 2025 und Januar 2026.</a:t>
            </a:r>
            <a:endParaRPr lang="en-US" sz="1250" dirty="0"/>
          </a:p>
        </p:txBody>
      </p:sp>
      <p:sp>
        <p:nvSpPr>
          <p:cNvPr id="10" name="Text 7"/>
          <p:cNvSpPr txBox="1"/>
          <p:nvPr/>
        </p:nvSpPr>
        <p:spPr>
          <a:xfrm>
            <a:off x="877824" y="3419856"/>
            <a:ext cx="4824832" cy="166420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475569"/>
                </a:solidFill>
                <a:latin typeface="Arial" pitchFamily="34" charset="0"/>
                <a:ea typeface="Arial" pitchFamily="34" charset="-122"/>
                <a:cs typeface="Arial" pitchFamily="34" charset="-120"/>
              </a:rPr>
              <a:t>Shopify Magic schreibt Produkttexte, Betreffzeilen und Bildhintergründe.</a:t>
            </a:r>
            <a:endParaRPr lang="en-US" sz="1250" dirty="0"/>
          </a:p>
          <a:p>
            <a:pPr marL="342900" indent="-342900">
              <a:lnSpc>
                <a:spcPct val="120000"/>
              </a:lnSpc>
              <a:spcAft>
                <a:spcPts val="900"/>
              </a:spcAft>
              <a:buSzPct val="100000"/>
              <a:buChar char="•"/>
            </a:pPr>
            <a:r>
              <a:rPr lang="en-US" sz="1250" dirty="0">
                <a:solidFill>
                  <a:srgbClr val="475569"/>
                </a:solidFill>
                <a:latin typeface="Arial" pitchFamily="34" charset="0"/>
                <a:ea typeface="Arial" pitchFamily="34" charset="-122"/>
                <a:cs typeface="Arial" pitchFamily="34" charset="-120"/>
              </a:rPr>
              <a:t>Sidekick untersucht Umsatzeinbrüche über Marketing, Lager und Kundensegmente hinweg.</a:t>
            </a:r>
            <a:endParaRPr lang="en-US" sz="1250" dirty="0"/>
          </a:p>
          <a:p>
            <a:pPr marL="342900" indent="-342900">
              <a:lnSpc>
                <a:spcPct val="120000"/>
              </a:lnSpc>
              <a:buSzPct val="100000"/>
              <a:buChar char="•"/>
            </a:pPr>
            <a:r>
              <a:rPr lang="en-US" sz="1250" dirty="0">
                <a:solidFill>
                  <a:srgbClr val="475569"/>
                </a:solidFill>
                <a:latin typeface="Arial" pitchFamily="34" charset="0"/>
                <a:ea typeface="Arial" pitchFamily="34" charset="-122"/>
                <a:cs typeface="Arial" pitchFamily="34" charset="-120"/>
              </a:rPr>
              <a:t>Agentic Storefronts machen Shops in ChatGPT und Perplexity direkt kaufbar.</a:t>
            </a:r>
            <a:endParaRPr lang="en-US" sz="1250" dirty="0"/>
          </a:p>
        </p:txBody>
      </p:sp>
      <p:sp>
        <p:nvSpPr>
          <p:cNvPr id="11" name="Shape 8"/>
          <p:cNvSpPr/>
          <p:nvPr/>
        </p:nvSpPr>
        <p:spPr>
          <a:xfrm>
            <a:off x="6178144" y="1591056"/>
            <a:ext cx="5446624" cy="3584448"/>
          </a:xfrm>
          <a:prstGeom prst="roundRect">
            <a:avLst>
              <a:gd name="adj" fmla="val 1531"/>
            </a:avLst>
          </a:prstGeom>
          <a:solidFill>
            <a:srgbClr val="FEF6E7"/>
          </a:solidFill>
          <a:ln w="12700">
            <a:solidFill>
              <a:srgbClr val="F3D9A4"/>
            </a:solidFill>
            <a:prstDash val="solid"/>
          </a:ln>
          <a:effectLst>
            <a:outerShdw sx="100000" sy="100000" kx="0" ky="0" algn="bl" rotWithShape="0" blurRad="127000" dist="25400" dir="5400000">
              <a:srgbClr val="1E3A8A">
                <a:alpha val="10000"/>
              </a:srgbClr>
            </a:outerShdw>
          </a:effectLst>
        </p:spPr>
      </p:sp>
      <p:sp>
        <p:nvSpPr>
          <p:cNvPr id="12" name="Shape 9"/>
          <p:cNvSpPr/>
          <p:nvPr/>
        </p:nvSpPr>
        <p:spPr>
          <a:xfrm>
            <a:off x="6489040" y="1847088"/>
            <a:ext cx="402336" cy="402336"/>
          </a:xfrm>
          <a:prstGeom prst="roundRect">
            <a:avLst>
              <a:gd name="adj" fmla="val 22727"/>
            </a:avLst>
          </a:prstGeom>
          <a:solidFill>
            <a:srgbClr val="D97706"/>
          </a:solidFill>
          <a:ln/>
        </p:spPr>
      </p:sp>
      <p:pic>
        <p:nvPicPr>
          <p:cNvPr id="13" name="Image 1" descr="preencoded.png">    </p:cNvPr>
          <p:cNvPicPr>
            <a:picLocks noChangeAspect="1"/>
          </p:cNvPicPr>
          <p:nvPr/>
        </p:nvPicPr>
        <p:blipFill>
          <a:blip r:embed="rId2"/>
          <a:stretch>
            <a:fillRect/>
          </a:stretch>
        </p:blipFill>
        <p:spPr>
          <a:xfrm>
            <a:off x="6585052" y="1943100"/>
            <a:ext cx="210312" cy="210312"/>
          </a:xfrm>
          <a:prstGeom prst="rect">
            <a:avLst/>
          </a:prstGeom>
        </p:spPr>
      </p:pic>
      <p:sp>
        <p:nvSpPr>
          <p:cNvPr id="14" name="Text 10"/>
          <p:cNvSpPr txBox="1"/>
          <p:nvPr/>
        </p:nvSpPr>
        <p:spPr>
          <a:xfrm>
            <a:off x="7074256" y="1901952"/>
            <a:ext cx="4239616" cy="292608"/>
          </a:xfrm>
          <a:prstGeom prst="rect">
            <a:avLst/>
          </a:prstGeom>
          <a:noFill/>
          <a:ln/>
        </p:spPr>
        <p:txBody>
          <a:bodyPr wrap="square" lIns="0" tIns="0" rIns="0" bIns="0" rtlCol="0" anchor="ctr"/>
          <a:lstStyle/>
          <a:p>
            <a:pPr indent="0" marL="0">
              <a:buNone/>
            </a:pPr>
            <a:r>
              <a:rPr lang="en-US" sz="1600" b="1" dirty="0">
                <a:solidFill>
                  <a:srgbClr val="7C4A06"/>
                </a:solidFill>
                <a:latin typeface="Arial" pitchFamily="34" charset="0"/>
                <a:ea typeface="Arial" pitchFamily="34" charset="-122"/>
                <a:cs typeface="Arial" pitchFamily="34" charset="-120"/>
              </a:rPr>
              <a:t>Klarna</a:t>
            </a:r>
            <a:endParaRPr lang="en-US" sz="1600" dirty="0"/>
          </a:p>
        </p:txBody>
      </p:sp>
      <p:sp>
        <p:nvSpPr>
          <p:cNvPr id="15" name="Text 11"/>
          <p:cNvSpPr txBox="1"/>
          <p:nvPr/>
        </p:nvSpPr>
        <p:spPr>
          <a:xfrm>
            <a:off x="6489040" y="2322576"/>
            <a:ext cx="4824832" cy="548640"/>
          </a:xfrm>
          <a:prstGeom prst="rect">
            <a:avLst/>
          </a:prstGeom>
          <a:noFill/>
          <a:ln/>
        </p:spPr>
        <p:txBody>
          <a:bodyPr wrap="square" lIns="0" tIns="0" rIns="0" bIns="0" rtlCol="0" anchor="ctr"/>
          <a:lstStyle/>
          <a:p>
            <a:pPr indent="0" marL="0">
              <a:buNone/>
            </a:pPr>
            <a:r>
              <a:rPr lang="en-US" sz="3800" b="1" dirty="0">
                <a:solidFill>
                  <a:srgbClr val="D97706"/>
                </a:solidFill>
                <a:latin typeface="Cambria" pitchFamily="34" charset="0"/>
                <a:ea typeface="Cambria" pitchFamily="34" charset="-122"/>
                <a:cs typeface="Cambria" pitchFamily="34" charset="-120"/>
              </a:rPr>
              <a:t>11 → 2 Min.</a:t>
            </a:r>
            <a:endParaRPr lang="en-US" sz="3800" dirty="0"/>
          </a:p>
        </p:txBody>
      </p:sp>
      <p:sp>
        <p:nvSpPr>
          <p:cNvPr id="16" name="Text 12"/>
          <p:cNvSpPr txBox="1"/>
          <p:nvPr/>
        </p:nvSpPr>
        <p:spPr>
          <a:xfrm>
            <a:off x="6489040" y="2889504"/>
            <a:ext cx="4824832" cy="493776"/>
          </a:xfrm>
          <a:prstGeom prst="rect">
            <a:avLst/>
          </a:prstGeom>
          <a:noFill/>
          <a:ln/>
        </p:spPr>
        <p:txBody>
          <a:bodyPr wrap="square" lIns="0" tIns="0" rIns="0" bIns="0" rtlCol="0" anchor="t"/>
          <a:lstStyle/>
          <a:p>
            <a:pPr indent="0" marL="0">
              <a:lnSpc>
                <a:spcPct val="120000"/>
              </a:lnSpc>
              <a:buNone/>
            </a:pPr>
            <a:r>
              <a:rPr lang="en-US" sz="1250" dirty="0">
                <a:solidFill>
                  <a:srgbClr val="7C4A06"/>
                </a:solidFill>
                <a:latin typeface="Arial" pitchFamily="34" charset="0"/>
                <a:ea typeface="Arial" pitchFamily="34" charset="-122"/>
                <a:cs typeface="Arial" pitchFamily="34" charset="-120"/>
              </a:rPr>
              <a:t>Bearbeitungszeit im Kundenservice — zwei Drittel aller Chats übernahm die KI.</a:t>
            </a:r>
            <a:endParaRPr lang="en-US" sz="1250" dirty="0"/>
          </a:p>
        </p:txBody>
      </p:sp>
      <p:sp>
        <p:nvSpPr>
          <p:cNvPr id="17" name="Text 13"/>
          <p:cNvSpPr txBox="1"/>
          <p:nvPr/>
        </p:nvSpPr>
        <p:spPr>
          <a:xfrm>
            <a:off x="6489040" y="3419856"/>
            <a:ext cx="4824832" cy="1664208"/>
          </a:xfrm>
          <a:prstGeom prst="rect">
            <a:avLst/>
          </a:prstGeom>
          <a:noFill/>
          <a:ln/>
        </p:spPr>
        <p:txBody>
          <a:bodyPr wrap="square" lIns="0" tIns="0" rIns="0" bIns="0" rtlCol="0" anchor="t"/>
          <a:lstStyle/>
          <a:p>
            <a:pPr marL="342900" indent="-342900">
              <a:lnSpc>
                <a:spcPct val="120000"/>
              </a:lnSpc>
              <a:spcAft>
                <a:spcPts val="900"/>
              </a:spcAft>
              <a:buSzPct val="100000"/>
              <a:buChar char="•"/>
            </a:pPr>
            <a:r>
              <a:rPr lang="en-US" sz="1250" dirty="0">
                <a:solidFill>
                  <a:srgbClr val="7C4A06"/>
                </a:solidFill>
                <a:latin typeface="Arial" pitchFamily="34" charset="0"/>
                <a:ea typeface="Arial" pitchFamily="34" charset="-122"/>
                <a:cs typeface="Arial" pitchFamily="34" charset="-120"/>
              </a:rPr>
              <a:t>Der Assistent leistete die Arbeit von rund 700 Vollzeitkräften.</a:t>
            </a:r>
            <a:endParaRPr lang="en-US" sz="1250" dirty="0"/>
          </a:p>
          <a:p>
            <a:pPr marL="342900" indent="-342900">
              <a:lnSpc>
                <a:spcPct val="120000"/>
              </a:lnSpc>
              <a:spcAft>
                <a:spcPts val="900"/>
              </a:spcAft>
              <a:buSzPct val="100000"/>
              <a:buChar char="•"/>
            </a:pPr>
            <a:r>
              <a:rPr lang="en-US" sz="1250" dirty="0">
                <a:solidFill>
                  <a:srgbClr val="7C4A06"/>
                </a:solidFill>
                <a:latin typeface="Arial" pitchFamily="34" charset="0"/>
                <a:ea typeface="Arial" pitchFamily="34" charset="-122"/>
                <a:cs typeface="Arial" pitchFamily="34" charset="-120"/>
              </a:rPr>
              <a:t>2025 räumte der Vorstandschef öffentlich ein: Kosten waren das dominierende Kriterium, die Qualität litt darunter.</a:t>
            </a:r>
            <a:endParaRPr lang="en-US" sz="1250" dirty="0"/>
          </a:p>
          <a:p>
            <a:pPr marL="342900" indent="-342900">
              <a:lnSpc>
                <a:spcPct val="120000"/>
              </a:lnSpc>
              <a:buSzPct val="100000"/>
              <a:buChar char="•"/>
            </a:pPr>
            <a:r>
              <a:rPr lang="en-US" sz="1250" dirty="0">
                <a:solidFill>
                  <a:srgbClr val="7C4A06"/>
                </a:solidFill>
                <a:latin typeface="Arial" pitchFamily="34" charset="0"/>
                <a:ea typeface="Arial" pitchFamily="34" charset="-122"/>
                <a:cs typeface="Arial" pitchFamily="34" charset="-120"/>
              </a:rPr>
              <a:t>Heute gilt: KI zuerst, Mensch jederzeit erreichbar.</a:t>
            </a:r>
            <a:endParaRPr lang="en-US" sz="1250" dirty="0"/>
          </a:p>
        </p:txBody>
      </p:sp>
      <p:sp>
        <p:nvSpPr>
          <p:cNvPr id="18" name="Shape 14"/>
          <p:cNvSpPr/>
          <p:nvPr/>
        </p:nvSpPr>
        <p:spPr>
          <a:xfrm>
            <a:off x="566928" y="5321808"/>
            <a:ext cx="11057839" cy="566928"/>
          </a:xfrm>
          <a:prstGeom prst="roundRect">
            <a:avLst>
              <a:gd name="adj" fmla="val 9677"/>
            </a:avLst>
          </a:prstGeom>
          <a:solidFill>
            <a:srgbClr val="1E3A8A"/>
          </a:solidFill>
          <a:ln/>
          <a:effectLst>
            <a:outerShdw sx="100000" sy="100000" kx="0" ky="0" algn="bl" rotWithShape="0" blurRad="127000" dist="25400" dir="5400000">
              <a:srgbClr val="1E3A8A">
                <a:alpha val="10000"/>
              </a:srgbClr>
            </a:outerShdw>
          </a:effectLst>
        </p:spPr>
      </p:sp>
      <p:sp>
        <p:nvSpPr>
          <p:cNvPr id="19" name="Text 15"/>
          <p:cNvSpPr txBox="1"/>
          <p:nvPr/>
        </p:nvSpPr>
        <p:spPr>
          <a:xfrm>
            <a:off x="859536" y="5340096"/>
            <a:ext cx="10472623" cy="530352"/>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Die Lektion: KI senkt Kosten sehr schnell. Qualität bleibt eine Entscheidung — sie stellt sich nicht von selbst mit ein.</a:t>
            </a:r>
            <a:endParaRPr lang="en-US" sz="1250" dirty="0"/>
          </a:p>
        </p:txBody>
      </p:sp>
      <p:sp>
        <p:nvSpPr>
          <p:cNvPr id="20" name="Text 16"/>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475569"/>
                </a:solidFill>
                <a:latin typeface="Arial" pitchFamily="34" charset="0"/>
                <a:ea typeface="Arial" pitchFamily="34" charset="-122"/>
                <a:cs typeface="Arial" pitchFamily="34" charset="-120"/>
              </a:rPr>
              <a:t>Quelle: Shopify, Editions Winter ’26 und Enterprise-AI-Seite  ·  Klarna, Pressemitteilung zum KI-Assistenten; Kurskorrektur 2025</a:t>
            </a:r>
            <a:endParaRPr lang="en-US" sz="900" dirty="0"/>
          </a:p>
        </p:txBody>
      </p:sp>
      <p:sp>
        <p:nvSpPr>
          <p:cNvPr id="21" name="Text 17"/>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ABWÄGUNG</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Chancen und Risiken — nüchtern betrachtet</a:t>
            </a:r>
            <a:endParaRPr lang="en-US" sz="2900" dirty="0"/>
          </a:p>
        </p:txBody>
      </p:sp>
      <p:sp>
        <p:nvSpPr>
          <p:cNvPr id="4" name="Text 2"/>
          <p:cNvSpPr txBox="1"/>
          <p:nvPr/>
        </p:nvSpPr>
        <p:spPr>
          <a:xfrm>
            <a:off x="566928" y="1554480"/>
            <a:ext cx="5446624" cy="237744"/>
          </a:xfrm>
          <a:prstGeom prst="rect">
            <a:avLst/>
          </a:prstGeom>
          <a:noFill/>
          <a:ln/>
        </p:spPr>
        <p:txBody>
          <a:bodyPr wrap="square" lIns="0" tIns="0" rIns="0" bIns="0" rtlCol="0" anchor="ctr"/>
          <a:lstStyle/>
          <a:p>
            <a:pPr indent="0" marL="0">
              <a:buNone/>
            </a:pPr>
            <a:r>
              <a:rPr lang="en-US" sz="1050" b="1" spc="180" kern="0" dirty="0">
                <a:solidFill>
                  <a:srgbClr val="1E40AF"/>
                </a:solidFill>
                <a:latin typeface="Arial" pitchFamily="34" charset="0"/>
                <a:ea typeface="Arial" pitchFamily="34" charset="-122"/>
                <a:cs typeface="Arial" pitchFamily="34" charset="-120"/>
              </a:rPr>
              <a:t>CHANCEN</a:t>
            </a:r>
            <a:endParaRPr lang="en-US" sz="1050" dirty="0"/>
          </a:p>
        </p:txBody>
      </p:sp>
      <p:sp>
        <p:nvSpPr>
          <p:cNvPr id="5" name="Text 3"/>
          <p:cNvSpPr txBox="1"/>
          <p:nvPr/>
        </p:nvSpPr>
        <p:spPr>
          <a:xfrm>
            <a:off x="6178144" y="1554480"/>
            <a:ext cx="5446624"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RISIKEN</a:t>
            </a:r>
            <a:endParaRPr lang="en-US" sz="1050" dirty="0"/>
          </a:p>
        </p:txBody>
      </p:sp>
      <p:sp>
        <p:nvSpPr>
          <p:cNvPr id="6" name="Shape 4"/>
          <p:cNvSpPr/>
          <p:nvPr/>
        </p:nvSpPr>
        <p:spPr>
          <a:xfrm>
            <a:off x="566928" y="1883664"/>
            <a:ext cx="5446624" cy="932688"/>
          </a:xfrm>
          <a:prstGeom prst="roundRect">
            <a:avLst>
              <a:gd name="adj" fmla="val 5882"/>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7" name="Shape 5"/>
          <p:cNvSpPr/>
          <p:nvPr/>
        </p:nvSpPr>
        <p:spPr>
          <a:xfrm>
            <a:off x="822960" y="2148840"/>
            <a:ext cx="365760" cy="365760"/>
          </a:xfrm>
          <a:prstGeom prst="roundRect">
            <a:avLst>
              <a:gd name="adj" fmla="val 25000"/>
            </a:avLst>
          </a:prstGeom>
          <a:solidFill>
            <a:srgbClr val="1E40AF"/>
          </a:solidFill>
          <a:ln/>
        </p:spPr>
      </p:sp>
      <p:pic>
        <p:nvPicPr>
          <p:cNvPr id="8" name="Image 0" descr="preencoded.png">    </p:cNvPr>
          <p:cNvPicPr>
            <a:picLocks noChangeAspect="1"/>
          </p:cNvPicPr>
          <p:nvPr/>
        </p:nvPicPr>
        <p:blipFill>
          <a:blip r:embed="rId1"/>
          <a:stretch>
            <a:fillRect/>
          </a:stretch>
        </p:blipFill>
        <p:spPr>
          <a:xfrm>
            <a:off x="910244" y="2236124"/>
            <a:ext cx="191193" cy="191193"/>
          </a:xfrm>
          <a:prstGeom prst="rect">
            <a:avLst/>
          </a:prstGeom>
        </p:spPr>
      </p:pic>
      <p:sp>
        <p:nvSpPr>
          <p:cNvPr id="9" name="Text 6"/>
          <p:cNvSpPr txBox="1"/>
          <p:nvPr/>
        </p:nvSpPr>
        <p:spPr>
          <a:xfrm>
            <a:off x="1353312" y="2011680"/>
            <a:ext cx="4385920" cy="256032"/>
          </a:xfrm>
          <a:prstGeom prst="rect">
            <a:avLst/>
          </a:prstGeom>
          <a:noFill/>
          <a:ln/>
        </p:spPr>
        <p:txBody>
          <a:bodyPr wrap="square" lIns="0" tIns="0" rIns="0" bIns="0" rtlCol="0" anchor="ctr"/>
          <a:lstStyle/>
          <a:p>
            <a:pPr indent="0" marL="0">
              <a:buNone/>
            </a:pPr>
            <a:r>
              <a:rPr lang="en-US" sz="1300" b="1" dirty="0">
                <a:solidFill>
                  <a:srgbClr val="1E3A8A"/>
                </a:solidFill>
                <a:latin typeface="Arial" pitchFamily="34" charset="0"/>
                <a:ea typeface="Arial" pitchFamily="34" charset="-122"/>
                <a:cs typeface="Arial" pitchFamily="34" charset="-120"/>
              </a:rPr>
              <a:t>Werkzeuge für alle</a:t>
            </a:r>
            <a:endParaRPr lang="en-US" sz="1300" dirty="0"/>
          </a:p>
        </p:txBody>
      </p:sp>
      <p:sp>
        <p:nvSpPr>
          <p:cNvPr id="10" name="Text 7"/>
          <p:cNvSpPr txBox="1"/>
          <p:nvPr/>
        </p:nvSpPr>
        <p:spPr>
          <a:xfrm>
            <a:off x="1353312" y="2286000"/>
            <a:ext cx="4385920" cy="457200"/>
          </a:xfrm>
          <a:prstGeom prst="rect">
            <a:avLst/>
          </a:prstGeom>
          <a:noFill/>
          <a:ln/>
        </p:spPr>
        <p:txBody>
          <a:bodyPr wrap="square" lIns="0" tIns="0" rIns="0" bIns="0" rtlCol="0" anchor="t"/>
          <a:lstStyle/>
          <a:p>
            <a:pPr indent="0" marL="0">
              <a:lnSpc>
                <a:spcPct val="115000"/>
              </a:lnSpc>
              <a:buNone/>
            </a:pPr>
            <a:r>
              <a:rPr lang="en-US" sz="1050" dirty="0">
                <a:solidFill>
                  <a:srgbClr val="475569"/>
                </a:solidFill>
                <a:latin typeface="Arial" pitchFamily="34" charset="0"/>
                <a:ea typeface="Arial" pitchFamily="34" charset="-122"/>
                <a:cs typeface="Arial" pitchFamily="34" charset="-120"/>
              </a:rPr>
              <a:t>Kleine Händler bekommen Fähigkeiten, die vorher nur Konzerne bezahlen konnten.</a:t>
            </a:r>
            <a:endParaRPr lang="en-US" sz="1050" dirty="0"/>
          </a:p>
        </p:txBody>
      </p:sp>
      <p:sp>
        <p:nvSpPr>
          <p:cNvPr id="11" name="Shape 8"/>
          <p:cNvSpPr/>
          <p:nvPr/>
        </p:nvSpPr>
        <p:spPr>
          <a:xfrm>
            <a:off x="566928" y="2962656"/>
            <a:ext cx="5446624" cy="932688"/>
          </a:xfrm>
          <a:prstGeom prst="roundRect">
            <a:avLst>
              <a:gd name="adj" fmla="val 5882"/>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2" name="Shape 9"/>
          <p:cNvSpPr/>
          <p:nvPr/>
        </p:nvSpPr>
        <p:spPr>
          <a:xfrm>
            <a:off x="822960" y="3227832"/>
            <a:ext cx="365760" cy="365760"/>
          </a:xfrm>
          <a:prstGeom prst="roundRect">
            <a:avLst>
              <a:gd name="adj" fmla="val 25000"/>
            </a:avLst>
          </a:prstGeom>
          <a:solidFill>
            <a:srgbClr val="1E40AF"/>
          </a:solidFill>
          <a:ln/>
        </p:spPr>
      </p:sp>
      <p:pic>
        <p:nvPicPr>
          <p:cNvPr id="13" name="Image 1" descr="preencoded.png">    </p:cNvPr>
          <p:cNvPicPr>
            <a:picLocks noChangeAspect="1"/>
          </p:cNvPicPr>
          <p:nvPr/>
        </p:nvPicPr>
        <p:blipFill>
          <a:blip r:embed="rId2"/>
          <a:stretch>
            <a:fillRect/>
          </a:stretch>
        </p:blipFill>
        <p:spPr>
          <a:xfrm>
            <a:off x="910244" y="3315116"/>
            <a:ext cx="191193" cy="191193"/>
          </a:xfrm>
          <a:prstGeom prst="rect">
            <a:avLst/>
          </a:prstGeom>
        </p:spPr>
      </p:pic>
      <p:sp>
        <p:nvSpPr>
          <p:cNvPr id="14" name="Text 10"/>
          <p:cNvSpPr txBox="1"/>
          <p:nvPr/>
        </p:nvSpPr>
        <p:spPr>
          <a:xfrm>
            <a:off x="1353312" y="3090672"/>
            <a:ext cx="4385920" cy="256032"/>
          </a:xfrm>
          <a:prstGeom prst="rect">
            <a:avLst/>
          </a:prstGeom>
          <a:noFill/>
          <a:ln/>
        </p:spPr>
        <p:txBody>
          <a:bodyPr wrap="square" lIns="0" tIns="0" rIns="0" bIns="0" rtlCol="0" anchor="ctr"/>
          <a:lstStyle/>
          <a:p>
            <a:pPr indent="0" marL="0">
              <a:buNone/>
            </a:pPr>
            <a:r>
              <a:rPr lang="en-US" sz="1300" b="1" dirty="0">
                <a:solidFill>
                  <a:srgbClr val="1E3A8A"/>
                </a:solidFill>
                <a:latin typeface="Arial" pitchFamily="34" charset="0"/>
                <a:ea typeface="Arial" pitchFamily="34" charset="-122"/>
                <a:cs typeface="Arial" pitchFamily="34" charset="-120"/>
              </a:rPr>
              <a:t>Service ohne Warteschlange</a:t>
            </a:r>
            <a:endParaRPr lang="en-US" sz="1300" dirty="0"/>
          </a:p>
        </p:txBody>
      </p:sp>
      <p:sp>
        <p:nvSpPr>
          <p:cNvPr id="15" name="Text 11"/>
          <p:cNvSpPr txBox="1"/>
          <p:nvPr/>
        </p:nvSpPr>
        <p:spPr>
          <a:xfrm>
            <a:off x="1353312" y="3364992"/>
            <a:ext cx="4385920" cy="457200"/>
          </a:xfrm>
          <a:prstGeom prst="rect">
            <a:avLst/>
          </a:prstGeom>
          <a:noFill/>
          <a:ln/>
        </p:spPr>
        <p:txBody>
          <a:bodyPr wrap="square" lIns="0" tIns="0" rIns="0" bIns="0" rtlCol="0" anchor="t"/>
          <a:lstStyle/>
          <a:p>
            <a:pPr indent="0" marL="0">
              <a:lnSpc>
                <a:spcPct val="115000"/>
              </a:lnSpc>
              <a:buNone/>
            </a:pPr>
            <a:r>
              <a:rPr lang="en-US" sz="1050" dirty="0">
                <a:solidFill>
                  <a:srgbClr val="475569"/>
                </a:solidFill>
                <a:latin typeface="Arial" pitchFamily="34" charset="0"/>
                <a:ea typeface="Arial" pitchFamily="34" charset="-122"/>
                <a:cs typeface="Arial" pitchFamily="34" charset="-120"/>
              </a:rPr>
              <a:t>Beratung rund um die Uhr, in jeder Sprache, sofort.</a:t>
            </a:r>
            <a:endParaRPr lang="en-US" sz="1050" dirty="0"/>
          </a:p>
        </p:txBody>
      </p:sp>
      <p:sp>
        <p:nvSpPr>
          <p:cNvPr id="16" name="Shape 12"/>
          <p:cNvSpPr/>
          <p:nvPr/>
        </p:nvSpPr>
        <p:spPr>
          <a:xfrm>
            <a:off x="566928" y="4041648"/>
            <a:ext cx="5446624" cy="932688"/>
          </a:xfrm>
          <a:prstGeom prst="roundRect">
            <a:avLst>
              <a:gd name="adj" fmla="val 5882"/>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7" name="Shape 13"/>
          <p:cNvSpPr/>
          <p:nvPr/>
        </p:nvSpPr>
        <p:spPr>
          <a:xfrm>
            <a:off x="822960" y="4306824"/>
            <a:ext cx="365760" cy="365760"/>
          </a:xfrm>
          <a:prstGeom prst="roundRect">
            <a:avLst>
              <a:gd name="adj" fmla="val 25000"/>
            </a:avLst>
          </a:prstGeom>
          <a:solidFill>
            <a:srgbClr val="1E40AF"/>
          </a:solidFill>
          <a:ln/>
        </p:spPr>
      </p:sp>
      <p:pic>
        <p:nvPicPr>
          <p:cNvPr id="18" name="Image 2" descr="preencoded.png">    </p:cNvPr>
          <p:cNvPicPr>
            <a:picLocks noChangeAspect="1"/>
          </p:cNvPicPr>
          <p:nvPr/>
        </p:nvPicPr>
        <p:blipFill>
          <a:blip r:embed="rId3"/>
          <a:stretch>
            <a:fillRect/>
          </a:stretch>
        </p:blipFill>
        <p:spPr>
          <a:xfrm>
            <a:off x="910244" y="4394108"/>
            <a:ext cx="191193" cy="191193"/>
          </a:xfrm>
          <a:prstGeom prst="rect">
            <a:avLst/>
          </a:prstGeom>
        </p:spPr>
      </p:pic>
      <p:sp>
        <p:nvSpPr>
          <p:cNvPr id="19" name="Text 14"/>
          <p:cNvSpPr txBox="1"/>
          <p:nvPr/>
        </p:nvSpPr>
        <p:spPr>
          <a:xfrm>
            <a:off x="1353312" y="4169664"/>
            <a:ext cx="4385920" cy="256032"/>
          </a:xfrm>
          <a:prstGeom prst="rect">
            <a:avLst/>
          </a:prstGeom>
          <a:noFill/>
          <a:ln/>
        </p:spPr>
        <p:txBody>
          <a:bodyPr wrap="square" lIns="0" tIns="0" rIns="0" bIns="0" rtlCol="0" anchor="ctr"/>
          <a:lstStyle/>
          <a:p>
            <a:pPr indent="0" marL="0">
              <a:buNone/>
            </a:pPr>
            <a:r>
              <a:rPr lang="en-US" sz="1300" b="1" dirty="0">
                <a:solidFill>
                  <a:srgbClr val="1E3A8A"/>
                </a:solidFill>
                <a:latin typeface="Arial" pitchFamily="34" charset="0"/>
                <a:ea typeface="Arial" pitchFamily="34" charset="-122"/>
                <a:cs typeface="Arial" pitchFamily="34" charset="-120"/>
              </a:rPr>
              <a:t>Weniger Verschwendung</a:t>
            </a:r>
            <a:endParaRPr lang="en-US" sz="1300" dirty="0"/>
          </a:p>
        </p:txBody>
      </p:sp>
      <p:sp>
        <p:nvSpPr>
          <p:cNvPr id="20" name="Text 15"/>
          <p:cNvSpPr txBox="1"/>
          <p:nvPr/>
        </p:nvSpPr>
        <p:spPr>
          <a:xfrm>
            <a:off x="1353312" y="4443984"/>
            <a:ext cx="4385920" cy="457200"/>
          </a:xfrm>
          <a:prstGeom prst="rect">
            <a:avLst/>
          </a:prstGeom>
          <a:noFill/>
          <a:ln/>
        </p:spPr>
        <p:txBody>
          <a:bodyPr wrap="square" lIns="0" tIns="0" rIns="0" bIns="0" rtlCol="0" anchor="t"/>
          <a:lstStyle/>
          <a:p>
            <a:pPr indent="0" marL="0">
              <a:lnSpc>
                <a:spcPct val="115000"/>
              </a:lnSpc>
              <a:buNone/>
            </a:pPr>
            <a:r>
              <a:rPr lang="en-US" sz="1050" dirty="0">
                <a:solidFill>
                  <a:srgbClr val="475569"/>
                </a:solidFill>
                <a:latin typeface="Arial" pitchFamily="34" charset="0"/>
                <a:ea typeface="Arial" pitchFamily="34" charset="-122"/>
                <a:cs typeface="Arial" pitchFamily="34" charset="-120"/>
              </a:rPr>
              <a:t>Weniger Retouren, weniger Fehlbestände, weniger Überproduktion.</a:t>
            </a:r>
            <a:endParaRPr lang="en-US" sz="1050" dirty="0"/>
          </a:p>
        </p:txBody>
      </p:sp>
      <p:sp>
        <p:nvSpPr>
          <p:cNvPr id="21" name="Shape 16"/>
          <p:cNvSpPr/>
          <p:nvPr/>
        </p:nvSpPr>
        <p:spPr>
          <a:xfrm>
            <a:off x="6178144" y="1883664"/>
            <a:ext cx="5446624" cy="932688"/>
          </a:xfrm>
          <a:prstGeom prst="roundRect">
            <a:avLst>
              <a:gd name="adj" fmla="val 5882"/>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22" name="Shape 17"/>
          <p:cNvSpPr/>
          <p:nvPr/>
        </p:nvSpPr>
        <p:spPr>
          <a:xfrm>
            <a:off x="6434176" y="2148840"/>
            <a:ext cx="365760" cy="365760"/>
          </a:xfrm>
          <a:prstGeom prst="roundRect">
            <a:avLst>
              <a:gd name="adj" fmla="val 25000"/>
            </a:avLst>
          </a:prstGeom>
          <a:solidFill>
            <a:srgbClr val="D97706"/>
          </a:solidFill>
          <a:ln/>
        </p:spPr>
      </p:sp>
      <p:pic>
        <p:nvPicPr>
          <p:cNvPr id="23" name="Image 3" descr="preencoded.png">    </p:cNvPr>
          <p:cNvPicPr>
            <a:picLocks noChangeAspect="1"/>
          </p:cNvPicPr>
          <p:nvPr/>
        </p:nvPicPr>
        <p:blipFill>
          <a:blip r:embed="rId4"/>
          <a:stretch>
            <a:fillRect/>
          </a:stretch>
        </p:blipFill>
        <p:spPr>
          <a:xfrm>
            <a:off x="6521459" y="2236124"/>
            <a:ext cx="191193" cy="191193"/>
          </a:xfrm>
          <a:prstGeom prst="rect">
            <a:avLst/>
          </a:prstGeom>
        </p:spPr>
      </p:pic>
      <p:sp>
        <p:nvSpPr>
          <p:cNvPr id="24" name="Text 18"/>
          <p:cNvSpPr txBox="1"/>
          <p:nvPr/>
        </p:nvSpPr>
        <p:spPr>
          <a:xfrm>
            <a:off x="6964528" y="2011680"/>
            <a:ext cx="4385920" cy="256032"/>
          </a:xfrm>
          <a:prstGeom prst="rect">
            <a:avLst/>
          </a:prstGeom>
          <a:noFill/>
          <a:ln/>
        </p:spPr>
        <p:txBody>
          <a:bodyPr wrap="square" lIns="0" tIns="0" rIns="0" bIns="0" rtlCol="0" anchor="ctr"/>
          <a:lstStyle/>
          <a:p>
            <a:pPr indent="0" marL="0">
              <a:buNone/>
            </a:pPr>
            <a:r>
              <a:rPr lang="en-US" sz="1300" b="1" dirty="0">
                <a:solidFill>
                  <a:srgbClr val="1E3A8A"/>
                </a:solidFill>
                <a:latin typeface="Arial" pitchFamily="34" charset="0"/>
                <a:ea typeface="Arial" pitchFamily="34" charset="-122"/>
                <a:cs typeface="Arial" pitchFamily="34" charset="-120"/>
              </a:rPr>
              <a:t>Berufe im Umbruch</a:t>
            </a:r>
            <a:endParaRPr lang="en-US" sz="1300" dirty="0"/>
          </a:p>
        </p:txBody>
      </p:sp>
      <p:sp>
        <p:nvSpPr>
          <p:cNvPr id="25" name="Text 19"/>
          <p:cNvSpPr txBox="1"/>
          <p:nvPr/>
        </p:nvSpPr>
        <p:spPr>
          <a:xfrm>
            <a:off x="6964528" y="2286000"/>
            <a:ext cx="4385920" cy="457200"/>
          </a:xfrm>
          <a:prstGeom prst="rect">
            <a:avLst/>
          </a:prstGeom>
          <a:noFill/>
          <a:ln/>
        </p:spPr>
        <p:txBody>
          <a:bodyPr wrap="square" lIns="0" tIns="0" rIns="0" bIns="0" rtlCol="0" anchor="t"/>
          <a:lstStyle/>
          <a:p>
            <a:pPr indent="0" marL="0">
              <a:lnSpc>
                <a:spcPct val="115000"/>
              </a:lnSpc>
              <a:buNone/>
            </a:pPr>
            <a:r>
              <a:rPr lang="en-US" sz="1050" dirty="0">
                <a:solidFill>
                  <a:srgbClr val="475569"/>
                </a:solidFill>
                <a:latin typeface="Arial" pitchFamily="34" charset="0"/>
                <a:ea typeface="Arial" pitchFamily="34" charset="-122"/>
                <a:cs typeface="Arial" pitchFamily="34" charset="-120"/>
              </a:rPr>
              <a:t>Rund 1,6 Mio. Arbeitsplätze in Bewegung. Tätigkeiten verschieben sich schneller als Qualifikationen.</a:t>
            </a:r>
            <a:endParaRPr lang="en-US" sz="1050" dirty="0"/>
          </a:p>
        </p:txBody>
      </p:sp>
      <p:sp>
        <p:nvSpPr>
          <p:cNvPr id="26" name="Shape 20"/>
          <p:cNvSpPr/>
          <p:nvPr/>
        </p:nvSpPr>
        <p:spPr>
          <a:xfrm>
            <a:off x="6178144" y="2962656"/>
            <a:ext cx="5446624" cy="932688"/>
          </a:xfrm>
          <a:prstGeom prst="roundRect">
            <a:avLst>
              <a:gd name="adj" fmla="val 5882"/>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27" name="Shape 21"/>
          <p:cNvSpPr/>
          <p:nvPr/>
        </p:nvSpPr>
        <p:spPr>
          <a:xfrm>
            <a:off x="6434176" y="3227832"/>
            <a:ext cx="365760" cy="365760"/>
          </a:xfrm>
          <a:prstGeom prst="roundRect">
            <a:avLst>
              <a:gd name="adj" fmla="val 25000"/>
            </a:avLst>
          </a:prstGeom>
          <a:solidFill>
            <a:srgbClr val="D97706"/>
          </a:solidFill>
          <a:ln/>
        </p:spPr>
      </p:sp>
      <p:pic>
        <p:nvPicPr>
          <p:cNvPr id="28" name="Image 4" descr="preencoded.png">    </p:cNvPr>
          <p:cNvPicPr>
            <a:picLocks noChangeAspect="1"/>
          </p:cNvPicPr>
          <p:nvPr/>
        </p:nvPicPr>
        <p:blipFill>
          <a:blip r:embed="rId5"/>
          <a:stretch>
            <a:fillRect/>
          </a:stretch>
        </p:blipFill>
        <p:spPr>
          <a:xfrm>
            <a:off x="6521459" y="3315116"/>
            <a:ext cx="191193" cy="191193"/>
          </a:xfrm>
          <a:prstGeom prst="rect">
            <a:avLst/>
          </a:prstGeom>
        </p:spPr>
      </p:pic>
      <p:sp>
        <p:nvSpPr>
          <p:cNvPr id="29" name="Text 22"/>
          <p:cNvSpPr txBox="1"/>
          <p:nvPr/>
        </p:nvSpPr>
        <p:spPr>
          <a:xfrm>
            <a:off x="6964528" y="3090672"/>
            <a:ext cx="4385920" cy="256032"/>
          </a:xfrm>
          <a:prstGeom prst="rect">
            <a:avLst/>
          </a:prstGeom>
          <a:noFill/>
          <a:ln/>
        </p:spPr>
        <p:txBody>
          <a:bodyPr wrap="square" lIns="0" tIns="0" rIns="0" bIns="0" rtlCol="0" anchor="ctr"/>
          <a:lstStyle/>
          <a:p>
            <a:pPr indent="0" marL="0">
              <a:buNone/>
            </a:pPr>
            <a:r>
              <a:rPr lang="en-US" sz="1300" b="1" dirty="0">
                <a:solidFill>
                  <a:srgbClr val="1E3A8A"/>
                </a:solidFill>
                <a:latin typeface="Arial" pitchFamily="34" charset="0"/>
                <a:ea typeface="Arial" pitchFamily="34" charset="-122"/>
                <a:cs typeface="Arial" pitchFamily="34" charset="-120"/>
              </a:rPr>
              <a:t>Plattformabhängigkeit</a:t>
            </a:r>
            <a:endParaRPr lang="en-US" sz="1300" dirty="0"/>
          </a:p>
        </p:txBody>
      </p:sp>
      <p:sp>
        <p:nvSpPr>
          <p:cNvPr id="30" name="Text 23"/>
          <p:cNvSpPr txBox="1"/>
          <p:nvPr/>
        </p:nvSpPr>
        <p:spPr>
          <a:xfrm>
            <a:off x="6964528" y="3364992"/>
            <a:ext cx="4385920" cy="457200"/>
          </a:xfrm>
          <a:prstGeom prst="rect">
            <a:avLst/>
          </a:prstGeom>
          <a:noFill/>
          <a:ln/>
        </p:spPr>
        <p:txBody>
          <a:bodyPr wrap="square" lIns="0" tIns="0" rIns="0" bIns="0" rtlCol="0" anchor="t"/>
          <a:lstStyle/>
          <a:p>
            <a:pPr indent="0" marL="0">
              <a:lnSpc>
                <a:spcPct val="115000"/>
              </a:lnSpc>
              <a:buNone/>
            </a:pPr>
            <a:r>
              <a:rPr lang="en-US" sz="1050" dirty="0">
                <a:solidFill>
                  <a:srgbClr val="475569"/>
                </a:solidFill>
                <a:latin typeface="Arial" pitchFamily="34" charset="0"/>
                <a:ea typeface="Arial" pitchFamily="34" charset="-122"/>
                <a:cs typeface="Arial" pitchFamily="34" charset="-120"/>
              </a:rPr>
              <a:t>56,7 % des Onlineumsatzes laufen über Marktplätze. Wer dort nicht gefunden wird, findet nicht statt.</a:t>
            </a:r>
            <a:endParaRPr lang="en-US" sz="1050" dirty="0"/>
          </a:p>
        </p:txBody>
      </p:sp>
      <p:sp>
        <p:nvSpPr>
          <p:cNvPr id="31" name="Shape 24"/>
          <p:cNvSpPr/>
          <p:nvPr/>
        </p:nvSpPr>
        <p:spPr>
          <a:xfrm>
            <a:off x="6178144" y="4041648"/>
            <a:ext cx="5446624" cy="932688"/>
          </a:xfrm>
          <a:prstGeom prst="roundRect">
            <a:avLst>
              <a:gd name="adj" fmla="val 5882"/>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32" name="Shape 25"/>
          <p:cNvSpPr/>
          <p:nvPr/>
        </p:nvSpPr>
        <p:spPr>
          <a:xfrm>
            <a:off x="6434176" y="4306824"/>
            <a:ext cx="365760" cy="365760"/>
          </a:xfrm>
          <a:prstGeom prst="roundRect">
            <a:avLst>
              <a:gd name="adj" fmla="val 25000"/>
            </a:avLst>
          </a:prstGeom>
          <a:solidFill>
            <a:srgbClr val="D97706"/>
          </a:solidFill>
          <a:ln/>
        </p:spPr>
      </p:sp>
      <p:pic>
        <p:nvPicPr>
          <p:cNvPr id="33" name="Image 5" descr="preencoded.png">    </p:cNvPr>
          <p:cNvPicPr>
            <a:picLocks noChangeAspect="1"/>
          </p:cNvPicPr>
          <p:nvPr/>
        </p:nvPicPr>
        <p:blipFill>
          <a:blip r:embed="rId6"/>
          <a:stretch>
            <a:fillRect/>
          </a:stretch>
        </p:blipFill>
        <p:spPr>
          <a:xfrm>
            <a:off x="6521459" y="4394108"/>
            <a:ext cx="191193" cy="191193"/>
          </a:xfrm>
          <a:prstGeom prst="rect">
            <a:avLst/>
          </a:prstGeom>
        </p:spPr>
      </p:pic>
      <p:sp>
        <p:nvSpPr>
          <p:cNvPr id="34" name="Text 26"/>
          <p:cNvSpPr txBox="1"/>
          <p:nvPr/>
        </p:nvSpPr>
        <p:spPr>
          <a:xfrm>
            <a:off x="6964528" y="4169664"/>
            <a:ext cx="4385920" cy="256032"/>
          </a:xfrm>
          <a:prstGeom prst="rect">
            <a:avLst/>
          </a:prstGeom>
          <a:noFill/>
          <a:ln/>
        </p:spPr>
        <p:txBody>
          <a:bodyPr wrap="square" lIns="0" tIns="0" rIns="0" bIns="0" rtlCol="0" anchor="ctr"/>
          <a:lstStyle/>
          <a:p>
            <a:pPr indent="0" marL="0">
              <a:buNone/>
            </a:pPr>
            <a:r>
              <a:rPr lang="en-US" sz="1300" b="1" dirty="0">
                <a:solidFill>
                  <a:srgbClr val="1E3A8A"/>
                </a:solidFill>
                <a:latin typeface="Arial" pitchFamily="34" charset="0"/>
                <a:ea typeface="Arial" pitchFamily="34" charset="-122"/>
                <a:cs typeface="Arial" pitchFamily="34" charset="-120"/>
              </a:rPr>
              <a:t>Daten und Vertrauen</a:t>
            </a:r>
            <a:endParaRPr lang="en-US" sz="1300" dirty="0"/>
          </a:p>
        </p:txBody>
      </p:sp>
      <p:sp>
        <p:nvSpPr>
          <p:cNvPr id="35" name="Text 27"/>
          <p:cNvSpPr txBox="1"/>
          <p:nvPr/>
        </p:nvSpPr>
        <p:spPr>
          <a:xfrm>
            <a:off x="6964528" y="4443984"/>
            <a:ext cx="4385920" cy="457200"/>
          </a:xfrm>
          <a:prstGeom prst="rect">
            <a:avLst/>
          </a:prstGeom>
          <a:noFill/>
          <a:ln/>
        </p:spPr>
        <p:txBody>
          <a:bodyPr wrap="square" lIns="0" tIns="0" rIns="0" bIns="0" rtlCol="0" anchor="t"/>
          <a:lstStyle/>
          <a:p>
            <a:pPr indent="0" marL="0">
              <a:lnSpc>
                <a:spcPct val="115000"/>
              </a:lnSpc>
              <a:buNone/>
            </a:pPr>
            <a:r>
              <a:rPr lang="en-US" sz="1050" dirty="0">
                <a:solidFill>
                  <a:srgbClr val="475569"/>
                </a:solidFill>
                <a:latin typeface="Arial" pitchFamily="34" charset="0"/>
                <a:ea typeface="Arial" pitchFamily="34" charset="-122"/>
                <a:cs typeface="Arial" pitchFamily="34" charset="-120"/>
              </a:rPr>
              <a:t>Personalisierung braucht persönliche Daten. Erst 6,3 % kaufen heute vollständig über eine KI.</a:t>
            </a:r>
            <a:endParaRPr lang="en-US" sz="1050" dirty="0"/>
          </a:p>
        </p:txBody>
      </p:sp>
      <p:sp>
        <p:nvSpPr>
          <p:cNvPr id="36" name="Shape 28"/>
          <p:cNvSpPr/>
          <p:nvPr/>
        </p:nvSpPr>
        <p:spPr>
          <a:xfrm>
            <a:off x="566928" y="5175504"/>
            <a:ext cx="11057839" cy="822960"/>
          </a:xfrm>
          <a:prstGeom prst="roundRect">
            <a:avLst>
              <a:gd name="adj" fmla="val 6667"/>
            </a:avLst>
          </a:prstGeom>
          <a:solidFill>
            <a:srgbClr val="1E3A8A"/>
          </a:solidFill>
          <a:ln/>
          <a:effectLst>
            <a:outerShdw sx="100000" sy="100000" kx="0" ky="0" algn="bl" rotWithShape="0" blurRad="127000" dist="25400" dir="5400000">
              <a:srgbClr val="1E3A8A">
                <a:alpha val="10000"/>
              </a:srgbClr>
            </a:outerShdw>
          </a:effectLst>
        </p:spPr>
      </p:sp>
      <p:sp>
        <p:nvSpPr>
          <p:cNvPr id="37" name="Shape 29"/>
          <p:cNvSpPr/>
          <p:nvPr/>
        </p:nvSpPr>
        <p:spPr>
          <a:xfrm>
            <a:off x="804672" y="5385816"/>
            <a:ext cx="402336" cy="402336"/>
          </a:xfrm>
          <a:prstGeom prst="roundRect">
            <a:avLst>
              <a:gd name="adj" fmla="val 22727"/>
            </a:avLst>
          </a:prstGeom>
          <a:solidFill>
            <a:srgbClr val="F59E0B"/>
          </a:solidFill>
          <a:ln/>
        </p:spPr>
      </p:sp>
      <p:pic>
        <p:nvPicPr>
          <p:cNvPr id="38" name="Image 6" descr="preencoded.png">    </p:cNvPr>
          <p:cNvPicPr>
            <a:picLocks noChangeAspect="1"/>
          </p:cNvPicPr>
          <p:nvPr/>
        </p:nvPicPr>
        <p:blipFill>
          <a:blip r:embed="rId7"/>
          <a:stretch>
            <a:fillRect/>
          </a:stretch>
        </p:blipFill>
        <p:spPr>
          <a:xfrm>
            <a:off x="900684" y="5481828"/>
            <a:ext cx="210312" cy="210312"/>
          </a:xfrm>
          <a:prstGeom prst="rect">
            <a:avLst/>
          </a:prstGeom>
        </p:spPr>
      </p:pic>
      <p:sp>
        <p:nvSpPr>
          <p:cNvPr id="39" name="Text 30"/>
          <p:cNvSpPr txBox="1"/>
          <p:nvPr/>
        </p:nvSpPr>
        <p:spPr>
          <a:xfrm>
            <a:off x="1353312" y="5422392"/>
            <a:ext cx="1463040" cy="347472"/>
          </a:xfrm>
          <a:prstGeom prst="rect">
            <a:avLst/>
          </a:prstGeom>
          <a:noFill/>
          <a:ln/>
        </p:spPr>
        <p:txBody>
          <a:bodyPr wrap="square" lIns="0" tIns="0" rIns="0" bIns="0" rtlCol="0" anchor="ctr"/>
          <a:lstStyle/>
          <a:p>
            <a:pPr indent="0" marL="0">
              <a:lnSpc>
                <a:spcPct val="112000"/>
              </a:lnSpc>
              <a:buNone/>
            </a:pPr>
            <a:r>
              <a:rPr lang="en-US" sz="950" b="1" spc="180" kern="0" dirty="0">
                <a:solidFill>
                  <a:srgbClr val="F59E0B"/>
                </a:solidFill>
                <a:latin typeface="Arial" pitchFamily="34" charset="0"/>
                <a:ea typeface="Arial" pitchFamily="34" charset="-122"/>
                <a:cs typeface="Arial" pitchFamily="34" charset="-120"/>
              </a:rPr>
              <a:t>EU AI ACT</a:t>
            </a:r>
            <a:endParaRPr lang="en-US" sz="950" dirty="0"/>
          </a:p>
          <a:p>
            <a:pPr indent="0" marL="0">
              <a:lnSpc>
                <a:spcPct val="112000"/>
              </a:lnSpc>
              <a:buNone/>
            </a:pPr>
            <a:r>
              <a:rPr lang="en-US" sz="950" b="1" spc="180" kern="0" dirty="0">
                <a:solidFill>
                  <a:srgbClr val="F59E0B"/>
                </a:solidFill>
                <a:latin typeface="Arial" pitchFamily="34" charset="0"/>
                <a:ea typeface="Arial" pitchFamily="34" charset="-122"/>
                <a:cs typeface="Arial" pitchFamily="34" charset="-120"/>
              </a:rPr>
              <a:t>FRISTEN</a:t>
            </a:r>
            <a:endParaRPr lang="en-US" sz="950" dirty="0"/>
          </a:p>
        </p:txBody>
      </p:sp>
      <p:sp>
        <p:nvSpPr>
          <p:cNvPr id="40" name="Text 31"/>
          <p:cNvSpPr txBox="1"/>
          <p:nvPr/>
        </p:nvSpPr>
        <p:spPr>
          <a:xfrm>
            <a:off x="2944368" y="5321808"/>
            <a:ext cx="2743200" cy="20116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02.08.2026</a:t>
            </a:r>
            <a:endParaRPr lang="en-US" sz="1050" dirty="0"/>
          </a:p>
        </p:txBody>
      </p:sp>
      <p:sp>
        <p:nvSpPr>
          <p:cNvPr id="41" name="Text 32"/>
          <p:cNvSpPr txBox="1"/>
          <p:nvPr/>
        </p:nvSpPr>
        <p:spPr>
          <a:xfrm>
            <a:off x="2944368" y="5522976"/>
            <a:ext cx="2743200" cy="420624"/>
          </a:xfrm>
          <a:prstGeom prst="rect">
            <a:avLst/>
          </a:prstGeom>
          <a:noFill/>
          <a:ln/>
        </p:spPr>
        <p:txBody>
          <a:bodyPr wrap="square" lIns="0" tIns="0" rIns="0" bIns="0" rtlCol="0" anchor="t"/>
          <a:lstStyle/>
          <a:p>
            <a:pPr indent="0" marL="0">
              <a:lnSpc>
                <a:spcPct val="112000"/>
              </a:lnSpc>
              <a:buNone/>
            </a:pPr>
            <a:r>
              <a:rPr lang="en-US" sz="850" dirty="0">
                <a:solidFill>
                  <a:srgbClr val="C7D7F5"/>
                </a:solidFill>
                <a:latin typeface="Arial" pitchFamily="34" charset="0"/>
                <a:ea typeface="Arial" pitchFamily="34" charset="-122"/>
                <a:cs typeface="Arial" pitchFamily="34" charset="-120"/>
              </a:rPr>
              <a:t>Transparenzpflichten: Chatbots müssen sich als KI zu erkennen geben, KI-Inhalte werden gekennzeichnet.</a:t>
            </a:r>
            <a:endParaRPr lang="en-US" sz="850" dirty="0"/>
          </a:p>
        </p:txBody>
      </p:sp>
      <p:sp>
        <p:nvSpPr>
          <p:cNvPr id="42" name="Text 33"/>
          <p:cNvSpPr txBox="1"/>
          <p:nvPr/>
        </p:nvSpPr>
        <p:spPr>
          <a:xfrm>
            <a:off x="5833872" y="5321808"/>
            <a:ext cx="2743200" cy="20116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02.12.2027</a:t>
            </a:r>
            <a:endParaRPr lang="en-US" sz="1050" dirty="0"/>
          </a:p>
        </p:txBody>
      </p:sp>
      <p:sp>
        <p:nvSpPr>
          <p:cNvPr id="43" name="Text 34"/>
          <p:cNvSpPr txBox="1"/>
          <p:nvPr/>
        </p:nvSpPr>
        <p:spPr>
          <a:xfrm>
            <a:off x="5833872" y="5522976"/>
            <a:ext cx="2743200" cy="420624"/>
          </a:xfrm>
          <a:prstGeom prst="rect">
            <a:avLst/>
          </a:prstGeom>
          <a:noFill/>
          <a:ln/>
        </p:spPr>
        <p:txBody>
          <a:bodyPr wrap="square" lIns="0" tIns="0" rIns="0" bIns="0" rtlCol="0" anchor="t"/>
          <a:lstStyle/>
          <a:p>
            <a:pPr indent="0" marL="0">
              <a:lnSpc>
                <a:spcPct val="112000"/>
              </a:lnSpc>
              <a:buNone/>
            </a:pPr>
            <a:r>
              <a:rPr lang="en-US" sz="850" dirty="0">
                <a:solidFill>
                  <a:srgbClr val="C7D7F5"/>
                </a:solidFill>
                <a:latin typeface="Arial" pitchFamily="34" charset="0"/>
                <a:ea typeface="Arial" pitchFamily="34" charset="-122"/>
                <a:cs typeface="Arial" pitchFamily="34" charset="-120"/>
              </a:rPr>
              <a:t>Pflichten für Hochrisiko-KI nach Anhang III (verschoben durch den Digital Omnibus).</a:t>
            </a:r>
            <a:endParaRPr lang="en-US" sz="850" dirty="0"/>
          </a:p>
        </p:txBody>
      </p:sp>
      <p:sp>
        <p:nvSpPr>
          <p:cNvPr id="44" name="Text 35"/>
          <p:cNvSpPr txBox="1"/>
          <p:nvPr/>
        </p:nvSpPr>
        <p:spPr>
          <a:xfrm>
            <a:off x="8723376" y="5321808"/>
            <a:ext cx="2743200" cy="201168"/>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02.08.2028</a:t>
            </a:r>
            <a:endParaRPr lang="en-US" sz="1050" dirty="0"/>
          </a:p>
        </p:txBody>
      </p:sp>
      <p:sp>
        <p:nvSpPr>
          <p:cNvPr id="45" name="Text 36"/>
          <p:cNvSpPr txBox="1"/>
          <p:nvPr/>
        </p:nvSpPr>
        <p:spPr>
          <a:xfrm>
            <a:off x="8723376" y="5522976"/>
            <a:ext cx="2743200" cy="420624"/>
          </a:xfrm>
          <a:prstGeom prst="rect">
            <a:avLst/>
          </a:prstGeom>
          <a:noFill/>
          <a:ln/>
        </p:spPr>
        <p:txBody>
          <a:bodyPr wrap="square" lIns="0" tIns="0" rIns="0" bIns="0" rtlCol="0" anchor="t"/>
          <a:lstStyle/>
          <a:p>
            <a:pPr indent="0" marL="0">
              <a:lnSpc>
                <a:spcPct val="112000"/>
              </a:lnSpc>
              <a:buNone/>
            </a:pPr>
            <a:r>
              <a:rPr lang="en-US" sz="850" dirty="0">
                <a:solidFill>
                  <a:srgbClr val="C7D7F5"/>
                </a:solidFill>
                <a:latin typeface="Arial" pitchFamily="34" charset="0"/>
                <a:ea typeface="Arial" pitchFamily="34" charset="-122"/>
                <a:cs typeface="Arial" pitchFamily="34" charset="-120"/>
              </a:rPr>
              <a:t>In Produkte eingebettete Hochrisiko-KI.</a:t>
            </a:r>
            <a:endParaRPr lang="en-US" sz="850" dirty="0"/>
          </a:p>
        </p:txBody>
      </p:sp>
      <p:sp>
        <p:nvSpPr>
          <p:cNvPr id="46" name="Text 37"/>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475569"/>
                </a:solidFill>
                <a:latin typeface="Arial" pitchFamily="34" charset="0"/>
                <a:ea typeface="Arial" pitchFamily="34" charset="-122"/>
                <a:cs typeface="Arial" pitchFamily="34" charset="-120"/>
              </a:rPr>
              <a:t>Quelle: IAB-Forschungsbericht 23/2025 (Simulation über 15 Jahre)  ·  HDE Online-Monitor 2026 (Nettoumsatz Onlinehandel Deutschland)  ·  bevh, Jahreszahlen 2025  ·  Verordnung (EU) 2024/1689 (KI-VO), Art. 50 und 113; Digital Omnibus on AI</a:t>
            </a:r>
            <a:endParaRPr lang="en-US" sz="900" dirty="0"/>
          </a:p>
        </p:txBody>
      </p:sp>
      <p:sp>
        <p:nvSpPr>
          <p:cNvPr id="47" name="Text 38"/>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AUSBLICK</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Was bis 2030 auf dem Tisch liegt</a:t>
            </a:r>
            <a:endParaRPr lang="en-US" sz="2900" dirty="0"/>
          </a:p>
        </p:txBody>
      </p:sp>
      <p:sp>
        <p:nvSpPr>
          <p:cNvPr id="4" name="Shape 2"/>
          <p:cNvSpPr/>
          <p:nvPr/>
        </p:nvSpPr>
        <p:spPr>
          <a:xfrm>
            <a:off x="566928" y="1591056"/>
            <a:ext cx="6381826" cy="4224528"/>
          </a:xfrm>
          <a:prstGeom prst="roundRect">
            <a:avLst>
              <a:gd name="adj" fmla="val 1299"/>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5" name="Text 3"/>
          <p:cNvSpPr txBox="1"/>
          <p:nvPr/>
        </p:nvSpPr>
        <p:spPr>
          <a:xfrm>
            <a:off x="877824" y="1810512"/>
            <a:ext cx="5760034" cy="219456"/>
          </a:xfrm>
          <a:prstGeom prst="rect">
            <a:avLst/>
          </a:prstGeom>
          <a:noFill/>
          <a:ln/>
        </p:spPr>
        <p:txBody>
          <a:bodyPr wrap="square" lIns="0" tIns="0" rIns="0" bIns="0" rtlCol="0" anchor="ctr"/>
          <a:lstStyle/>
          <a:p>
            <a:pPr indent="0" marL="0">
              <a:buNone/>
            </a:pPr>
            <a:r>
              <a:rPr lang="en-US" sz="1400" b="1" dirty="0">
                <a:solidFill>
                  <a:srgbClr val="1E3A8A"/>
                </a:solidFill>
                <a:latin typeface="Arial" pitchFamily="34" charset="0"/>
                <a:ea typeface="Arial" pitchFamily="34" charset="-122"/>
                <a:cs typeface="Arial" pitchFamily="34" charset="-120"/>
              </a:rPr>
              <a:t>Weltweiter Umsatz im Jahr 2030</a:t>
            </a:r>
            <a:endParaRPr lang="en-US" sz="1400" dirty="0"/>
          </a:p>
        </p:txBody>
      </p:sp>
      <p:sp>
        <p:nvSpPr>
          <p:cNvPr id="6" name="Text 4"/>
          <p:cNvSpPr txBox="1"/>
          <p:nvPr/>
        </p:nvSpPr>
        <p:spPr>
          <a:xfrm>
            <a:off x="877824" y="2029968"/>
            <a:ext cx="5760034" cy="201168"/>
          </a:xfrm>
          <a:prstGeom prst="rect">
            <a:avLst/>
          </a:prstGeom>
          <a:noFill/>
          <a:ln/>
        </p:spPr>
        <p:txBody>
          <a:bodyPr wrap="square" lIns="0" tIns="0" rIns="0" bIns="0" rtlCol="0" anchor="ctr"/>
          <a:lstStyle/>
          <a:p>
            <a:pPr indent="0" marL="0">
              <a:buNone/>
            </a:pPr>
            <a:r>
              <a:rPr lang="en-US" sz="900" dirty="0">
                <a:solidFill>
                  <a:srgbClr val="475569"/>
                </a:solidFill>
                <a:latin typeface="Arial" pitchFamily="34" charset="0"/>
                <a:ea typeface="Arial" pitchFamily="34" charset="-122"/>
                <a:cs typeface="Arial" pitchFamily="34" charset="-120"/>
              </a:rPr>
              <a:t>in Billionen US-Dollar · sämtlich Prognosen, keine Ist-Werte</a:t>
            </a:r>
            <a:endParaRPr lang="en-US" sz="900" dirty="0"/>
          </a:p>
        </p:txBody>
      </p:sp>
      <p:graphicFrame>
        <p:nvGraphicFramePr>
          <p:cNvPr id="7" name="Chart 0" descr=""/>
          <p:cNvGraphicFramePr/>
          <p:nvPr/>
        </p:nvGraphicFramePr>
        <p:xfrm>
          <a:off x="731520" y="2340864"/>
          <a:ext cx="5979490" cy="3255264"/>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113346" y="1591056"/>
            <a:ext cx="4511421" cy="1298448"/>
          </a:xfrm>
          <a:prstGeom prst="roundRect">
            <a:avLst>
              <a:gd name="adj" fmla="val 4225"/>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9" name="Shape 6"/>
          <p:cNvSpPr/>
          <p:nvPr/>
        </p:nvSpPr>
        <p:spPr>
          <a:xfrm>
            <a:off x="7387666" y="2002536"/>
            <a:ext cx="402336" cy="402336"/>
          </a:xfrm>
          <a:prstGeom prst="roundRect">
            <a:avLst>
              <a:gd name="adj" fmla="val 22727"/>
            </a:avLst>
          </a:prstGeom>
          <a:solidFill>
            <a:srgbClr val="1E40AF"/>
          </a:solidFill>
          <a:ln/>
        </p:spPr>
      </p:sp>
      <p:pic>
        <p:nvPicPr>
          <p:cNvPr id="10" name="Image 0" descr="preencoded.png">    </p:cNvPr>
          <p:cNvPicPr>
            <a:picLocks noChangeAspect="1"/>
          </p:cNvPicPr>
          <p:nvPr/>
        </p:nvPicPr>
        <p:blipFill>
          <a:blip r:embed="rId2"/>
          <a:stretch>
            <a:fillRect/>
          </a:stretch>
        </p:blipFill>
        <p:spPr>
          <a:xfrm>
            <a:off x="7483678" y="2098548"/>
            <a:ext cx="210312" cy="210312"/>
          </a:xfrm>
          <a:prstGeom prst="rect">
            <a:avLst/>
          </a:prstGeom>
        </p:spPr>
      </p:pic>
      <p:sp>
        <p:nvSpPr>
          <p:cNvPr id="11" name="Text 7"/>
          <p:cNvSpPr txBox="1"/>
          <p:nvPr/>
        </p:nvSpPr>
        <p:spPr>
          <a:xfrm>
            <a:off x="7972882" y="1792224"/>
            <a:ext cx="3377565" cy="347472"/>
          </a:xfrm>
          <a:prstGeom prst="rect">
            <a:avLst/>
          </a:prstGeom>
          <a:noFill/>
          <a:ln/>
        </p:spPr>
        <p:txBody>
          <a:bodyPr wrap="square" lIns="0" tIns="0" rIns="0" bIns="0" rtlCol="0" anchor="ctr"/>
          <a:lstStyle/>
          <a:p>
            <a:pPr indent="0" marL="0">
              <a:buNone/>
            </a:pPr>
            <a:r>
              <a:rPr lang="en-US" sz="2400" b="1" dirty="0">
                <a:solidFill>
                  <a:srgbClr val="1E3A8A"/>
                </a:solidFill>
                <a:latin typeface="Cambria" pitchFamily="34" charset="0"/>
                <a:ea typeface="Cambria" pitchFamily="34" charset="-122"/>
                <a:cs typeface="Cambria" pitchFamily="34" charset="-120"/>
              </a:rPr>
              <a:t>4,1 Mrd.</a:t>
            </a:r>
            <a:endParaRPr lang="en-US" sz="2400" dirty="0"/>
          </a:p>
        </p:txBody>
      </p:sp>
      <p:sp>
        <p:nvSpPr>
          <p:cNvPr id="12" name="Text 8"/>
          <p:cNvSpPr txBox="1"/>
          <p:nvPr/>
        </p:nvSpPr>
        <p:spPr>
          <a:xfrm>
            <a:off x="7972882" y="2157984"/>
            <a:ext cx="3377565" cy="566928"/>
          </a:xfrm>
          <a:prstGeom prst="rect">
            <a:avLst/>
          </a:prstGeom>
          <a:noFill/>
          <a:ln/>
        </p:spPr>
        <p:txBody>
          <a:bodyPr wrap="square" lIns="0" tIns="0" rIns="0" bIns="0" rtlCol="0" anchor="t"/>
          <a:lstStyle/>
          <a:p>
            <a:pPr indent="0" marL="0">
              <a:lnSpc>
                <a:spcPct val="118000"/>
              </a:lnSpc>
              <a:buNone/>
            </a:pPr>
            <a:r>
              <a:rPr lang="en-US" sz="1100" dirty="0">
                <a:solidFill>
                  <a:srgbClr val="475569"/>
                </a:solidFill>
                <a:latin typeface="Arial" pitchFamily="34" charset="0"/>
                <a:ea typeface="Arial" pitchFamily="34" charset="-122"/>
                <a:cs typeface="Arial" pitchFamily="34" charset="-120"/>
              </a:rPr>
              <a:t>Menschen kaufen 2030 online — eine Durchdringung von 60,1 %.</a:t>
            </a:r>
            <a:endParaRPr lang="en-US" sz="1100" dirty="0"/>
          </a:p>
        </p:txBody>
      </p:sp>
      <p:sp>
        <p:nvSpPr>
          <p:cNvPr id="13" name="Shape 9"/>
          <p:cNvSpPr/>
          <p:nvPr/>
        </p:nvSpPr>
        <p:spPr>
          <a:xfrm>
            <a:off x="7113346" y="3054096"/>
            <a:ext cx="4511421" cy="1298448"/>
          </a:xfrm>
          <a:prstGeom prst="roundRect">
            <a:avLst>
              <a:gd name="adj" fmla="val 4225"/>
            </a:avLst>
          </a:prstGeom>
          <a:solidFill>
            <a:srgbClr val="FFFFFF"/>
          </a:solidFill>
          <a:ln w="12700">
            <a:solidFill>
              <a:srgbClr val="DBEAFE"/>
            </a:solidFill>
            <a:prstDash val="solid"/>
          </a:ln>
          <a:effectLst>
            <a:outerShdw sx="100000" sy="100000" kx="0" ky="0" algn="bl" rotWithShape="0" blurRad="127000" dist="25400" dir="5400000">
              <a:srgbClr val="1E3A8A">
                <a:alpha val="10000"/>
              </a:srgbClr>
            </a:outerShdw>
          </a:effectLst>
        </p:spPr>
      </p:sp>
      <p:sp>
        <p:nvSpPr>
          <p:cNvPr id="14" name="Shape 10"/>
          <p:cNvSpPr/>
          <p:nvPr/>
        </p:nvSpPr>
        <p:spPr>
          <a:xfrm>
            <a:off x="7387666" y="3465576"/>
            <a:ext cx="402336" cy="402336"/>
          </a:xfrm>
          <a:prstGeom prst="roundRect">
            <a:avLst>
              <a:gd name="adj" fmla="val 22727"/>
            </a:avLst>
          </a:prstGeom>
          <a:solidFill>
            <a:srgbClr val="1E40AF"/>
          </a:solidFill>
          <a:ln/>
        </p:spPr>
      </p:sp>
      <p:pic>
        <p:nvPicPr>
          <p:cNvPr id="15" name="Image 1" descr="preencoded.png">    </p:cNvPr>
          <p:cNvPicPr>
            <a:picLocks noChangeAspect="1"/>
          </p:cNvPicPr>
          <p:nvPr/>
        </p:nvPicPr>
        <p:blipFill>
          <a:blip r:embed="rId3"/>
          <a:stretch>
            <a:fillRect/>
          </a:stretch>
        </p:blipFill>
        <p:spPr>
          <a:xfrm>
            <a:off x="7483678" y="3561588"/>
            <a:ext cx="210312" cy="210312"/>
          </a:xfrm>
          <a:prstGeom prst="rect">
            <a:avLst/>
          </a:prstGeom>
        </p:spPr>
      </p:pic>
      <p:sp>
        <p:nvSpPr>
          <p:cNvPr id="16" name="Text 11"/>
          <p:cNvSpPr txBox="1"/>
          <p:nvPr/>
        </p:nvSpPr>
        <p:spPr>
          <a:xfrm>
            <a:off x="7972882" y="3255264"/>
            <a:ext cx="3377565" cy="347472"/>
          </a:xfrm>
          <a:prstGeom prst="rect">
            <a:avLst/>
          </a:prstGeom>
          <a:noFill/>
          <a:ln/>
        </p:spPr>
        <p:txBody>
          <a:bodyPr wrap="square" lIns="0" tIns="0" rIns="0" bIns="0" rtlCol="0" anchor="ctr"/>
          <a:lstStyle/>
          <a:p>
            <a:pPr indent="0" marL="0">
              <a:buNone/>
            </a:pPr>
            <a:r>
              <a:rPr lang="en-US" sz="2400" b="1" dirty="0">
                <a:solidFill>
                  <a:srgbClr val="1E3A8A"/>
                </a:solidFill>
                <a:latin typeface="Cambria" pitchFamily="34" charset="0"/>
                <a:ea typeface="Cambria" pitchFamily="34" charset="-122"/>
                <a:cs typeface="Cambria" pitchFamily="34" charset="-120"/>
              </a:rPr>
              <a:t>21 → 39 Mrd. $</a:t>
            </a:r>
            <a:endParaRPr lang="en-US" sz="2400" dirty="0"/>
          </a:p>
        </p:txBody>
      </p:sp>
      <p:sp>
        <p:nvSpPr>
          <p:cNvPr id="17" name="Text 12"/>
          <p:cNvSpPr txBox="1"/>
          <p:nvPr/>
        </p:nvSpPr>
        <p:spPr>
          <a:xfrm>
            <a:off x="7972882" y="3621024"/>
            <a:ext cx="3377565" cy="566928"/>
          </a:xfrm>
          <a:prstGeom prst="rect">
            <a:avLst/>
          </a:prstGeom>
          <a:noFill/>
          <a:ln/>
        </p:spPr>
        <p:txBody>
          <a:bodyPr wrap="square" lIns="0" tIns="0" rIns="0" bIns="0" rtlCol="0" anchor="t"/>
          <a:lstStyle/>
          <a:p>
            <a:pPr indent="0" marL="0">
              <a:lnSpc>
                <a:spcPct val="118000"/>
              </a:lnSpc>
              <a:buNone/>
            </a:pPr>
            <a:r>
              <a:rPr lang="en-US" sz="1100" dirty="0">
                <a:solidFill>
                  <a:srgbClr val="475569"/>
                </a:solidFill>
                <a:latin typeface="Arial" pitchFamily="34" charset="0"/>
                <a:ea typeface="Arial" pitchFamily="34" charset="-122"/>
                <a:cs typeface="Arial" pitchFamily="34" charset="-120"/>
              </a:rPr>
              <a:t>Ausgaben für Betrugserkennung, 2025 bis 2030 — ein Plus von 85 %.</a:t>
            </a:r>
            <a:endParaRPr lang="en-US" sz="1100" dirty="0"/>
          </a:p>
        </p:txBody>
      </p:sp>
      <p:sp>
        <p:nvSpPr>
          <p:cNvPr id="18" name="Shape 13"/>
          <p:cNvSpPr/>
          <p:nvPr/>
        </p:nvSpPr>
        <p:spPr>
          <a:xfrm>
            <a:off x="7113346" y="4517136"/>
            <a:ext cx="4511421" cy="1298448"/>
          </a:xfrm>
          <a:prstGeom prst="roundRect">
            <a:avLst>
              <a:gd name="adj" fmla="val 4225"/>
            </a:avLst>
          </a:prstGeom>
          <a:solidFill>
            <a:srgbClr val="1E3A8A"/>
          </a:solidFill>
          <a:ln/>
          <a:effectLst>
            <a:outerShdw sx="100000" sy="100000" kx="0" ky="0" algn="bl" rotWithShape="0" blurRad="127000" dist="25400" dir="5400000">
              <a:srgbClr val="1E3A8A">
                <a:alpha val="10000"/>
              </a:srgbClr>
            </a:outerShdw>
          </a:effectLst>
        </p:spPr>
      </p:sp>
      <p:sp>
        <p:nvSpPr>
          <p:cNvPr id="19" name="Shape 14"/>
          <p:cNvSpPr/>
          <p:nvPr/>
        </p:nvSpPr>
        <p:spPr>
          <a:xfrm>
            <a:off x="7387666" y="4928616"/>
            <a:ext cx="402336" cy="402336"/>
          </a:xfrm>
          <a:prstGeom prst="roundRect">
            <a:avLst>
              <a:gd name="adj" fmla="val 22727"/>
            </a:avLst>
          </a:prstGeom>
          <a:solidFill>
            <a:srgbClr val="F59E0B"/>
          </a:solidFill>
          <a:ln/>
        </p:spPr>
      </p:sp>
      <p:pic>
        <p:nvPicPr>
          <p:cNvPr id="20" name="Image 2" descr="preencoded.png">    </p:cNvPr>
          <p:cNvPicPr>
            <a:picLocks noChangeAspect="1"/>
          </p:cNvPicPr>
          <p:nvPr/>
        </p:nvPicPr>
        <p:blipFill>
          <a:blip r:embed="rId4"/>
          <a:stretch>
            <a:fillRect/>
          </a:stretch>
        </p:blipFill>
        <p:spPr>
          <a:xfrm>
            <a:off x="7483678" y="5024628"/>
            <a:ext cx="210312" cy="210312"/>
          </a:xfrm>
          <a:prstGeom prst="rect">
            <a:avLst/>
          </a:prstGeom>
        </p:spPr>
      </p:pic>
      <p:sp>
        <p:nvSpPr>
          <p:cNvPr id="21" name="Text 15"/>
          <p:cNvSpPr txBox="1"/>
          <p:nvPr/>
        </p:nvSpPr>
        <p:spPr>
          <a:xfrm>
            <a:off x="7972882" y="4718304"/>
            <a:ext cx="3377565"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Der eigentliche Bruch</a:t>
            </a:r>
            <a:endParaRPr lang="en-US" sz="1350" dirty="0"/>
          </a:p>
        </p:txBody>
      </p:sp>
      <p:sp>
        <p:nvSpPr>
          <p:cNvPr id="22" name="Text 16"/>
          <p:cNvSpPr txBox="1"/>
          <p:nvPr/>
        </p:nvSpPr>
        <p:spPr>
          <a:xfrm>
            <a:off x="7972882" y="5047488"/>
            <a:ext cx="3377565" cy="566928"/>
          </a:xfrm>
          <a:prstGeom prst="rect">
            <a:avLst/>
          </a:prstGeom>
          <a:noFill/>
          <a:ln/>
        </p:spPr>
        <p:txBody>
          <a:bodyPr wrap="square" lIns="0" tIns="0" rIns="0" bIns="0" rtlCol="0" anchor="t"/>
          <a:lstStyle/>
          <a:p>
            <a:pPr indent="0" marL="0">
              <a:lnSpc>
                <a:spcPct val="118000"/>
              </a:lnSpc>
              <a:buNone/>
            </a:pPr>
            <a:r>
              <a:rPr lang="en-US" sz="1100" dirty="0">
                <a:solidFill>
                  <a:srgbClr val="C7D7F5"/>
                </a:solidFill>
                <a:latin typeface="Arial" pitchFamily="34" charset="0"/>
                <a:ea typeface="Arial" pitchFamily="34" charset="-122"/>
                <a:cs typeface="Arial" pitchFamily="34" charset="-120"/>
              </a:rPr>
              <a:t>Wenn Maschinen einkaufen, ist der Adressat von Marketing nicht mehr nur der Mensch.</a:t>
            </a:r>
            <a:endParaRPr lang="en-US" sz="1100" dirty="0"/>
          </a:p>
        </p:txBody>
      </p:sp>
      <p:sp>
        <p:nvSpPr>
          <p:cNvPr id="23" name="Text 17"/>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475569"/>
                </a:solidFill>
                <a:latin typeface="Arial" pitchFamily="34" charset="0"/>
                <a:ea typeface="Arial" pitchFamily="34" charset="-122"/>
                <a:cs typeface="Arial" pitchFamily="34" charset="-120"/>
              </a:rPr>
              <a:t>Quelle: McKinsey, Prognose Agentic Commerce 2030  ·  Statista / ECDB, globaler E-Commerce bis 2030  ·  Juniper Research, Fraud Detection &amp; Prevention Spending</a:t>
            </a:r>
            <a:endParaRPr lang="en-US" sz="900" dirty="0"/>
          </a:p>
        </p:txBody>
      </p:sp>
      <p:sp>
        <p:nvSpPr>
          <p:cNvPr id="24" name="Text 18"/>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3A8A"/>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F59E0B"/>
                </a:solidFill>
                <a:latin typeface="Arial" pitchFamily="34" charset="0"/>
                <a:ea typeface="Arial" pitchFamily="34" charset="-122"/>
                <a:cs typeface="Arial" pitchFamily="34" charset="-120"/>
              </a:rPr>
              <a:t>FAZIT</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Drei Sätze zum Mitnehmen</a:t>
            </a:r>
            <a:endParaRPr lang="en-US" sz="2900" dirty="0"/>
          </a:p>
        </p:txBody>
      </p:sp>
      <p:sp>
        <p:nvSpPr>
          <p:cNvPr id="4" name="Shape 2"/>
          <p:cNvSpPr/>
          <p:nvPr/>
        </p:nvSpPr>
        <p:spPr>
          <a:xfrm>
            <a:off x="566928" y="1700784"/>
            <a:ext cx="11057839" cy="1170432"/>
          </a:xfrm>
          <a:prstGeom prst="roundRect">
            <a:avLst>
              <a:gd name="adj" fmla="val 4688"/>
            </a:avLst>
          </a:prstGeom>
          <a:solidFill>
            <a:srgbClr val="24438F"/>
          </a:solidFill>
          <a:ln w="12700">
            <a:solidFill>
              <a:srgbClr val="3B62C9"/>
            </a:solidFill>
            <a:prstDash val="solid"/>
          </a:ln>
        </p:spPr>
      </p:sp>
      <p:sp>
        <p:nvSpPr>
          <p:cNvPr id="5" name="Text 3"/>
          <p:cNvSpPr txBox="1"/>
          <p:nvPr/>
        </p:nvSpPr>
        <p:spPr>
          <a:xfrm>
            <a:off x="914400" y="1975104"/>
            <a:ext cx="868680" cy="621792"/>
          </a:xfrm>
          <a:prstGeom prst="rect">
            <a:avLst/>
          </a:prstGeom>
          <a:noFill/>
          <a:ln/>
        </p:spPr>
        <p:txBody>
          <a:bodyPr wrap="square" lIns="0" tIns="0" rIns="0" bIns="0" rtlCol="0" anchor="ctr"/>
          <a:lstStyle/>
          <a:p>
            <a:pPr indent="0" marL="0">
              <a:buNone/>
            </a:pPr>
            <a:r>
              <a:rPr lang="en-US" sz="3800" b="1" dirty="0">
                <a:solidFill>
                  <a:srgbClr val="F59E0B"/>
                </a:solidFill>
                <a:latin typeface="Cambria" pitchFamily="34" charset="0"/>
                <a:ea typeface="Cambria" pitchFamily="34" charset="-122"/>
                <a:cs typeface="Cambria" pitchFamily="34" charset="-120"/>
              </a:rPr>
              <a:t>01</a:t>
            </a:r>
            <a:endParaRPr lang="en-US" sz="3800" dirty="0"/>
          </a:p>
        </p:txBody>
      </p:sp>
      <p:sp>
        <p:nvSpPr>
          <p:cNvPr id="6" name="Text 4"/>
          <p:cNvSpPr txBox="1"/>
          <p:nvPr/>
        </p:nvSpPr>
        <p:spPr>
          <a:xfrm>
            <a:off x="1920240" y="1883664"/>
            <a:ext cx="9302191" cy="822960"/>
          </a:xfrm>
          <a:prstGeom prst="rect">
            <a:avLst/>
          </a:prstGeom>
          <a:noFill/>
          <a:ln/>
        </p:spPr>
        <p:txBody>
          <a:bodyPr wrap="square" lIns="0" tIns="0" rIns="0" bIns="0" rtlCol="0" anchor="ctr"/>
          <a:lstStyle/>
          <a:p>
            <a:pPr indent="0" marL="0">
              <a:lnSpc>
                <a:spcPct val="128000"/>
              </a:lnSpc>
              <a:buNone/>
            </a:pPr>
            <a:r>
              <a:rPr lang="en-US" sz="1500" dirty="0">
                <a:solidFill>
                  <a:srgbClr val="FFFFFF"/>
                </a:solidFill>
                <a:latin typeface="Arial" pitchFamily="34" charset="0"/>
                <a:ea typeface="Arial" pitchFamily="34" charset="-122"/>
                <a:cs typeface="Arial" pitchFamily="34" charset="-120"/>
              </a:rPr>
              <a:t>KI ist in der Breite angekommen: Erstmals nutzt mit 57 % die Mehrheit der Unternehmen in Deutschland KI — 2024 waren es erst 20 %.</a:t>
            </a:r>
            <a:endParaRPr lang="en-US" sz="1500" dirty="0"/>
          </a:p>
        </p:txBody>
      </p:sp>
      <p:sp>
        <p:nvSpPr>
          <p:cNvPr id="7" name="Shape 5"/>
          <p:cNvSpPr/>
          <p:nvPr/>
        </p:nvSpPr>
        <p:spPr>
          <a:xfrm>
            <a:off x="566928" y="3090672"/>
            <a:ext cx="11057839" cy="1170432"/>
          </a:xfrm>
          <a:prstGeom prst="roundRect">
            <a:avLst>
              <a:gd name="adj" fmla="val 4688"/>
            </a:avLst>
          </a:prstGeom>
          <a:solidFill>
            <a:srgbClr val="24438F"/>
          </a:solidFill>
          <a:ln w="12700">
            <a:solidFill>
              <a:srgbClr val="3B62C9"/>
            </a:solidFill>
            <a:prstDash val="solid"/>
          </a:ln>
        </p:spPr>
      </p:sp>
      <p:sp>
        <p:nvSpPr>
          <p:cNvPr id="8" name="Text 6"/>
          <p:cNvSpPr txBox="1"/>
          <p:nvPr/>
        </p:nvSpPr>
        <p:spPr>
          <a:xfrm>
            <a:off x="914400" y="3364992"/>
            <a:ext cx="868680" cy="621792"/>
          </a:xfrm>
          <a:prstGeom prst="rect">
            <a:avLst/>
          </a:prstGeom>
          <a:noFill/>
          <a:ln/>
        </p:spPr>
        <p:txBody>
          <a:bodyPr wrap="square" lIns="0" tIns="0" rIns="0" bIns="0" rtlCol="0" anchor="ctr"/>
          <a:lstStyle/>
          <a:p>
            <a:pPr indent="0" marL="0">
              <a:buNone/>
            </a:pPr>
            <a:r>
              <a:rPr lang="en-US" sz="3800" b="1" dirty="0">
                <a:solidFill>
                  <a:srgbClr val="F59E0B"/>
                </a:solidFill>
                <a:latin typeface="Cambria" pitchFamily="34" charset="0"/>
                <a:ea typeface="Cambria" pitchFamily="34" charset="-122"/>
                <a:cs typeface="Cambria" pitchFamily="34" charset="-120"/>
              </a:rPr>
              <a:t>02</a:t>
            </a:r>
            <a:endParaRPr lang="en-US" sz="3800" dirty="0"/>
          </a:p>
        </p:txBody>
      </p:sp>
      <p:sp>
        <p:nvSpPr>
          <p:cNvPr id="9" name="Text 7"/>
          <p:cNvSpPr txBox="1"/>
          <p:nvPr/>
        </p:nvSpPr>
        <p:spPr>
          <a:xfrm>
            <a:off x="1920240" y="3273552"/>
            <a:ext cx="9302191" cy="822960"/>
          </a:xfrm>
          <a:prstGeom prst="rect">
            <a:avLst/>
          </a:prstGeom>
          <a:noFill/>
          <a:ln/>
        </p:spPr>
        <p:txBody>
          <a:bodyPr wrap="square" lIns="0" tIns="0" rIns="0" bIns="0" rtlCol="0" anchor="ctr"/>
          <a:lstStyle/>
          <a:p>
            <a:pPr indent="0" marL="0">
              <a:lnSpc>
                <a:spcPct val="128000"/>
              </a:lnSpc>
              <a:buNone/>
            </a:pPr>
            <a:r>
              <a:rPr lang="en-US" sz="1500" dirty="0">
                <a:solidFill>
                  <a:srgbClr val="FFFFFF"/>
                </a:solidFill>
                <a:latin typeface="Arial" pitchFamily="34" charset="0"/>
                <a:ea typeface="Arial" pitchFamily="34" charset="-122"/>
                <a:cs typeface="Arial" pitchFamily="34" charset="-120"/>
              </a:rPr>
              <a:t>Im E-Commerce zahlt sich das messbar aus: 12 Mrd. $ zusätzlicher Umsatz über einen einzigen Assistenten bei Amazon, 8 % weniger größenbedingte Retouren bei Zalando.</a:t>
            </a:r>
            <a:endParaRPr lang="en-US" sz="1500" dirty="0"/>
          </a:p>
        </p:txBody>
      </p:sp>
      <p:sp>
        <p:nvSpPr>
          <p:cNvPr id="10" name="Shape 8"/>
          <p:cNvSpPr/>
          <p:nvPr/>
        </p:nvSpPr>
        <p:spPr>
          <a:xfrm>
            <a:off x="566928" y="4480560"/>
            <a:ext cx="11057839" cy="1170432"/>
          </a:xfrm>
          <a:prstGeom prst="roundRect">
            <a:avLst>
              <a:gd name="adj" fmla="val 4688"/>
            </a:avLst>
          </a:prstGeom>
          <a:solidFill>
            <a:srgbClr val="24438F"/>
          </a:solidFill>
          <a:ln w="12700">
            <a:solidFill>
              <a:srgbClr val="3B62C9"/>
            </a:solidFill>
            <a:prstDash val="solid"/>
          </a:ln>
        </p:spPr>
      </p:sp>
      <p:sp>
        <p:nvSpPr>
          <p:cNvPr id="11" name="Text 9"/>
          <p:cNvSpPr txBox="1"/>
          <p:nvPr/>
        </p:nvSpPr>
        <p:spPr>
          <a:xfrm>
            <a:off x="914400" y="4754880"/>
            <a:ext cx="868680" cy="621792"/>
          </a:xfrm>
          <a:prstGeom prst="rect">
            <a:avLst/>
          </a:prstGeom>
          <a:noFill/>
          <a:ln/>
        </p:spPr>
        <p:txBody>
          <a:bodyPr wrap="square" lIns="0" tIns="0" rIns="0" bIns="0" rtlCol="0" anchor="ctr"/>
          <a:lstStyle/>
          <a:p>
            <a:pPr indent="0" marL="0">
              <a:buNone/>
            </a:pPr>
            <a:r>
              <a:rPr lang="en-US" sz="3800" b="1" dirty="0">
                <a:solidFill>
                  <a:srgbClr val="F59E0B"/>
                </a:solidFill>
                <a:latin typeface="Cambria" pitchFamily="34" charset="0"/>
                <a:ea typeface="Cambria" pitchFamily="34" charset="-122"/>
                <a:cs typeface="Cambria" pitchFamily="34" charset="-120"/>
              </a:rPr>
              <a:t>03</a:t>
            </a:r>
            <a:endParaRPr lang="en-US" sz="3800" dirty="0"/>
          </a:p>
        </p:txBody>
      </p:sp>
      <p:sp>
        <p:nvSpPr>
          <p:cNvPr id="12" name="Text 10"/>
          <p:cNvSpPr txBox="1"/>
          <p:nvPr/>
        </p:nvSpPr>
        <p:spPr>
          <a:xfrm>
            <a:off x="1920240" y="4663440"/>
            <a:ext cx="9302191" cy="822960"/>
          </a:xfrm>
          <a:prstGeom prst="rect">
            <a:avLst/>
          </a:prstGeom>
          <a:noFill/>
          <a:ln/>
        </p:spPr>
        <p:txBody>
          <a:bodyPr wrap="square" lIns="0" tIns="0" rIns="0" bIns="0" rtlCol="0" anchor="ctr"/>
          <a:lstStyle/>
          <a:p>
            <a:pPr indent="0" marL="0">
              <a:lnSpc>
                <a:spcPct val="128000"/>
              </a:lnSpc>
              <a:buNone/>
            </a:pPr>
            <a:r>
              <a:rPr lang="en-US" sz="1500" dirty="0">
                <a:solidFill>
                  <a:srgbClr val="FFFFFF"/>
                </a:solidFill>
                <a:latin typeface="Arial" pitchFamily="34" charset="0"/>
                <a:ea typeface="Arial" pitchFamily="34" charset="-122"/>
                <a:cs typeface="Arial" pitchFamily="34" charset="-120"/>
              </a:rPr>
              <a:t>Der Engpass ist nicht die Technik, sondern Vertrauen, Daten und Regeln — erst 6,3 % kaufen vollständig per KI, und ab dem 2. August 2026 muss sich jeder Chatbot in der EU als KI zu erkennen geben.</a:t>
            </a:r>
            <a:endParaRPr lang="en-US" sz="1500" dirty="0"/>
          </a:p>
        </p:txBody>
      </p:sp>
      <p:sp>
        <p:nvSpPr>
          <p:cNvPr id="13" name="Text 11"/>
          <p:cNvSpPr txBox="1"/>
          <p:nvPr/>
        </p:nvSpPr>
        <p:spPr>
          <a:xfrm>
            <a:off x="566928" y="6217920"/>
            <a:ext cx="10051999" cy="384048"/>
          </a:xfrm>
          <a:prstGeom prst="rect">
            <a:avLst/>
          </a:prstGeom>
          <a:noFill/>
          <a:ln/>
        </p:spPr>
        <p:txBody>
          <a:bodyPr wrap="square" lIns="0" tIns="0" rIns="0" bIns="0" rtlCol="0" anchor="t"/>
          <a:lstStyle/>
          <a:p>
            <a:pPr indent="0" marL="0">
              <a:lnSpc>
                <a:spcPct val="115000"/>
              </a:lnSpc>
              <a:buNone/>
            </a:pPr>
            <a:r>
              <a:rPr lang="en-US" sz="900" dirty="0">
                <a:solidFill>
                  <a:srgbClr val="8FAEE4"/>
                </a:solidFill>
                <a:latin typeface="Arial" pitchFamily="34" charset="0"/>
                <a:ea typeface="Arial" pitchFamily="34" charset="-122"/>
                <a:cs typeface="Arial" pitchFamily="34" charset="-120"/>
              </a:rPr>
              <a:t>Quelle: Bitkom, KI in Deutschland 2026 (n = 603 Unternehmen ab 20 Beschäftigten), Stand 09/2026  ·  Amazon, Q4/GJ-2025-Ergebnisse und Earnings Call, 02/2026  ·  Zalando SE, Geschäftsjahr 2025 (Veröffentlichung 12.03.2026)  ·  bevh, Jahreszahlen 2025  ·  Verordnung (EU) 2024/1689 (KI-VO), Art. 50 und 113; Digital Omnibus on AI</a:t>
            </a:r>
            <a:endParaRPr lang="en-US" sz="900" dirty="0"/>
          </a:p>
        </p:txBody>
      </p:sp>
      <p:sp>
        <p:nvSpPr>
          <p:cNvPr id="14" name="Text 12"/>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8FAEE4"/>
                </a:solidFill>
                <a:latin typeface="Arial" pitchFamily="34" charset="0"/>
                <a:ea typeface="Arial" pitchFamily="34" charset="-122"/>
                <a:cs typeface="Arial"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66928" y="457200"/>
            <a:ext cx="7315200" cy="237744"/>
          </a:xfrm>
          <a:prstGeom prst="rect">
            <a:avLst/>
          </a:prstGeom>
          <a:noFill/>
          <a:ln/>
        </p:spPr>
        <p:txBody>
          <a:bodyPr wrap="square" lIns="0" tIns="0" rIns="0" bIns="0" rtlCol="0" anchor="ctr"/>
          <a:lstStyle/>
          <a:p>
            <a:pPr indent="0" marL="0">
              <a:buNone/>
            </a:pPr>
            <a:r>
              <a:rPr lang="en-US" sz="1050" b="1" spc="180" kern="0" dirty="0">
                <a:solidFill>
                  <a:srgbClr val="D97706"/>
                </a:solidFill>
                <a:latin typeface="Arial" pitchFamily="34" charset="0"/>
                <a:ea typeface="Arial" pitchFamily="34" charset="-122"/>
                <a:cs typeface="Arial" pitchFamily="34" charset="-120"/>
              </a:rPr>
              <a:t>QUELLEN</a:t>
            </a:r>
            <a:endParaRPr lang="en-US" sz="1050" dirty="0"/>
          </a:p>
        </p:txBody>
      </p:sp>
      <p:sp>
        <p:nvSpPr>
          <p:cNvPr id="3" name="Text 1"/>
          <p:cNvSpPr txBox="1"/>
          <p:nvPr/>
        </p:nvSpPr>
        <p:spPr>
          <a:xfrm>
            <a:off x="566928" y="731520"/>
            <a:ext cx="10424160" cy="658368"/>
          </a:xfrm>
          <a:prstGeom prst="rect">
            <a:avLst/>
          </a:prstGeom>
          <a:noFill/>
          <a:ln/>
        </p:spPr>
        <p:txBody>
          <a:bodyPr wrap="square" lIns="0" tIns="0" rIns="0" bIns="0" rtlCol="0" anchor="ctr"/>
          <a:lstStyle/>
          <a:p>
            <a:pPr indent="0" marL="0">
              <a:buNone/>
            </a:pPr>
            <a:r>
              <a:rPr lang="en-US" sz="2900" b="1" dirty="0">
                <a:solidFill>
                  <a:srgbClr val="1E3A8A"/>
                </a:solidFill>
                <a:latin typeface="Cambria" pitchFamily="34" charset="0"/>
                <a:ea typeface="Cambria" pitchFamily="34" charset="-122"/>
                <a:cs typeface="Cambria" pitchFamily="34" charset="-120"/>
              </a:rPr>
              <a:t>Quellen und Abrufdatum</a:t>
            </a:r>
            <a:endParaRPr lang="en-US" sz="2900" dirty="0"/>
          </a:p>
        </p:txBody>
      </p:sp>
      <p:sp>
        <p:nvSpPr>
          <p:cNvPr id="4" name="Text 2"/>
          <p:cNvSpPr txBox="1"/>
          <p:nvPr/>
        </p:nvSpPr>
        <p:spPr>
          <a:xfrm>
            <a:off x="566928" y="1463040"/>
            <a:ext cx="11057839" cy="237744"/>
          </a:xfrm>
          <a:prstGeom prst="rect">
            <a:avLst/>
          </a:prstGeom>
          <a:noFill/>
          <a:ln/>
        </p:spPr>
        <p:txBody>
          <a:bodyPr wrap="square" lIns="0" tIns="0" rIns="0" bIns="0" rtlCol="0" anchor="ctr"/>
          <a:lstStyle/>
          <a:p>
            <a:pPr indent="0" marL="0">
              <a:buNone/>
            </a:pPr>
            <a:r>
              <a:rPr lang="en-US" sz="1100" dirty="0">
                <a:solidFill>
                  <a:srgbClr val="475569"/>
                </a:solidFill>
                <a:latin typeface="Arial" pitchFamily="34" charset="0"/>
                <a:ea typeface="Arial" pitchFamily="34" charset="-122"/>
                <a:cs typeface="Arial" pitchFamily="34" charset="-120"/>
              </a:rPr>
              <a:t>Alle Internetquellen zuletzt abgerufen am 18.09.2026. Wo eine Zahl aus einer Berichterstattung über eine Primärquelle stammt, ist das ausgewiesen.</a:t>
            </a:r>
            <a:endParaRPr lang="en-US" sz="1100" dirty="0"/>
          </a:p>
        </p:txBody>
      </p:sp>
      <p:sp>
        <p:nvSpPr>
          <p:cNvPr id="5" name="Text 3"/>
          <p:cNvSpPr txBox="1"/>
          <p:nvPr/>
        </p:nvSpPr>
        <p:spPr>
          <a:xfrm>
            <a:off x="566928" y="1773936"/>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01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Bitkom e. V.: </a:t>
            </a:r>
            <a:pPr indent="0" marL="0">
              <a:lnSpc>
                <a:spcPct val="100000"/>
              </a:lnSpc>
              <a:buNone/>
            </a:pPr>
            <a:r>
              <a:rPr lang="en-US" sz="850" dirty="0">
                <a:solidFill>
                  <a:srgbClr val="1E3A8A"/>
                </a:solidFill>
                <a:latin typeface="Arial" pitchFamily="34" charset="0"/>
                <a:ea typeface="Arial" pitchFamily="34" charset="-122"/>
                <a:cs typeface="Arial" pitchFamily="34" charset="-120"/>
              </a:rPr>
              <a:t>KI in Deutschland 2026, Presseinfo 14.09.2026 (n = 603)</a:t>
            </a:r>
            <a:endParaRPr lang="en-US" sz="850" dirty="0"/>
          </a:p>
        </p:txBody>
      </p:sp>
      <p:sp>
        <p:nvSpPr>
          <p:cNvPr id="6" name="Text 4"/>
          <p:cNvSpPr txBox="1"/>
          <p:nvPr/>
        </p:nvSpPr>
        <p:spPr>
          <a:xfrm>
            <a:off x="822960" y="1984248"/>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https://www.bitkom.org/Presse/Presseinformation/Erstmals-nutzt-Mehrheit-Unternehmen-KI</a:t>
            </a:r>
            <a:endParaRPr lang="en-US" sz="750" dirty="0"/>
          </a:p>
        </p:txBody>
      </p:sp>
      <p:sp>
        <p:nvSpPr>
          <p:cNvPr id="7" name="Text 5"/>
          <p:cNvSpPr txBox="1"/>
          <p:nvPr/>
        </p:nvSpPr>
        <p:spPr>
          <a:xfrm>
            <a:off x="566928" y="2249424"/>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02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Bitkom e. V.: </a:t>
            </a:r>
            <a:pPr indent="0" marL="0">
              <a:lnSpc>
                <a:spcPct val="100000"/>
              </a:lnSpc>
              <a:buNone/>
            </a:pPr>
            <a:r>
              <a:rPr lang="en-US" sz="850" dirty="0">
                <a:solidFill>
                  <a:srgbClr val="1E3A8A"/>
                </a:solidFill>
                <a:latin typeface="Arial" pitchFamily="34" charset="0"/>
                <a:ea typeface="Arial" pitchFamily="34" charset="-122"/>
                <a:cs typeface="Arial" pitchFamily="34" charset="-120"/>
              </a:rPr>
              <a:t>Digitaler Handel in Deutschland 2026 (n = 1.072)</a:t>
            </a:r>
            <a:endParaRPr lang="en-US" sz="850" dirty="0"/>
          </a:p>
        </p:txBody>
      </p:sp>
      <p:sp>
        <p:nvSpPr>
          <p:cNvPr id="8" name="Text 6"/>
          <p:cNvSpPr txBox="1"/>
          <p:nvPr/>
        </p:nvSpPr>
        <p:spPr>
          <a:xfrm>
            <a:off x="822960" y="2459736"/>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https://www.bitkom.org/sites/main/files/2026-07/bitkom-studienbericht-digitaler-handel-in-deutschland.pdf</a:t>
            </a:r>
            <a:endParaRPr lang="en-US" sz="750" dirty="0"/>
          </a:p>
        </p:txBody>
      </p:sp>
      <p:sp>
        <p:nvSpPr>
          <p:cNvPr id="9" name="Text 7"/>
          <p:cNvSpPr txBox="1"/>
          <p:nvPr/>
        </p:nvSpPr>
        <p:spPr>
          <a:xfrm>
            <a:off x="566928" y="2724912"/>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03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Gartner: </a:t>
            </a:r>
            <a:pPr indent="0" marL="0">
              <a:lnSpc>
                <a:spcPct val="100000"/>
              </a:lnSpc>
              <a:buNone/>
            </a:pPr>
            <a:r>
              <a:rPr lang="en-US" sz="850" dirty="0">
                <a:solidFill>
                  <a:srgbClr val="1E3A8A"/>
                </a:solidFill>
                <a:latin typeface="Arial" pitchFamily="34" charset="0"/>
                <a:ea typeface="Arial" pitchFamily="34" charset="-122"/>
                <a:cs typeface="Arial" pitchFamily="34" charset="-120"/>
              </a:rPr>
              <a:t>Worldwide AI Spending to Grow 47 % in 2026 (19.05.2026)</a:t>
            </a:r>
            <a:endParaRPr lang="en-US" sz="850" dirty="0"/>
          </a:p>
        </p:txBody>
      </p:sp>
      <p:sp>
        <p:nvSpPr>
          <p:cNvPr id="10" name="Text 8"/>
          <p:cNvSpPr txBox="1"/>
          <p:nvPr/>
        </p:nvSpPr>
        <p:spPr>
          <a:xfrm>
            <a:off x="822960" y="2935224"/>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https://www.gartner.com/en/newsroom/press-releases/2026-05-19-gartner-forecasts-worldwide-ai-spending-to-grow-47-percent-in-2026</a:t>
            </a:r>
            <a:endParaRPr lang="en-US" sz="750" dirty="0"/>
          </a:p>
        </p:txBody>
      </p:sp>
      <p:sp>
        <p:nvSpPr>
          <p:cNvPr id="11" name="Text 9"/>
          <p:cNvSpPr txBox="1"/>
          <p:nvPr/>
        </p:nvSpPr>
        <p:spPr>
          <a:xfrm>
            <a:off x="566928" y="3200400"/>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04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HDE: </a:t>
            </a:r>
            <a:pPr indent="0" marL="0">
              <a:lnSpc>
                <a:spcPct val="100000"/>
              </a:lnSpc>
              <a:buNone/>
            </a:pPr>
            <a:r>
              <a:rPr lang="en-US" sz="850" dirty="0">
                <a:solidFill>
                  <a:srgbClr val="1E3A8A"/>
                </a:solidFill>
                <a:latin typeface="Arial" pitchFamily="34" charset="0"/>
                <a:ea typeface="Arial" pitchFamily="34" charset="-122"/>
                <a:cs typeface="Arial" pitchFamily="34" charset="-120"/>
              </a:rPr>
              <a:t>Online-Monitor 2026, Meldung vom 03.06.2026</a:t>
            </a:r>
            <a:endParaRPr lang="en-US" sz="850" dirty="0"/>
          </a:p>
        </p:txBody>
      </p:sp>
      <p:sp>
        <p:nvSpPr>
          <p:cNvPr id="12" name="Text 10"/>
          <p:cNvSpPr txBox="1"/>
          <p:nvPr/>
        </p:nvSpPr>
        <p:spPr>
          <a:xfrm>
            <a:off x="822960" y="3410712"/>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https://einzelhandel.de/online-monitor</a:t>
            </a:r>
            <a:endParaRPr lang="en-US" sz="750" dirty="0"/>
          </a:p>
        </p:txBody>
      </p:sp>
      <p:sp>
        <p:nvSpPr>
          <p:cNvPr id="13" name="Text 11"/>
          <p:cNvSpPr txBox="1"/>
          <p:nvPr/>
        </p:nvSpPr>
        <p:spPr>
          <a:xfrm>
            <a:off x="566928" y="3675888"/>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05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bevh: </a:t>
            </a:r>
            <a:pPr indent="0" marL="0">
              <a:lnSpc>
                <a:spcPct val="100000"/>
              </a:lnSpc>
              <a:buNone/>
            </a:pPr>
            <a:r>
              <a:rPr lang="en-US" sz="850" dirty="0">
                <a:solidFill>
                  <a:srgbClr val="1E3A8A"/>
                </a:solidFill>
                <a:latin typeface="Arial" pitchFamily="34" charset="0"/>
                <a:ea typeface="Arial" pitchFamily="34" charset="-122"/>
                <a:cs typeface="Arial" pitchFamily="34" charset="-120"/>
              </a:rPr>
              <a:t>Jahreszahlen 2025 zum deutschen E-Commerce</a:t>
            </a:r>
            <a:endParaRPr lang="en-US" sz="850" dirty="0"/>
          </a:p>
        </p:txBody>
      </p:sp>
      <p:sp>
        <p:nvSpPr>
          <p:cNvPr id="14" name="Text 12"/>
          <p:cNvSpPr txBox="1"/>
          <p:nvPr/>
        </p:nvSpPr>
        <p:spPr>
          <a:xfrm>
            <a:off x="822960" y="3886200"/>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https://bevh.org/detail/wachstum-im-e-commerce-lichtblick-in-der-deutschen-wirtschaft</a:t>
            </a:r>
            <a:endParaRPr lang="en-US" sz="750" dirty="0"/>
          </a:p>
        </p:txBody>
      </p:sp>
      <p:sp>
        <p:nvSpPr>
          <p:cNvPr id="15" name="Text 13"/>
          <p:cNvSpPr txBox="1"/>
          <p:nvPr/>
        </p:nvSpPr>
        <p:spPr>
          <a:xfrm>
            <a:off x="566928" y="4151376"/>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06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McKinsey &amp; Company: </a:t>
            </a:r>
            <a:pPr indent="0" marL="0">
              <a:lnSpc>
                <a:spcPct val="100000"/>
              </a:lnSpc>
              <a:buNone/>
            </a:pPr>
            <a:r>
              <a:rPr lang="en-US" sz="850" dirty="0">
                <a:solidFill>
                  <a:srgbClr val="1E3A8A"/>
                </a:solidFill>
                <a:latin typeface="Arial" pitchFamily="34" charset="0"/>
                <a:ea typeface="Arial" pitchFamily="34" charset="-122"/>
                <a:cs typeface="Arial" pitchFamily="34" charset="-120"/>
              </a:rPr>
              <a:t>The economic potential of generative AI</a:t>
            </a:r>
            <a:endParaRPr lang="en-US" sz="850" dirty="0"/>
          </a:p>
        </p:txBody>
      </p:sp>
      <p:sp>
        <p:nvSpPr>
          <p:cNvPr id="16" name="Text 14"/>
          <p:cNvSpPr txBox="1"/>
          <p:nvPr/>
        </p:nvSpPr>
        <p:spPr>
          <a:xfrm>
            <a:off x="822960" y="4361688"/>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https://www.mckinsey.com/capabilities/tech-and-ai/our-insights/the-economic-potential-of-generative-ai-the-next-productivity-frontier</a:t>
            </a:r>
            <a:endParaRPr lang="en-US" sz="750" dirty="0"/>
          </a:p>
        </p:txBody>
      </p:sp>
      <p:sp>
        <p:nvSpPr>
          <p:cNvPr id="17" name="Text 15"/>
          <p:cNvSpPr txBox="1"/>
          <p:nvPr/>
        </p:nvSpPr>
        <p:spPr>
          <a:xfrm>
            <a:off x="566928" y="4626864"/>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07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McKinsey &amp; Company: </a:t>
            </a:r>
            <a:pPr indent="0" marL="0">
              <a:lnSpc>
                <a:spcPct val="100000"/>
              </a:lnSpc>
              <a:buNone/>
            </a:pPr>
            <a:r>
              <a:rPr lang="en-US" sz="850" dirty="0">
                <a:solidFill>
                  <a:srgbClr val="1E3A8A"/>
                </a:solidFill>
                <a:latin typeface="Arial" pitchFamily="34" charset="0"/>
                <a:ea typeface="Arial" pitchFamily="34" charset="-122"/>
                <a:cs typeface="Arial" pitchFamily="34" charset="-120"/>
              </a:rPr>
              <a:t>The state of AI (2025)</a:t>
            </a:r>
            <a:endParaRPr lang="en-US" sz="850" dirty="0"/>
          </a:p>
        </p:txBody>
      </p:sp>
      <p:sp>
        <p:nvSpPr>
          <p:cNvPr id="18" name="Text 16"/>
          <p:cNvSpPr txBox="1"/>
          <p:nvPr/>
        </p:nvSpPr>
        <p:spPr>
          <a:xfrm>
            <a:off x="822960" y="4837176"/>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https://www.mckinsey.com/capabilities/quantumblack/our-insights/the-state-of-ai</a:t>
            </a:r>
            <a:endParaRPr lang="en-US" sz="750" dirty="0"/>
          </a:p>
        </p:txBody>
      </p:sp>
      <p:sp>
        <p:nvSpPr>
          <p:cNvPr id="19" name="Text 17"/>
          <p:cNvSpPr txBox="1"/>
          <p:nvPr/>
        </p:nvSpPr>
        <p:spPr>
          <a:xfrm>
            <a:off x="566928" y="5102352"/>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08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McKinsey &amp; Company: </a:t>
            </a:r>
            <a:pPr indent="0" marL="0">
              <a:lnSpc>
                <a:spcPct val="100000"/>
              </a:lnSpc>
              <a:buNone/>
            </a:pPr>
            <a:r>
              <a:rPr lang="en-US" sz="850" dirty="0">
                <a:solidFill>
                  <a:srgbClr val="1E3A8A"/>
                </a:solidFill>
                <a:latin typeface="Arial" pitchFamily="34" charset="0"/>
                <a:ea typeface="Arial" pitchFamily="34" charset="-122"/>
                <a:cs typeface="Arial" pitchFamily="34" charset="-120"/>
              </a:rPr>
              <a:t>Agentic Commerce 2030, via Digital Commerce 360</a:t>
            </a:r>
            <a:endParaRPr lang="en-US" sz="850" dirty="0"/>
          </a:p>
        </p:txBody>
      </p:sp>
      <p:sp>
        <p:nvSpPr>
          <p:cNvPr id="20" name="Text 18"/>
          <p:cNvSpPr txBox="1"/>
          <p:nvPr/>
        </p:nvSpPr>
        <p:spPr>
          <a:xfrm>
            <a:off x="822960" y="5312664"/>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https://www.digitalcommerce360.com/2025/10/20/mckinsey-forecast-5-trillion-agentic-commerce-sales-2030/</a:t>
            </a:r>
            <a:endParaRPr lang="en-US" sz="750" dirty="0"/>
          </a:p>
        </p:txBody>
      </p:sp>
      <p:sp>
        <p:nvSpPr>
          <p:cNvPr id="21" name="Text 19"/>
          <p:cNvSpPr txBox="1"/>
          <p:nvPr/>
        </p:nvSpPr>
        <p:spPr>
          <a:xfrm>
            <a:off x="6178144" y="1773936"/>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09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IAB: </a:t>
            </a:r>
            <a:pPr indent="0" marL="0">
              <a:lnSpc>
                <a:spcPct val="100000"/>
              </a:lnSpc>
              <a:buNone/>
            </a:pPr>
            <a:r>
              <a:rPr lang="en-US" sz="850" dirty="0">
                <a:solidFill>
                  <a:srgbClr val="1E3A8A"/>
                </a:solidFill>
                <a:latin typeface="Arial" pitchFamily="34" charset="0"/>
                <a:ea typeface="Arial" pitchFamily="34" charset="-122"/>
                <a:cs typeface="Arial" pitchFamily="34" charset="-120"/>
              </a:rPr>
              <a:t>Forschungsbericht 23/2025 zu KI und Beschäftigung</a:t>
            </a:r>
            <a:endParaRPr lang="en-US" sz="850" dirty="0"/>
          </a:p>
        </p:txBody>
      </p:sp>
      <p:sp>
        <p:nvSpPr>
          <p:cNvPr id="22" name="Text 20"/>
          <p:cNvSpPr txBox="1"/>
          <p:nvPr/>
        </p:nvSpPr>
        <p:spPr>
          <a:xfrm>
            <a:off x="6434176" y="1984248"/>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https://doku.iab.de/forschungsbericht/2025/fb2325.pdf</a:t>
            </a:r>
            <a:endParaRPr lang="en-US" sz="750" dirty="0"/>
          </a:p>
        </p:txBody>
      </p:sp>
      <p:sp>
        <p:nvSpPr>
          <p:cNvPr id="23" name="Text 21"/>
          <p:cNvSpPr txBox="1"/>
          <p:nvPr/>
        </p:nvSpPr>
        <p:spPr>
          <a:xfrm>
            <a:off x="6178144" y="2249424"/>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10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Amazon.com, Inc.: </a:t>
            </a:r>
            <a:pPr indent="0" marL="0">
              <a:lnSpc>
                <a:spcPct val="100000"/>
              </a:lnSpc>
              <a:buNone/>
            </a:pPr>
            <a:r>
              <a:rPr lang="en-US" sz="850" dirty="0">
                <a:solidFill>
                  <a:srgbClr val="1E3A8A"/>
                </a:solidFill>
                <a:latin typeface="Arial" pitchFamily="34" charset="0"/>
                <a:ea typeface="Arial" pitchFamily="34" charset="-122"/>
                <a:cs typeface="Arial" pitchFamily="34" charset="-120"/>
              </a:rPr>
              <a:t>Q4/GJ 2025, Ergebnisse und Earnings Call (02/2026)</a:t>
            </a:r>
            <a:endParaRPr lang="en-US" sz="850" dirty="0"/>
          </a:p>
        </p:txBody>
      </p:sp>
      <p:sp>
        <p:nvSpPr>
          <p:cNvPr id="24" name="Text 22"/>
          <p:cNvSpPr txBox="1"/>
          <p:nvPr/>
        </p:nvSpPr>
        <p:spPr>
          <a:xfrm>
            <a:off x="6434176" y="2459736"/>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https://ir.aboutamazon.com/quarterly-results/</a:t>
            </a:r>
            <a:endParaRPr lang="en-US" sz="750" dirty="0"/>
          </a:p>
        </p:txBody>
      </p:sp>
      <p:sp>
        <p:nvSpPr>
          <p:cNvPr id="25" name="Text 23"/>
          <p:cNvSpPr txBox="1"/>
          <p:nvPr/>
        </p:nvSpPr>
        <p:spPr>
          <a:xfrm>
            <a:off x="6178144" y="2724912"/>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11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Zalando SE: </a:t>
            </a:r>
            <a:pPr indent="0" marL="0">
              <a:lnSpc>
                <a:spcPct val="100000"/>
              </a:lnSpc>
              <a:buNone/>
            </a:pPr>
            <a:r>
              <a:rPr lang="en-US" sz="850" dirty="0">
                <a:solidFill>
                  <a:srgbClr val="1E3A8A"/>
                </a:solidFill>
                <a:latin typeface="Arial" pitchFamily="34" charset="0"/>
                <a:ea typeface="Arial" pitchFamily="34" charset="-122"/>
                <a:cs typeface="Arial" pitchFamily="34" charset="-120"/>
              </a:rPr>
              <a:t>Geschäftsjahr 2025, veröffentlicht am 12.03.2026</a:t>
            </a:r>
            <a:endParaRPr lang="en-US" sz="850" dirty="0"/>
          </a:p>
        </p:txBody>
      </p:sp>
      <p:sp>
        <p:nvSpPr>
          <p:cNvPr id="26" name="Text 24"/>
          <p:cNvSpPr txBox="1"/>
          <p:nvPr/>
        </p:nvSpPr>
        <p:spPr>
          <a:xfrm>
            <a:off x="6434176" y="2935224"/>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https://corporate.zalando.com/en/investor-relations/zalando-full-year-2025-results</a:t>
            </a:r>
            <a:endParaRPr lang="en-US" sz="750" dirty="0"/>
          </a:p>
        </p:txBody>
      </p:sp>
      <p:sp>
        <p:nvSpPr>
          <p:cNvPr id="27" name="Text 25"/>
          <p:cNvSpPr txBox="1"/>
          <p:nvPr/>
        </p:nvSpPr>
        <p:spPr>
          <a:xfrm>
            <a:off x="6178144" y="3200400"/>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12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Shopify Inc.: </a:t>
            </a:r>
            <a:pPr indent="0" marL="0">
              <a:lnSpc>
                <a:spcPct val="100000"/>
              </a:lnSpc>
              <a:buNone/>
            </a:pPr>
            <a:r>
              <a:rPr lang="en-US" sz="850" dirty="0">
                <a:solidFill>
                  <a:srgbClr val="1E3A8A"/>
                </a:solidFill>
                <a:latin typeface="Arial" pitchFamily="34" charset="0"/>
                <a:ea typeface="Arial" pitchFamily="34" charset="-122"/>
                <a:cs typeface="Arial" pitchFamily="34" charset="-120"/>
              </a:rPr>
              <a:t>Editions Winter ’26 und Enterprise-AI-Seite</a:t>
            </a:r>
            <a:endParaRPr lang="en-US" sz="850" dirty="0"/>
          </a:p>
        </p:txBody>
      </p:sp>
      <p:sp>
        <p:nvSpPr>
          <p:cNvPr id="28" name="Text 26"/>
          <p:cNvSpPr txBox="1"/>
          <p:nvPr/>
        </p:nvSpPr>
        <p:spPr>
          <a:xfrm>
            <a:off x="6434176" y="3410712"/>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https://www.shopify.com/editions/winter2026</a:t>
            </a:r>
            <a:endParaRPr lang="en-US" sz="750" dirty="0"/>
          </a:p>
        </p:txBody>
      </p:sp>
      <p:sp>
        <p:nvSpPr>
          <p:cNvPr id="29" name="Text 27"/>
          <p:cNvSpPr txBox="1"/>
          <p:nvPr/>
        </p:nvSpPr>
        <p:spPr>
          <a:xfrm>
            <a:off x="6178144" y="3675888"/>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13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Klarna Bank AB: </a:t>
            </a:r>
            <a:pPr indent="0" marL="0">
              <a:lnSpc>
                <a:spcPct val="100000"/>
              </a:lnSpc>
              <a:buNone/>
            </a:pPr>
            <a:r>
              <a:rPr lang="en-US" sz="850" dirty="0">
                <a:solidFill>
                  <a:srgbClr val="1E3A8A"/>
                </a:solidFill>
                <a:latin typeface="Arial" pitchFamily="34" charset="0"/>
                <a:ea typeface="Arial" pitchFamily="34" charset="-122"/>
                <a:cs typeface="Arial" pitchFamily="34" charset="-120"/>
              </a:rPr>
              <a:t>Presseinfo zum KI-Assistenten; Kurskorrektur 2025</a:t>
            </a:r>
            <a:endParaRPr lang="en-US" sz="850" dirty="0"/>
          </a:p>
        </p:txBody>
      </p:sp>
      <p:sp>
        <p:nvSpPr>
          <p:cNvPr id="30" name="Text 28"/>
          <p:cNvSpPr txBox="1"/>
          <p:nvPr/>
        </p:nvSpPr>
        <p:spPr>
          <a:xfrm>
            <a:off x="6434176" y="3886200"/>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https://www.klarna.com/international/press/klarna-ai-assistant-handles-two-thirds-of-customer-service-chats-in-its-first-month/</a:t>
            </a:r>
            <a:endParaRPr lang="en-US" sz="750" dirty="0"/>
          </a:p>
        </p:txBody>
      </p:sp>
      <p:sp>
        <p:nvSpPr>
          <p:cNvPr id="31" name="Text 29"/>
          <p:cNvSpPr txBox="1"/>
          <p:nvPr/>
        </p:nvSpPr>
        <p:spPr>
          <a:xfrm>
            <a:off x="6178144" y="4151376"/>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14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Juniper Research: </a:t>
            </a:r>
            <a:pPr indent="0" marL="0">
              <a:lnSpc>
                <a:spcPct val="100000"/>
              </a:lnSpc>
              <a:buNone/>
            </a:pPr>
            <a:r>
              <a:rPr lang="en-US" sz="850" dirty="0">
                <a:solidFill>
                  <a:srgbClr val="1E3A8A"/>
                </a:solidFill>
                <a:latin typeface="Arial" pitchFamily="34" charset="0"/>
                <a:ea typeface="Arial" pitchFamily="34" charset="-122"/>
                <a:cs typeface="Arial" pitchFamily="34" charset="-120"/>
              </a:rPr>
              <a:t>Fraud Detection &amp; Prevention Spending</a:t>
            </a:r>
            <a:endParaRPr lang="en-US" sz="850" dirty="0"/>
          </a:p>
        </p:txBody>
      </p:sp>
      <p:sp>
        <p:nvSpPr>
          <p:cNvPr id="32" name="Text 30"/>
          <p:cNvSpPr txBox="1"/>
          <p:nvPr/>
        </p:nvSpPr>
        <p:spPr>
          <a:xfrm>
            <a:off x="6434176" y="4361688"/>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https://www.juniperresearch.com/press/fraud-detection-and-prevention-spending-reaches-21bn/</a:t>
            </a:r>
            <a:endParaRPr lang="en-US" sz="750" dirty="0"/>
          </a:p>
        </p:txBody>
      </p:sp>
      <p:sp>
        <p:nvSpPr>
          <p:cNvPr id="33" name="Text 31"/>
          <p:cNvSpPr txBox="1"/>
          <p:nvPr/>
        </p:nvSpPr>
        <p:spPr>
          <a:xfrm>
            <a:off x="6178144" y="4626864"/>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15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Europäische Union: </a:t>
            </a:r>
            <a:pPr indent="0" marL="0">
              <a:lnSpc>
                <a:spcPct val="100000"/>
              </a:lnSpc>
              <a:buNone/>
            </a:pPr>
            <a:r>
              <a:rPr lang="en-US" sz="850" dirty="0">
                <a:solidFill>
                  <a:srgbClr val="1E3A8A"/>
                </a:solidFill>
                <a:latin typeface="Arial" pitchFamily="34" charset="0"/>
                <a:ea typeface="Arial" pitchFamily="34" charset="-122"/>
                <a:cs typeface="Arial" pitchFamily="34" charset="-120"/>
              </a:rPr>
              <a:t>Verordnung (EU) 2024/1689, Art. 50 und 113</a:t>
            </a:r>
            <a:endParaRPr lang="en-US" sz="850" dirty="0"/>
          </a:p>
        </p:txBody>
      </p:sp>
      <p:sp>
        <p:nvSpPr>
          <p:cNvPr id="34" name="Text 32"/>
          <p:cNvSpPr txBox="1"/>
          <p:nvPr/>
        </p:nvSpPr>
        <p:spPr>
          <a:xfrm>
            <a:off x="6434176" y="4837176"/>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https://eur-lex.europa.eu/eli/reg/2024/1689/oj</a:t>
            </a:r>
            <a:endParaRPr lang="en-US" sz="750" dirty="0"/>
          </a:p>
        </p:txBody>
      </p:sp>
      <p:sp>
        <p:nvSpPr>
          <p:cNvPr id="35" name="Text 33"/>
          <p:cNvSpPr txBox="1"/>
          <p:nvPr/>
        </p:nvSpPr>
        <p:spPr>
          <a:xfrm>
            <a:off x="6178144" y="5102352"/>
            <a:ext cx="5446624" cy="201168"/>
          </a:xfrm>
          <a:prstGeom prst="rect">
            <a:avLst/>
          </a:prstGeom>
          <a:noFill/>
          <a:ln/>
        </p:spPr>
        <p:txBody>
          <a:bodyPr wrap="square" lIns="0" tIns="0" rIns="0" bIns="0" rtlCol="0" anchor="t"/>
          <a:lstStyle/>
          <a:p>
            <a:pPr indent="0" marL="0">
              <a:lnSpc>
                <a:spcPct val="100000"/>
              </a:lnSpc>
              <a:buNone/>
            </a:pPr>
            <a:r>
              <a:rPr lang="en-US" sz="850" b="1" dirty="0">
                <a:solidFill>
                  <a:srgbClr val="D97706"/>
                </a:solidFill>
                <a:latin typeface="Arial" pitchFamily="34" charset="0"/>
                <a:ea typeface="Arial" pitchFamily="34" charset="-122"/>
                <a:cs typeface="Arial" pitchFamily="34" charset="-120"/>
              </a:rPr>
              <a:t>16  </a:t>
            </a:r>
            <a:pPr indent="0" marL="0">
              <a:lnSpc>
                <a:spcPct val="100000"/>
              </a:lnSpc>
              <a:buNone/>
            </a:pPr>
            <a:r>
              <a:rPr lang="en-US" sz="850" b="1" dirty="0">
                <a:solidFill>
                  <a:srgbClr val="1E3A8A"/>
                </a:solidFill>
                <a:latin typeface="Arial" pitchFamily="34" charset="0"/>
                <a:ea typeface="Arial" pitchFamily="34" charset="-122"/>
                <a:cs typeface="Arial" pitchFamily="34" charset="-120"/>
              </a:rPr>
              <a:t>Statista / ECDB: </a:t>
            </a:r>
            <a:pPr indent="0" marL="0">
              <a:lnSpc>
                <a:spcPct val="100000"/>
              </a:lnSpc>
              <a:buNone/>
            </a:pPr>
            <a:r>
              <a:rPr lang="en-US" sz="850" dirty="0">
                <a:solidFill>
                  <a:srgbClr val="1E3A8A"/>
                </a:solidFill>
                <a:latin typeface="Arial" pitchFamily="34" charset="0"/>
                <a:ea typeface="Arial" pitchFamily="34" charset="-122"/>
                <a:cs typeface="Arial" pitchFamily="34" charset="-120"/>
              </a:rPr>
              <a:t>Globaler E-Commerce 2022–2030</a:t>
            </a:r>
            <a:endParaRPr lang="en-US" sz="850" dirty="0"/>
          </a:p>
        </p:txBody>
      </p:sp>
      <p:sp>
        <p:nvSpPr>
          <p:cNvPr id="36" name="Text 34"/>
          <p:cNvSpPr txBox="1"/>
          <p:nvPr/>
        </p:nvSpPr>
        <p:spPr>
          <a:xfrm>
            <a:off x="6434176" y="5312664"/>
            <a:ext cx="5190592" cy="256032"/>
          </a:xfrm>
          <a:prstGeom prst="rect">
            <a:avLst/>
          </a:prstGeom>
          <a:noFill/>
          <a:ln/>
        </p:spPr>
        <p:txBody>
          <a:bodyPr wrap="square" lIns="0" tIns="0" rIns="0" bIns="0" rtlCol="0" anchor="t"/>
          <a:lstStyle/>
          <a:p>
            <a:pPr indent="0" marL="0">
              <a:lnSpc>
                <a:spcPct val="105000"/>
              </a:lnSpc>
              <a:buNone/>
            </a:pPr>
            <a:r>
              <a:rPr lang="en-US" sz="750" dirty="0">
                <a:solidFill>
                  <a:srgbClr val="3B82F6"/>
                </a:solidFill>
                <a:latin typeface="Arial" pitchFamily="34" charset="0"/>
                <a:ea typeface="Arial" pitchFamily="34" charset="-122"/>
                <a:cs typeface="Arial" pitchFamily="34" charset="-120"/>
              </a:rPr>
              <a:t>https://www.statista.com/statistics/379046/worldwide-retail-e-commerce-sales/</a:t>
            </a:r>
            <a:endParaRPr lang="en-US" sz="750" dirty="0"/>
          </a:p>
        </p:txBody>
      </p:sp>
      <p:sp>
        <p:nvSpPr>
          <p:cNvPr id="37" name="Shape 35"/>
          <p:cNvSpPr/>
          <p:nvPr/>
        </p:nvSpPr>
        <p:spPr>
          <a:xfrm>
            <a:off x="566928" y="5632704"/>
            <a:ext cx="11057839" cy="438912"/>
          </a:xfrm>
          <a:prstGeom prst="roundRect">
            <a:avLst>
              <a:gd name="adj" fmla="val 12500"/>
            </a:avLst>
          </a:prstGeom>
          <a:solidFill>
            <a:srgbClr val="E9EEF6"/>
          </a:solidFill>
          <a:ln w="12700">
            <a:solidFill>
              <a:srgbClr val="DBEAFE"/>
            </a:solidFill>
            <a:prstDash val="solid"/>
          </a:ln>
        </p:spPr>
      </p:sp>
      <p:sp>
        <p:nvSpPr>
          <p:cNvPr id="38" name="Text 36"/>
          <p:cNvSpPr txBox="1"/>
          <p:nvPr/>
        </p:nvSpPr>
        <p:spPr>
          <a:xfrm>
            <a:off x="804672" y="5650992"/>
            <a:ext cx="10582351" cy="402336"/>
          </a:xfrm>
          <a:prstGeom prst="rect">
            <a:avLst/>
          </a:prstGeom>
          <a:noFill/>
          <a:ln/>
        </p:spPr>
        <p:txBody>
          <a:bodyPr wrap="square" lIns="0" tIns="0" rIns="0" bIns="0" rtlCol="0" anchor="ctr"/>
          <a:lstStyle/>
          <a:p>
            <a:pPr indent="0" marL="0">
              <a:lnSpc>
                <a:spcPct val="112000"/>
              </a:lnSpc>
              <a:buNone/>
            </a:pPr>
            <a:r>
              <a:rPr lang="en-US" sz="800" dirty="0">
                <a:solidFill>
                  <a:srgbClr val="1E3A8A"/>
                </a:solidFill>
                <a:latin typeface="Arial" pitchFamily="34" charset="0"/>
                <a:ea typeface="Arial" pitchFamily="34" charset="-122"/>
                <a:cs typeface="Arial" pitchFamily="34" charset="-120"/>
              </a:rPr>
              <a:t>Grafiken: Sämtliche Diagramme wurden für diese Präsentation aus den oben genannten Daten selbst erstellt (native PowerPoint-Diagramme). Icons: Lucide Icons, ISC-Lizenz. Titelgrafik: eigene prozedurale Erzeugung. Es wurden keine Stockfotos und keine fremden Diagramm-Screenshots verwendet.</a:t>
            </a:r>
            <a:endParaRPr lang="en-US" sz="800" dirty="0"/>
          </a:p>
        </p:txBody>
      </p:sp>
      <p:sp>
        <p:nvSpPr>
          <p:cNvPr id="39" name="Text 37"/>
          <p:cNvSpPr txBox="1"/>
          <p:nvPr/>
        </p:nvSpPr>
        <p:spPr>
          <a:xfrm>
            <a:off x="10710367" y="6217920"/>
            <a:ext cx="914400" cy="201168"/>
          </a:xfrm>
          <a:prstGeom prst="rect">
            <a:avLst/>
          </a:prstGeom>
          <a:noFill/>
          <a:ln/>
        </p:spPr>
        <p:txBody>
          <a:bodyPr wrap="square" lIns="0" tIns="0" rIns="0" bIns="0" rtlCol="0" anchor="ctr"/>
          <a:lstStyle/>
          <a:p>
            <a:pPr algn="r" indent="0" marL="0">
              <a:buNone/>
            </a:pPr>
            <a:r>
              <a:rPr lang="en-US" sz="900" dirty="0">
                <a:solidFill>
                  <a:srgbClr val="475569"/>
                </a:solidFill>
                <a:latin typeface="Arial" pitchFamily="34" charset="0"/>
                <a:ea typeface="Arial" pitchFamily="34" charset="-122"/>
                <a:cs typeface="Arial"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Youman Automation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Wie KI die Wirtschaft verändert: Fokus E-Commerce</dc:title>
  <dc:subject>PptxGenJS Presentation</dc:subject>
  <dc:creator>Erstellt mit Claude Code</dc:creator>
  <cp:lastModifiedBy>Erstellt mit Claude Code</cp:lastModifiedBy>
  <cp:revision>1</cp:revision>
  <dcterms:created xsi:type="dcterms:W3CDTF">2026-09-18T10:01:28Z</dcterms:created>
  <dcterms:modified xsi:type="dcterms:W3CDTF">2026-09-18T10:01:28Z</dcterms:modified>
</cp:coreProperties>
</file>