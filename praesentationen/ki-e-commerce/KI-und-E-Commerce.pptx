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KI-Einsatz</c:v>
                </c:pt>
              </c:strCache>
            </c:strRef>
          </c:tx>
          <c:spPr>
            <a:solidFill>
              <a:srgbClr val="111111"/>
            </a:solidFill>
            <a:ln w="63500" cap="flat">
              <a:solidFill>
                <a:srgbClr val="111111"/>
              </a:solidFill>
              <a:prstDash val="solid"/>
              <a:round/>
            </a:ln>
            <a:effectLst/>
          </c:spPr>
          <c:invertIfNegative val="0"/>
          <c:dLbls>
            <c:numFmt formatCode="0&quot; %&quot;" sourceLinked="0"/>
            <c:txPr>
              <a:bodyPr/>
              <a:lstStyle/>
              <a:p>
                <a:pPr>
                  <a:defRPr b="0" i="0" strike="noStrike" sz="1500" u="none">
                    <a:solidFill>
                      <a:srgbClr val="111111"/>
                    </a:solidFill>
                    <a:latin typeface="Arial Black"/>
                  </a:defRPr>
                </a:pPr>
              </a:p>
            </c:txPr>
            <c:dLblPos val="t"/>
            <c:showLegendKey val="0"/>
            <c:showVal val="1"/>
            <c:showCatName val="0"/>
            <c:showSerName val="0"/>
            <c:showPercent val="0"/>
            <c:showBubbleSize val="0"/>
            <c:showLeaderLines val="0"/>
          </c:dLbls>
          <c:marker>
            <c:symbol val="square"/>
            <c:size val="14"/>
            <c:spPr>
              <a:solidFill>
                <a:srgbClr val="111111"/>
              </a:solidFill>
              <a:ln w="9525" cap="flat">
                <a:solidFill>
                  <a:srgbClr val="111111"/>
                </a:solidFill>
                <a:prstDash val="solid"/>
                <a:round/>
              </a:ln>
              <a:effectLst/>
            </c:spPr>
          </c:marker>
          <c:cat>
            <c:multiLvlStrRef>
              <c:f>Sheet1!$A$2:$A$4</c:f>
              <c:multiLvlStrCache>
                <c:ptCount val="3"/>
                <c:lvl>
                  <c:pt idx="0">
                    <c:v>2024</c:v>
                  </c:pt>
                  <c:pt idx="1">
                    <c:v>2025</c:v>
                  </c:pt>
                  <c:pt idx="2">
                    <c:v>2026</c:v>
                  </c:pt>
                </c:lvl>
              </c:multiLvlStrCache>
            </c:multiLvlStrRef>
          </c:cat>
          <c:val>
            <c:numRef>
              <c:f>Sheet1!$B$2:$B$4</c:f>
              <c:numCache>
                <c:formatCode>General</c:formatCode>
                <c:ptCount val="3"/>
                <c:pt idx="0">
                  <c:v>20</c:v>
                </c:pt>
                <c:pt idx="1">
                  <c:v>36</c:v>
                </c:pt>
                <c:pt idx="2">
                  <c:v>57</c:v>
                </c:pt>
              </c:numCache>
            </c:numRef>
          </c:val>
          <c:smooth val="0"/>
        </c:ser>
        <c:dLbls>
          <c:numFmt formatCode="0&quot; %&quot;" sourceLinked="0"/>
          <c:txPr>
            <a:bodyPr/>
            <a:lstStyle/>
            <a:p>
              <a:pPr>
                <a:defRPr b="0" i="0" strike="noStrike" sz="1500" u="none">
                  <a:solidFill>
                    <a:srgbClr val="111111"/>
                  </a:solidFill>
                  <a:latin typeface="Arial Black"/>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11111"/>
                </a:solidFill>
                <a:latin typeface="Courier New"/>
              </a:defRPr>
            </a:pPr>
            <a:endParaRPr lang="en-US"/>
          </a:p>
        </c:txPr>
        <c:crossAx val="2094734552"/>
        <c:crosses val="autoZero"/>
        <c:auto val="1"/>
        <c:lblAlgn val="ctr"/>
        <c:noMultiLvlLbl val="1"/>
      </c:catAx>
      <c:valAx>
        <c:axId val="2094734552"/>
        <c:scaling>
          <c:orientation val="minMax"/>
          <c:max val="7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5A5A5A"/>
                </a:solidFill>
                <a:latin typeface="Courier New"/>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Nettoumsatz</c:v>
                </c:pt>
              </c:strCache>
            </c:strRef>
          </c:tx>
          <c:spPr>
            <a:solidFill>
              <a:srgbClr val="111111"/>
            </a:solidFill>
            <a:ln w="9525" cap="flat">
              <a:solidFill>
                <a:srgbClr val="111111"/>
              </a:solidFill>
              <a:prstDash val="solid"/>
              <a:round/>
            </a:ln>
            <a:effectLst/>
          </c:spPr>
          <c:invertIfNegative val="0"/>
          <c:dLbls>
            <c:numFmt formatCode="0.0" sourceLinked="0"/>
            <c:txPr>
              <a:bodyPr/>
              <a:lstStyle/>
              <a:p>
                <a:pPr>
                  <a:defRPr b="0" i="0" strike="noStrike" sz="1400" u="none">
                    <a:solidFill>
                      <a:srgbClr val="111111"/>
                    </a:solidFill>
                    <a:latin typeface="Arial Black"/>
                  </a:defRPr>
                </a:pPr>
              </a:p>
            </c:txPr>
            <c:showLegendKey val="0"/>
            <c:showVal val="1"/>
            <c:showCatName val="0"/>
            <c:showSerName val="0"/>
            <c:showPercent val="0"/>
            <c:showBubbleSize val="0"/>
            <c:showLeaderLines val="0"/>
          </c:dLbls>
          <c:dPt>
            <c:idx val="0"/>
            <c:invertIfNegative val="0"/>
            <c:bubble3D val="0"/>
            <c:spPr>
              <a:solidFill>
                <a:srgbClr val="111111"/>
              </a:solidFill>
              <a:effectLst/>
            </c:spPr>
          </c:dPt>
          <c:dPt>
            <c:idx val="1"/>
            <c:invertIfNegative val="0"/>
            <c:bubble3D val="0"/>
            <c:spPr>
              <a:solidFill>
                <a:srgbClr val="111111"/>
              </a:solidFill>
              <a:effectLst/>
            </c:spPr>
          </c:dPt>
          <c:dPt>
            <c:idx val="2"/>
            <c:invertIfNegative val="0"/>
            <c:bubble3D val="0"/>
            <c:spPr>
              <a:solidFill>
                <a:srgbClr val="FFD84D"/>
              </a:solidFill>
              <a:effectLst/>
            </c:spPr>
          </c:dPt>
          <c:cat>
            <c:multiLvlStrRef>
              <c:f>Sheet1!$A$2:$A$4</c:f>
              <c:multiLvlStrCache>
                <c:ptCount val="3"/>
                <c:lvl>
                  <c:pt idx="0">
                    <c:v>2024</c:v>
                  </c:pt>
                  <c:pt idx="1">
                    <c:v>2025</c:v>
                  </c:pt>
                  <c:pt idx="2">
                    <c:v>2026 PROG.</c:v>
                  </c:pt>
                </c:lvl>
              </c:multiLvlStrCache>
            </c:multiLvlStrRef>
          </c:cat>
          <c:val>
            <c:numRef>
              <c:f>Sheet1!$B$2:$B$4</c:f>
              <c:numCache>
                <c:formatCode>General</c:formatCode>
                <c:ptCount val="3"/>
                <c:pt idx="0">
                  <c:v>88.8</c:v>
                </c:pt>
                <c:pt idx="1">
                  <c:v>92.3</c:v>
                </c:pt>
                <c:pt idx="2">
                  <c:v>96.3</c:v>
                </c:pt>
              </c:numCache>
            </c:numRef>
          </c:val>
        </c:ser>
        <c:dLbls>
          <c:numFmt formatCode="0.0" sourceLinked="0"/>
          <c:txPr>
            <a:bodyPr/>
            <a:lstStyle/>
            <a:p>
              <a:pPr>
                <a:defRPr b="0" i="0" strike="noStrike" sz="1400" u="none">
                  <a:solidFill>
                    <a:srgbClr val="111111"/>
                  </a:solidFill>
                  <a:latin typeface="Arial Black"/>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111"/>
                </a:solidFill>
                <a:latin typeface="Courier New"/>
              </a:defRPr>
            </a:pPr>
            <a:endParaRPr lang="en-US"/>
          </a:p>
        </c:txPr>
        <c:crossAx val="2094734552"/>
        <c:crosses val="autoZero"/>
        <c:auto val="1"/>
        <c:lblAlgn val="ctr"/>
        <c:noMultiLvlLbl val="1"/>
      </c:catAx>
      <c:valAx>
        <c:axId val="2094734552"/>
        <c:scaling>
          <c:orientation val="minMax"/>
          <c:max val="11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5A5A5A"/>
                </a:solidFill>
                <a:latin typeface="Courier New"/>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Effekt</c:v>
                </c:pt>
              </c:strCache>
            </c:strRef>
          </c:tx>
          <c:spPr>
            <a:solidFill>
              <a:srgbClr val="111111"/>
            </a:solidFill>
            <a:ln w="9525" cap="flat">
              <a:solidFill>
                <a:srgbClr val="111111"/>
              </a:solidFill>
              <a:prstDash val="solid"/>
              <a:round/>
            </a:ln>
            <a:effectLst/>
          </c:spPr>
          <c:invertIfNegative val="0"/>
          <c:dLbls>
            <c:numFmt formatCode="0&quot; %&quot;" sourceLinked="0"/>
            <c:txPr>
              <a:bodyPr/>
              <a:lstStyle/>
              <a:p>
                <a:pPr>
                  <a:defRPr b="0" i="0" strike="noStrike" sz="1200" u="none">
                    <a:solidFill>
                      <a:srgbClr val="111111"/>
                    </a:solidFill>
                    <a:latin typeface="Arial Black"/>
                  </a:defRPr>
                </a:pPr>
              </a:p>
            </c:txPr>
            <c:showLegendKey val="0"/>
            <c:showVal val="1"/>
            <c:showCatName val="0"/>
            <c:showSerName val="0"/>
            <c:showPercent val="0"/>
            <c:showBubbleSize val="0"/>
            <c:showLeaderLines val="0"/>
          </c:dLbls>
          <c:dPt>
            <c:idx val="0"/>
            <c:invertIfNegative val="0"/>
            <c:bubble3D val="0"/>
            <c:spPr>
              <a:solidFill>
                <a:srgbClr val="111111"/>
              </a:solidFill>
              <a:effectLst/>
            </c:spPr>
          </c:dPt>
          <c:dPt>
            <c:idx val="1"/>
            <c:invertIfNegative val="0"/>
            <c:bubble3D val="0"/>
            <c:spPr>
              <a:solidFill>
                <a:srgbClr val="111111"/>
              </a:solidFill>
              <a:effectLst/>
            </c:spPr>
          </c:dPt>
          <c:dPt>
            <c:idx val="2"/>
            <c:invertIfNegative val="0"/>
            <c:bubble3D val="0"/>
            <c:spPr>
              <a:solidFill>
                <a:srgbClr val="111111"/>
              </a:solidFill>
              <a:effectLst/>
            </c:spPr>
          </c:dPt>
          <c:dPt>
            <c:idx val="3"/>
            <c:invertIfNegative val="0"/>
            <c:bubble3D val="0"/>
            <c:spPr>
              <a:solidFill>
                <a:srgbClr val="111111"/>
              </a:solidFill>
              <a:effectLst/>
            </c:spPr>
          </c:dPt>
          <c:dPt>
            <c:idx val="4"/>
            <c:invertIfNegative val="0"/>
            <c:bubble3D val="0"/>
            <c:spPr>
              <a:solidFill>
                <a:srgbClr val="111111"/>
              </a:solidFill>
              <a:effectLst/>
            </c:spPr>
          </c:dPt>
          <c:dPt>
            <c:idx val="5"/>
            <c:invertIfNegative val="0"/>
            <c:bubble3D val="0"/>
            <c:spPr>
              <a:solidFill>
                <a:srgbClr val="FFD84D"/>
              </a:solidFill>
              <a:effectLst/>
            </c:spPr>
          </c:dPt>
          <c:cat>
            <c:multiLvlStrRef>
              <c:f>Sheet1!$A$2:$A$7</c:f>
              <c:multiLvlStrCache>
                <c:ptCount val="6"/>
                <c:lvl>
                  <c:pt idx="0">
                    <c:v>Umsatz Personalisierung (steigt)</c:v>
                  </c:pt>
                  <c:pt idx="1">
                    <c:v>Lagerbestände (sinken)</c:v>
                  </c:pt>
                  <c:pt idx="2">
                    <c:v>Prognosefehler (sinkt)</c:v>
                  </c:pt>
                  <c:pt idx="3">
                    <c:v>Fehlbestände (sinken)</c:v>
                  </c:pt>
                  <c:pt idx="4">
                    <c:v>Content-Leistung (steigt)</c:v>
                  </c:pt>
                  <c:pt idx="5">
                    <c:v>Bearbeitungszeit Service (sinkt)</c:v>
                  </c:pt>
                </c:lvl>
              </c:multiLvlStrCache>
            </c:multiLvlStrRef>
          </c:cat>
          <c:val>
            <c:numRef>
              <c:f>Sheet1!$B$2:$B$7</c:f>
              <c:numCache>
                <c:formatCode>General</c:formatCode>
                <c:ptCount val="6"/>
                <c:pt idx="0">
                  <c:v>15</c:v>
                </c:pt>
                <c:pt idx="1">
                  <c:v>30</c:v>
                </c:pt>
                <c:pt idx="2">
                  <c:v>50</c:v>
                </c:pt>
                <c:pt idx="3">
                  <c:v>65</c:v>
                </c:pt>
                <c:pt idx="4">
                  <c:v>70</c:v>
                </c:pt>
                <c:pt idx="5">
                  <c:v>82</c:v>
                </c:pt>
              </c:numCache>
            </c:numRef>
          </c:val>
        </c:ser>
        <c:dLbls>
          <c:numFmt formatCode="0&quot; %&quot;" sourceLinked="0"/>
          <c:txPr>
            <a:bodyPr/>
            <a:lstStyle/>
            <a:p>
              <a:pPr>
                <a:defRPr b="0" i="0" strike="noStrike" sz="1200" u="none">
                  <a:solidFill>
                    <a:srgbClr val="111111"/>
                  </a:solidFill>
                  <a:latin typeface="Arial Black"/>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11111"/>
                </a:solidFill>
                <a:latin typeface="Courier New"/>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5A5A5A"/>
                </a:solidFill>
                <a:latin typeface="Courier New"/>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Index</c:v>
                </c:pt>
              </c:strCache>
            </c:strRef>
          </c:tx>
          <c:spPr>
            <a:solidFill>
              <a:srgbClr val="EFEFEF"/>
            </a:solidFill>
            <a:ln w="9525" cap="flat">
              <a:solidFill>
                <a:srgbClr val="111111"/>
              </a:solidFill>
              <a:prstDash val="solid"/>
              <a:round/>
            </a:ln>
            <a:effectLst/>
          </c:spPr>
          <c:invertIfNegative val="0"/>
          <c:dLbls>
            <c:numFmt formatCode="0" sourceLinked="0"/>
            <c:txPr>
              <a:bodyPr/>
              <a:lstStyle/>
              <a:p>
                <a:pPr>
                  <a:defRPr b="0" i="0" strike="noStrike" sz="1600" u="none">
                    <a:solidFill>
                      <a:srgbClr val="111111"/>
                    </a:solidFill>
                    <a:latin typeface="Arial Black"/>
                  </a:defRPr>
                </a:pPr>
              </a:p>
            </c:txPr>
            <c:showLegendKey val="0"/>
            <c:showVal val="1"/>
            <c:showCatName val="0"/>
            <c:showSerName val="0"/>
            <c:showPercent val="0"/>
            <c:showBubbleSize val="0"/>
            <c:showLeaderLines val="0"/>
          </c:dLbls>
          <c:dPt>
            <c:idx val="0"/>
            <c:invertIfNegative val="0"/>
            <c:bubble3D val="0"/>
            <c:spPr>
              <a:solidFill>
                <a:srgbClr val="EFEFEF"/>
              </a:solidFill>
              <a:effectLst/>
            </c:spPr>
          </c:dPt>
          <c:dPt>
            <c:idx val="1"/>
            <c:invertIfNegative val="0"/>
            <c:bubble3D val="0"/>
            <c:spPr>
              <a:solidFill>
                <a:srgbClr val="FFD84D"/>
              </a:solidFill>
              <a:effectLst/>
            </c:spPr>
          </c:dPt>
          <c:cat>
            <c:multiLvlStrRef>
              <c:f>Sheet1!$A$2:$A$3</c:f>
              <c:multiLvlStrCache>
                <c:ptCount val="2"/>
                <c:lvl>
                  <c:pt idx="0">
                    <c:v>OHNE RUFUS</c:v>
                  </c:pt>
                  <c:pt idx="1">
                    <c:v>MIT RUFUS</c:v>
                  </c:pt>
                </c:lvl>
              </c:multiLvlStrCache>
            </c:multiLvlStrRef>
          </c:cat>
          <c:val>
            <c:numRef>
              <c:f>Sheet1!$B$2:$B$3</c:f>
              <c:numCache>
                <c:formatCode>General</c:formatCode>
                <c:ptCount val="2"/>
                <c:pt idx="0">
                  <c:v>100</c:v>
                </c:pt>
                <c:pt idx="1">
                  <c:v>160</c:v>
                </c:pt>
              </c:numCache>
            </c:numRef>
          </c:val>
        </c:ser>
        <c:dLbls>
          <c:numFmt formatCode="0" sourceLinked="0"/>
          <c:txPr>
            <a:bodyPr/>
            <a:lstStyle/>
            <a:p>
              <a:pPr>
                <a:defRPr b="0" i="0" strike="noStrike" sz="1600" u="none">
                  <a:solidFill>
                    <a:srgbClr val="111111"/>
                  </a:solidFill>
                  <a:latin typeface="Arial Black"/>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111"/>
                </a:solidFill>
                <a:latin typeface="Courier New"/>
              </a:defRPr>
            </a:pPr>
            <a:endParaRPr lang="en-US"/>
          </a:p>
        </c:txPr>
        <c:crossAx val="2094734552"/>
        <c:crosses val="autoZero"/>
        <c:auto val="1"/>
        <c:lblAlgn val="ctr"/>
        <c:noMultiLvlLbl val="1"/>
      </c:catAx>
      <c:valAx>
        <c:axId val="2094734552"/>
        <c:scaling>
          <c:orientation val="minMax"/>
          <c:max val="18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5A5A5A"/>
                </a:solidFill>
                <a:latin typeface="Courier New"/>
              </a:defRPr>
            </a:pPr>
            <a:endParaRPr lang="en-US"/>
          </a:p>
        </c:txPr>
        <c:crossAx val="2094734554"/>
        <c:crosses val="autoZero"/>
        <c:crossBetween val="between"/>
        <c:majorUnit val="6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2030</c:v>
                </c:pt>
              </c:strCache>
            </c:strRef>
          </c:tx>
          <c:spPr>
            <a:solidFill>
              <a:srgbClr val="FFD84D"/>
            </a:solidFill>
            <a:ln w="9525" cap="flat">
              <a:solidFill>
                <a:srgbClr val="111111"/>
              </a:solidFill>
              <a:prstDash val="solid"/>
              <a:round/>
            </a:ln>
            <a:effectLst/>
          </c:spPr>
          <c:invertIfNegative val="0"/>
          <c:dLbls>
            <c:numFmt formatCode="0" sourceLinked="0"/>
            <c:txPr>
              <a:bodyPr/>
              <a:lstStyle/>
              <a:p>
                <a:pPr>
                  <a:defRPr b="0" i="0" strike="noStrike" sz="1600" u="none">
                    <a:solidFill>
                      <a:srgbClr val="111111"/>
                    </a:solidFill>
                    <a:latin typeface="Arial Black"/>
                  </a:defRPr>
                </a:pPr>
              </a:p>
            </c:txPr>
            <c:showLegendKey val="0"/>
            <c:showVal val="1"/>
            <c:showCatName val="0"/>
            <c:showSerName val="0"/>
            <c:showPercent val="0"/>
            <c:showBubbleSize val="0"/>
            <c:showLeaderLines val="0"/>
          </c:dLbls>
          <c:dPt>
            <c:idx val="0"/>
            <c:invertIfNegative val="0"/>
            <c:bubble3D val="0"/>
            <c:spPr>
              <a:solidFill>
                <a:srgbClr val="FFD84D"/>
              </a:solidFill>
              <a:effectLst/>
            </c:spPr>
          </c:dPt>
          <c:dPt>
            <c:idx val="1"/>
            <c:invertIfNegative val="0"/>
            <c:bubble3D val="0"/>
            <c:spPr>
              <a:solidFill>
                <a:srgbClr val="FFD84D"/>
              </a:solidFill>
              <a:effectLst/>
            </c:spPr>
          </c:dPt>
          <c:dPt>
            <c:idx val="2"/>
            <c:invertIfNegative val="0"/>
            <c:bubble3D val="0"/>
            <c:spPr>
              <a:solidFill>
                <a:srgbClr val="111111"/>
              </a:solidFill>
              <a:effectLst/>
            </c:spPr>
          </c:dPt>
          <c:cat>
            <c:multiLvlStrRef>
              <c:f>Sheet1!$A$2:$A$4</c:f>
              <c:multiLvlStrCache>
                <c:ptCount val="3"/>
                <c:lvl>
                  <c:pt idx="0">
                    <c:v>AGENTIC
MINIMUM</c:v>
                  </c:pt>
                  <c:pt idx="1">
                    <c:v>AGENTIC
MAXIMUM</c:v>
                  </c:pt>
                  <c:pt idx="2">
                    <c:v>E-COMMERCE
GESAMT</c:v>
                  </c:pt>
                </c:lvl>
              </c:multiLvlStrCache>
            </c:multiLvlStrRef>
          </c:cat>
          <c:val>
            <c:numRef>
              <c:f>Sheet1!$B$2:$B$4</c:f>
              <c:numCache>
                <c:formatCode>General</c:formatCode>
                <c:ptCount val="3"/>
                <c:pt idx="0">
                  <c:v>3</c:v>
                </c:pt>
                <c:pt idx="1">
                  <c:v>5</c:v>
                </c:pt>
                <c:pt idx="2">
                  <c:v>7</c:v>
                </c:pt>
              </c:numCache>
            </c:numRef>
          </c:val>
        </c:ser>
        <c:dLbls>
          <c:numFmt formatCode="0" sourceLinked="0"/>
          <c:txPr>
            <a:bodyPr/>
            <a:lstStyle/>
            <a:p>
              <a:pPr>
                <a:defRPr b="0" i="0" strike="noStrike" sz="1600" u="none">
                  <a:solidFill>
                    <a:srgbClr val="111111"/>
                  </a:solidFill>
                  <a:latin typeface="Arial Black"/>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11111"/>
                </a:solidFill>
                <a:latin typeface="Courier New"/>
              </a:defRPr>
            </a:pPr>
            <a:endParaRPr lang="en-US"/>
          </a:p>
        </c:txPr>
        <c:crossAx val="2094734552"/>
        <c:crosses val="autoZero"/>
        <c:auto val="1"/>
        <c:lblAlgn val="ctr"/>
        <c:noMultiLvlLbl val="1"/>
      </c:catAx>
      <c:valAx>
        <c:axId val="2094734552"/>
        <c:scaling>
          <c:orientation val="minMax"/>
          <c:max val="8"/>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5A5A5A"/>
                </a:solidFill>
                <a:latin typeface="Courier New"/>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Worum es geht: nicht um Science-Fiction, sondern um das, was heute schon messbar in Unternehmen passiert — besonders sichtbar im Onlinehandel.
Rahmen ansagen: rund 15 Minuten, 15 Folien. Am Ende eine vollständige Quellenliste, jede Zahl auf jeder Folie ist belegt.
Hinweis: Die Zahlen sind auf dem Stand September 2026. Wo eine Zahl eine Prognose ist, steht das ausdrücklich dabei.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Zahl, die hängen bleiben soll: 12 Milliarden Dollar.
So viel zusätzlichen Umsatz führt Amazon auf einen einzigen KI-Assistenten zurück — auf Rufus, den Dialog-Assistenten im Suchfeld. Kein Pilotprojekt, sondern der Effekt eines Produkts, das seit 2024 läuft.
Zwei Einordnungen rechts: 300 Millionen Menschen haben ihn 2025 benutzt. Und wer ihn benutzt, kauft mit rund 60 Prozent höherer Wahrscheinlichkeit.
Übergang: Bevor wir uns ansehen, warum das funktioniert — kurz die Frage, was "KI" hier eigentlich heißt.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Begriffe, die oft durcheinandergehen — hier sauber getrennt.
Machine Learning: Das System bekommt sehr viele Beispiele und leitet daraus Muster ab. Niemand programmiert eine Regel wie "wenn Regen, dann Gummistiefel". Das System sieht es in den Daten. Steckt heute in jeder Nachfrageprognose und jeder Betrugsprüfung.
Generative KI: Der Bruch von 2023. Das System erzeugt selbst Inhalte — Text, Bild, Code. Für den Handel heißt das vor allem: Produkttexte, Bilder und Kampagnen in Minuten statt Wochen.
KI-Agenten: Die Stufe, die gerade beginnt. Ein Agent plant mehrere Schritte, ruft selbst Werkzeuge auf und handelt, bis das Ziel erreicht ist. Der Unterschied: Generative KI antwortet. Ein Agent erledigt.
Merksatz unten: Die Reihenfolge ist der Reifegrad. Wir bewegen uns gerade vom Erzeugen zum Handeln — und das ist die eigentliche Veränderung für den Handel.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die große Linie — zuerst Deutschland.
Die Kurve links ist der eigentliche Aufreger: 2024 setzte jedes fünfte Unternehmen KI ein. 2026 ist es mit 57 Prozent erstmals die Mehrheit. Fast eine Verdreifachung in zwei Jahren. Solche Adoptionsgeschwindigkeiten kennen wir sonst kaum.
Wichtig: Das ist keine Konzern-Geschichte. Befragt wurden Unternehmen ab 20 Beschäftigten, also ganz normaler Mittelstand.
Rechts oben die Investitionsseite: 2,59 Billionen Dollar weltweite KI-Ausgaben für 2026, plus 47 Prozent. Über 45 Prozent gehen in Infrastruktur — Rechenzentren, Chips, Server. Deshalb wird gerade so viel über Strom und Rechenzentren gesprochen.
Rechts unten die Zahl, die ich am stärksten finde: Nur noch 4 Prozent sagen "kein Thema". Vor zwei Jahren waren das 41 Prozent. Die Frage ist nicht mehr ob, sondern wie.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Ebenen, die man auseinanderhalten sollte.
Produktivität: Bis zu 4,4 Billionen Dollar zusätzlicher Wert pro Jahr, gerechnet über 63 konkrete Anwendungsfälle. Die Spanne beginnt bei 2,6 Billionen. Das ist Potenzial, nicht Ist-Zustand.
Wertschöpfung, konkret für Deutschland: Das IAB rechnet, dass das BIP 2037 um bis zu 12,8 Prozent höher liegen könnte. Auch das eine Simulation unter Annahmen — aber von einer sehr nüchternen Institution.
Arbeitsmarkt — die Zahl, die im Kurs am meisten diskutiert wird: 1,6 Millionen Arbeitsplätze geraten in Bewegung, aber unterm Strich bleibt die Beschäftigung stabil. Es verschwinden nicht netto Jobs, es verschieben sich Tätigkeiten. Das ist eine Qualifizierungsfrage, keine Massenarbeitslosigkeitsfrage.
Der schwarze Kasten unten — bitte ernst nehmen: Nur 39 Prozent sehen überhaupt einen Ergebniseffekt, meist unter 5 Prozent. Zwei Drittel haben noch gar nicht angefangen zu skalieren. Wer erzählt, KI zahle sich automatisch aus, hat die Daten nicht gelesen.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Kurzer Blick auf das Spielfeld, bevor wir in die Anwendungen gehen.
Der deutsche Onlinehandel ist zurück auf Wachstumskurs: 92,3 Milliarden Euro netto im Jahr 2025, ein Plus von 3,9 Prozent. Für 2026 erwartet der HDE nochmal plus 4,3 Prozent — daraus habe ich die gelbe Säule gerechnet, deshalb steht "Prognose" dran.
Entscheidend ist der Vergleich rechts unten: online plus 4,3 Prozent, stationär plus 1,6 Prozent. Der Onlinehandel ist der Wachstumsmotor des Einzelhandels.
Und die strukturell wichtigste Zahl: 56,7 Prozent des Onlineumsatzes laufen über Marktplätze. Mehr als jeder zweite Euro. Das bitte merken — darauf kommen wir bei den Risiken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Landkarte für den Rest der Präsentation. Sieben Stellen, an denen KI im Onlinehandel tatsächlich arbeitet — von vorne im Schaufenster bis hinten im Lager.
Vorne, beim Kunden: Personalisierung, Produktsuche, Dynamic Pricing, Kundenservice.
Hinten, im Betrieb: Content und Listings, Logistik und Nachfrageprognose, Betrugserkennung.
Ein Hinweis zur Produktsuche, weil das der größte Umbruch ist: Klassisch tippt man Stichworte ein und bekommt eine Trefferliste. Mit KI beschreibt man eine Situation — "Regenjacke, atmungsaktiv, unter 100 Euro" — und bekommt eine Empfehlung mit Begründung. Das verändert, wie Produkte überhaupt gefunden werden.
Der schwarze Kasten rechts unten ist die unbequeme Wahrheit: Keiner dieser Hebel funktioniert ohne saubere Daten. Wer schlechte Produktdaten hat, bekommt mit KI schnellere schlechte Ergebnisse.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wird es konkret. Das sind berichtete Effektgrößen aus Studien und Unternehmensangaben.
Von unten nach oben: Personalisierung hebt den Umsatz um bis zu 15 Prozent. Lagerbestände sinken um bis zu 30 Prozent, weil besser vorhergesagt wird, was gebraucht wird. Prognosefehler sinken um bis zu 50 Prozent. Fehlbestände — also "leider ausverkauft" — um bis zu 65 Prozent.
Oben die beiden größten Hebel: Content-Leistung plus 70 Prozent bei Zalando. Und der gelbe Spitzenreiter: Die Bearbeitungszeit im Kundenservice sinkt um 82 Prozent — bei Klarna von elf Minuten auf unter zwei.
Zwei Warnhinweise, die ich ausdrücklich betone — sie stehen auch rechts:
Erstens: Die Balkenlänge zeigt die Größe des Effekts, nicht die Richtung. Manche Werte steigen, manche sinken. Steht jeweils in der Beschriftung.
Zweitens: Diese Zahlen darf man nicht addieren. Sie kommen aus unterschiedlichen Unternehmen mit unterschiedlichen Ausgangslagen. Größenordnungen, keine Garantien.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Erstes Praxisbeispiel — die Zahl vom Anfang, jetzt eingeordnet.
Die Grafik links ist der Kern: Wer Rufus benutzt, kauft mit rund 60 Prozent höherer Wahrscheinlichkeit. Ich habe das als Index dargestellt — ohne Assistent 100, mit Assistent 160.
Warum das wirkt: Rufus beantwortet Fragen im Dialog, statt nur eine Trefferliste auszuspucken. Er vergleicht, begründet, beobachtet Preise und kauft auf Wunsch selbstständig, sobald der Wunschpreis erreicht ist.
Der strategisch spannendste Punkt steht ganz unten: Rufus kauft inzwischen auch in fremden Shops ein. Amazon wird damit zur Einkaufsebene über dem eigenen Sortiment hinaus.
Frage an die Runde, wenn Zeit ist: Was bedeutet das für einen Händler, der nicht Amazon ist? Antwort: Er muss dafür sorgen, dass eine Maschine sein Produkt versteht — nicht nur ein Mensch.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Zweites Beispiel — das interessantere für den deutschen Markt, weil es ein europäisches Unternehmen ist und KI hier nicht an einer Stelle sitzt, sondern entlang der ganzen Kette.
Erste Zahl, größter Hebel für Marge und Nachhaltigkeit zugleich: 8 Prozent weniger größenbedingte Retouren. Grundlage sind echte Körpermaße von über einer Million Kundinnen und Kunden. Jede vermiedene Retoure spart Versand, Aufbereitung und CO2.
Plus 13 Prozent Artikel im Warenkorb durch besseres Matching. 90 Prozent der Produktinhalte sind inzwischen KI-erzeugt — von nahezu null in einem Jahr. Und sechs Millionen Menschen nutzen den Assistenten, viermal so viele wie im Vorjahr.
Im schwarzen Kasten der Rest: Content-Leistung plus 70 Prozent, Kampagnen in Tagen statt sechs Wochen, Lieferzusage 22 Prozentpunkte genauer. Rahmen: 12,3 Milliarden Euro Umsatz, plus 16,8 Prozent.
Wichtig für die Einordnung: Das ist Unternehmenskommunikation aus dem Geschäftsbericht. Die Richtung ist belegt, die Kausalität behauptet das Unternehmen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Beispiele auf einer Folie, weil sie zusammengehören: eines für die Chance, eines für die Grenze.
Links Shopify — der Blick auf die kleinen Händler. KI-zugeordnete Bestellungen sind zwischen Januar 2025 und Januar 2026 um das Fünfzehnfache gewachsen. Shopify Magic schreibt Produkttexte und Kampagnen, und über Agentic Storefronts sind Shops direkt in ChatGPT und Perplexity kaufbar. Der Punkt: Werkzeuge, die vor drei Jahren nur Konzerne hatten, liegen jetzt beim Ein-Personen-Shop.
Rechts Klarna — bewusst ein unbequemes Beispiel. Die Zahlen sind spektakulär: Bearbeitungszeit minus 82 Prozent, von elf Minuten auf unter zwei. Zwei Drittel aller Chats von der KI übernommen, die Arbeit von rund 700 Vollzeitkräften.
Und dann kam die Korrektur. 2025 hat der Vorstandschef öffentlich eingeräumt: Die Kosten waren das dominierende Kriterium, die Qualität hat darunter gelitten. Klarna ist zurückgerudert — heute KI zuerst, aber ein Mensch jederzeit erreichbar.
Der Satz im schwarzen Balken ist das, was ich von dieser Folie mitgeben möchte.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die Abwägung — und ich möchte, dass beide Spalten gleich ernst genommen werden.
Chancen, links: Erstens werden Werkzeuge demokratisiert. Was vor drei Jahren ein Konzernbudget brauchte, liegt heute im Standardtarif eines Shopsystems. Zweitens Service ohne Warteschlange, rund um die Uhr, in jeder Sprache. Drittens — oft übersehen — weniger Verschwendung: weniger Retouren, Fehlbestände, Überproduktion. Das ist ein Umweltargument, nicht nur ein Kostenargument.
Risiken, rechts: Berufe im Umbruch — 1,6 Millionen Arbeitsplätze in Bewegung. Nicht weg, aber anders. Tätigkeiten verschieben sich schneller, als Qualifikationen nachwachsen.
Plattformabhängigkeit: 56,7 Prozent über Marktplätze. Wenn die KI eines Marktplatzes entscheidet, welches Produkt sie empfiehlt, entscheidet sie über Ihr Geschäft mit.
Daten und Vertrauen: Personalisierung braucht persönliche Daten. Und die Kundschaft ist zurückhaltender, als die Branche gerne hätte — erst 6,3 Prozent kaufen vollständig über eine KI.
Unten die Regulierung, bitte als Kalender lesen: Ab dem 2. August 2026 muss ein Chatbot sagen, dass er eine Maschine ist. Die schärferen Hochrisiko-Pflichten wurden auf Dezember 2027 verschoben, eingebettete Systeme folgen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Blick nach vorn — alle Zahlen hier sind ausdrücklich Prognosen.
Die Grafik zeigt die Größenordnung: Der gesamte globale E-Commerce wird 2030 bei rund sieben Billionen Dollar erwartet, das ist die schwarze Säule. Und McKinsey schätzt, dass drei bis fünf Billionen davon über Agentic Commerce laufen könnten — also über Einkäufe, die eine KI im Auftrag eines Menschen anbahnt oder abschließt. Das sind die gelben Säulen.
Die Kernaussage: Ein sehr großer Teil des Onlinehandels könnte in wenigen Jahren nicht mehr über eine Website laufen, sondern über einen Assistenten.
Rechts oben eine Randgröße: 4,1 Milliarden Menschen kaufen 2030 online, 60 Prozent der Weltbevölkerung. Nebenbei: Die Ausgaben für Betrugserkennung steigen von 21 auf 39 Milliarden Dollar, weil Betrüger dieselben Werkzeuge nutzen — Deepfakes und synthetische Identitäten.
Der schwarze Kasten ist der Satz, über den es sich zu diskutieren lohnt: Wenn Maschinen einkaufen, ist der Adressat von Marketing nicht mehr nur der Mensch. Produktdaten müssen dann nicht schön sein, sondern maschinenlesbar und eindeutig.
Ehrlich bleiben: Heute kaufen 6,3 Prozent vollständig per KI. Zwischen dieser Zahl und den Prognosen liegt viel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drei Sätze — mehr braucht es nicht.
Erstens: KI ist in der Breite angekommen. Erstmals nutzt die Mehrheit der deutschen Unternehmen KI, 57 Prozent. 2024 waren es 20. Das ist keine Zukunftsfrage mehr.
Zweitens: Im E-Commerce zahlt sich das messbar aus. Zwölf Milliarden Dollar Zusatzumsatz über einen einzigen Assistenten bei Amazon. Acht Prozent weniger größenbedingte Retouren bei Zalando. Das sind keine Pilotprojekte, das steht in Geschäftsberichten.
Drittens — der wichtigste Satz: Der Engpass ist nicht die Technik. Er liegt bei Vertrauen, Daten und Regeln. Erst 6,3 Prozent der Kundschaft kauft vollständig per KI. Und ab dem 2. August 2026 muss sich in der EU jeder Chatbot als KI zu erkennen geben.
Wer heute anfängt, fängt nicht beim Modell an. Er fängt bei seinen Produktdaten an.
Vielen Dank — Fragen gerne jetzt. Die Quellen stehen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Quellenfolie — bitte stehen lassen, solange Fragen kommen.
Grundsatz: Jede Zahl auf jeder Folie hat eine Fußnote, und jede Fußnote löst sich hier auf, mit vollständiger URL und Abrufdatum.
Zwei Hinweise zur Sorgfalt:
Erstens sind Unternehmensangaben — Amazon, Zalando, Shopify, Klarna — als solche gekennzeichnet. Das ist Unternehmenskommunikation, keine unabhängige Prüfung.
Zweitens sind Prognosen überall dort als Prognose beschriftet, wo sie eine sind. Die gelbe Säule für 2026 im deutschen Onlinehandel habe ich selbst aus der HDE-Wachstumsprognose gerechnet; das steht in der Fußnote der Folie.
Unten: Alle Diagramme sind aus den recherchierten Daten selbst erstellt, es wurden keine fremden Charts abfotografiert und keine Stockfotos verwendet.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84D"/>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56032"/>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PRÄSENTATION · SEPTEMBER 2026</a:t>
            </a:r>
            <a:endParaRPr lang="en-US" sz="1100" dirty="0"/>
          </a:p>
        </p:txBody>
      </p:sp>
      <p:sp>
        <p:nvSpPr>
          <p:cNvPr id="3" name="Text 1"/>
          <p:cNvSpPr txBox="1"/>
          <p:nvPr/>
        </p:nvSpPr>
        <p:spPr>
          <a:xfrm>
            <a:off x="566928" y="1143000"/>
            <a:ext cx="10424160" cy="3246120"/>
          </a:xfrm>
          <a:prstGeom prst="rect">
            <a:avLst/>
          </a:prstGeom>
          <a:noFill/>
          <a:ln/>
        </p:spPr>
        <p:txBody>
          <a:bodyPr wrap="square" lIns="0" tIns="0" rIns="0" bIns="0" rtlCol="0" anchor="t"/>
          <a:lstStyle/>
          <a:p>
            <a:pPr indent="0" marL="0">
              <a:lnSpc>
                <a:spcPct val="94000"/>
              </a:lnSpc>
              <a:buNone/>
            </a:pPr>
            <a:r>
              <a:rPr lang="en-US" sz="5800" dirty="0">
                <a:solidFill>
                  <a:srgbClr val="111111"/>
                </a:solidFill>
                <a:latin typeface="Arial Black" pitchFamily="34" charset="0"/>
                <a:ea typeface="Arial Black" pitchFamily="34" charset="-122"/>
                <a:cs typeface="Arial Black" pitchFamily="34" charset="-120"/>
              </a:rPr>
              <a:t>WIE KI</a:t>
            </a:r>
            <a:endParaRPr lang="en-US" sz="5800" dirty="0"/>
          </a:p>
          <a:p>
            <a:pPr indent="0" marL="0">
              <a:lnSpc>
                <a:spcPct val="94000"/>
              </a:lnSpc>
              <a:buNone/>
            </a:pPr>
            <a:r>
              <a:rPr lang="en-US" sz="5800" dirty="0">
                <a:solidFill>
                  <a:srgbClr val="111111"/>
                </a:solidFill>
                <a:latin typeface="Arial Black" pitchFamily="34" charset="0"/>
                <a:ea typeface="Arial Black" pitchFamily="34" charset="-122"/>
                <a:cs typeface="Arial Black" pitchFamily="34" charset="-120"/>
              </a:rPr>
              <a:t>DIE WIRTSCHAFT</a:t>
            </a:r>
            <a:endParaRPr lang="en-US" sz="5800" dirty="0"/>
          </a:p>
          <a:p>
            <a:pPr indent="0" marL="0">
              <a:lnSpc>
                <a:spcPct val="94000"/>
              </a:lnSpc>
              <a:buNone/>
            </a:pPr>
            <a:r>
              <a:rPr lang="en-US" sz="5800" dirty="0">
                <a:solidFill>
                  <a:srgbClr val="111111"/>
                </a:solidFill>
                <a:latin typeface="Arial Black" pitchFamily="34" charset="0"/>
                <a:ea typeface="Arial Black" pitchFamily="34" charset="-122"/>
                <a:cs typeface="Arial Black" pitchFamily="34" charset="-120"/>
              </a:rPr>
              <a:t>VERÄNDERT</a:t>
            </a:r>
            <a:endParaRPr lang="en-US" sz="5800" dirty="0"/>
          </a:p>
        </p:txBody>
      </p:sp>
      <p:sp>
        <p:nvSpPr>
          <p:cNvPr id="4" name="Shape 2"/>
          <p:cNvSpPr/>
          <p:nvPr/>
        </p:nvSpPr>
        <p:spPr>
          <a:xfrm>
            <a:off x="658368" y="4681728"/>
            <a:ext cx="5486400" cy="786384"/>
          </a:xfrm>
          <a:prstGeom prst="rect">
            <a:avLst/>
          </a:prstGeom>
          <a:solidFill>
            <a:srgbClr val="111111"/>
          </a:solidFill>
          <a:ln/>
        </p:spPr>
      </p:sp>
      <p:sp>
        <p:nvSpPr>
          <p:cNvPr id="5" name="Shape 3"/>
          <p:cNvSpPr/>
          <p:nvPr/>
        </p:nvSpPr>
        <p:spPr>
          <a:xfrm>
            <a:off x="566928" y="4590288"/>
            <a:ext cx="5486400" cy="786384"/>
          </a:xfrm>
          <a:prstGeom prst="rect">
            <a:avLst/>
          </a:prstGeom>
          <a:solidFill>
            <a:srgbClr val="111111"/>
          </a:solidFill>
          <a:ln/>
        </p:spPr>
      </p:sp>
      <p:sp>
        <p:nvSpPr>
          <p:cNvPr id="6" name="Text 4"/>
          <p:cNvSpPr txBox="1"/>
          <p:nvPr/>
        </p:nvSpPr>
        <p:spPr>
          <a:xfrm>
            <a:off x="841248" y="4590288"/>
            <a:ext cx="4937760" cy="786384"/>
          </a:xfrm>
          <a:prstGeom prst="rect">
            <a:avLst/>
          </a:prstGeom>
          <a:noFill/>
          <a:ln/>
        </p:spPr>
        <p:txBody>
          <a:bodyPr wrap="square" lIns="0" tIns="0" rIns="0" bIns="0" rtlCol="0" anchor="ctr"/>
          <a:lstStyle/>
          <a:p>
            <a:pPr indent="0" marL="0">
              <a:buNone/>
            </a:pPr>
            <a:r>
              <a:rPr lang="en-US" sz="2500" dirty="0">
                <a:solidFill>
                  <a:srgbClr val="FFD84D"/>
                </a:solidFill>
                <a:latin typeface="Arial Black" pitchFamily="34" charset="0"/>
                <a:ea typeface="Arial Black" pitchFamily="34" charset="-122"/>
                <a:cs typeface="Arial Black" pitchFamily="34" charset="-120"/>
              </a:rPr>
              <a:t>FOKUS E-COMMERCE</a:t>
            </a:r>
            <a:endParaRPr lang="en-US" sz="2500" dirty="0"/>
          </a:p>
        </p:txBody>
      </p:sp>
      <p:sp>
        <p:nvSpPr>
          <p:cNvPr id="7" name="Shape 5"/>
          <p:cNvSpPr/>
          <p:nvPr/>
        </p:nvSpPr>
        <p:spPr>
          <a:xfrm>
            <a:off x="8732520" y="3474720"/>
            <a:ext cx="777240" cy="1005840"/>
          </a:xfrm>
          <a:prstGeom prst="rect">
            <a:avLst/>
          </a:prstGeom>
          <a:solidFill>
            <a:srgbClr val="111111"/>
          </a:solidFill>
          <a:ln/>
        </p:spPr>
      </p:sp>
      <p:sp>
        <p:nvSpPr>
          <p:cNvPr id="8" name="Shape 6"/>
          <p:cNvSpPr/>
          <p:nvPr/>
        </p:nvSpPr>
        <p:spPr>
          <a:xfrm>
            <a:off x="9738360" y="2788920"/>
            <a:ext cx="777240" cy="1691640"/>
          </a:xfrm>
          <a:prstGeom prst="rect">
            <a:avLst/>
          </a:prstGeom>
          <a:solidFill>
            <a:srgbClr val="111111"/>
          </a:solidFill>
          <a:ln/>
        </p:spPr>
      </p:sp>
      <p:sp>
        <p:nvSpPr>
          <p:cNvPr id="9" name="Shape 7"/>
          <p:cNvSpPr/>
          <p:nvPr/>
        </p:nvSpPr>
        <p:spPr>
          <a:xfrm>
            <a:off x="10744200" y="2057400"/>
            <a:ext cx="777240" cy="2423160"/>
          </a:xfrm>
          <a:prstGeom prst="rect">
            <a:avLst/>
          </a:prstGeom>
          <a:solidFill>
            <a:srgbClr val="111111"/>
          </a:solidFill>
          <a:ln/>
        </p:spPr>
      </p:sp>
      <p:sp>
        <p:nvSpPr>
          <p:cNvPr id="10" name="Text 8"/>
          <p:cNvSpPr txBox="1"/>
          <p:nvPr/>
        </p:nvSpPr>
        <p:spPr>
          <a:xfrm>
            <a:off x="566928" y="5797296"/>
            <a:ext cx="10424160" cy="256032"/>
          </a:xfrm>
          <a:prstGeom prst="rect">
            <a:avLst/>
          </a:prstGeom>
          <a:noFill/>
          <a:ln/>
        </p:spPr>
        <p:txBody>
          <a:bodyPr wrap="square" lIns="0" tIns="0" rIns="0" bIns="0" rtlCol="0" anchor="ctr"/>
          <a:lstStyle/>
          <a:p>
            <a:pPr indent="0" marL="0">
              <a:buNone/>
            </a:pPr>
            <a:r>
              <a:rPr lang="en-US" sz="950" b="1" dirty="0">
                <a:solidFill>
                  <a:srgbClr val="111111"/>
                </a:solidFill>
                <a:latin typeface="Courier New" pitchFamily="34" charset="0"/>
                <a:ea typeface="Courier New" pitchFamily="34" charset="-122"/>
                <a:cs typeface="Courier New" pitchFamily="34" charset="-120"/>
              </a:rPr>
              <a:t>DAUER CA. 15 MINUTEN · DATENSTAND SEPTEMBER 2026 · JEDE ZAHL MIT QUELLE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FFD84D"/>
                </a:solidFill>
                <a:latin typeface="Courier New" pitchFamily="34" charset="0"/>
                <a:ea typeface="Courier New" pitchFamily="34" charset="-122"/>
                <a:cs typeface="Courier New" pitchFamily="34" charset="-120"/>
              </a:rPr>
              <a:t>EINSTIEG</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FFFFFF"/>
                </a:solidFill>
                <a:latin typeface="Arial Black" pitchFamily="34" charset="0"/>
                <a:ea typeface="Arial Black" pitchFamily="34" charset="-122"/>
                <a:cs typeface="Arial Black" pitchFamily="34" charset="-120"/>
              </a:rPr>
              <a:t>EINE ZAHL VORWEG</a:t>
            </a:r>
            <a:endParaRPr lang="en-US" sz="2800" dirty="0"/>
          </a:p>
        </p:txBody>
      </p:sp>
      <p:sp>
        <p:nvSpPr>
          <p:cNvPr id="4" name="Text 2"/>
          <p:cNvSpPr txBox="1"/>
          <p:nvPr/>
        </p:nvSpPr>
        <p:spPr>
          <a:xfrm>
            <a:off x="566928" y="1645920"/>
            <a:ext cx="7315200" cy="1463040"/>
          </a:xfrm>
          <a:prstGeom prst="rect">
            <a:avLst/>
          </a:prstGeom>
          <a:noFill/>
          <a:ln/>
        </p:spPr>
        <p:txBody>
          <a:bodyPr wrap="square" lIns="0" tIns="0" rIns="0" bIns="0" rtlCol="0" anchor="ctr"/>
          <a:lstStyle/>
          <a:p>
            <a:pPr indent="0" marL="0">
              <a:buNone/>
            </a:pPr>
            <a:r>
              <a:rPr lang="en-US" sz="8400" dirty="0">
                <a:solidFill>
                  <a:srgbClr val="FFD84D"/>
                </a:solidFill>
                <a:latin typeface="Arial Black" pitchFamily="34" charset="0"/>
                <a:ea typeface="Arial Black" pitchFamily="34" charset="-122"/>
                <a:cs typeface="Arial Black" pitchFamily="34" charset="-120"/>
              </a:rPr>
              <a:t>12 MRD $</a:t>
            </a:r>
            <a:endParaRPr lang="en-US" sz="8400" dirty="0"/>
          </a:p>
        </p:txBody>
      </p:sp>
      <p:sp>
        <p:nvSpPr>
          <p:cNvPr id="5" name="Text 3"/>
          <p:cNvSpPr txBox="1"/>
          <p:nvPr/>
        </p:nvSpPr>
        <p:spPr>
          <a:xfrm>
            <a:off x="566928" y="3273552"/>
            <a:ext cx="6675120" cy="914400"/>
          </a:xfrm>
          <a:prstGeom prst="rect">
            <a:avLst/>
          </a:prstGeom>
          <a:noFill/>
          <a:ln/>
        </p:spPr>
        <p:txBody>
          <a:bodyPr wrap="square" lIns="0" tIns="0" rIns="0" bIns="0" rtlCol="0" anchor="t"/>
          <a:lstStyle/>
          <a:p>
            <a:pPr indent="0" marL="0">
              <a:lnSpc>
                <a:spcPct val="130000"/>
              </a:lnSpc>
              <a:buNone/>
            </a:pPr>
            <a:r>
              <a:rPr lang="en-US" sz="1450" dirty="0">
                <a:solidFill>
                  <a:srgbClr val="FFFFFF"/>
                </a:solidFill>
                <a:latin typeface="Arial" pitchFamily="34" charset="0"/>
                <a:ea typeface="Arial" pitchFamily="34" charset="-122"/>
                <a:cs typeface="Arial" pitchFamily="34" charset="-120"/>
              </a:rPr>
              <a:t>zusätzlicher Umsatz in einem einzigen Jahr — erzeugt von einem einzigen KI-Einkaufsassistenten: Amazon Rufus.</a:t>
            </a:r>
            <a:endParaRPr lang="en-US" sz="1450" dirty="0"/>
          </a:p>
        </p:txBody>
      </p:sp>
      <p:sp>
        <p:nvSpPr>
          <p:cNvPr id="6" name="Shape 4"/>
          <p:cNvSpPr/>
          <p:nvPr/>
        </p:nvSpPr>
        <p:spPr>
          <a:xfrm>
            <a:off x="8060741" y="1645920"/>
            <a:ext cx="3564026" cy="1426464"/>
          </a:xfrm>
          <a:prstGeom prst="rect">
            <a:avLst/>
          </a:prstGeom>
          <a:solidFill>
            <a:srgbClr val="FFD84D"/>
          </a:solidFill>
          <a:ln/>
        </p:spPr>
      </p:sp>
      <p:sp>
        <p:nvSpPr>
          <p:cNvPr id="7" name="Text 5"/>
          <p:cNvSpPr txBox="1"/>
          <p:nvPr/>
        </p:nvSpPr>
        <p:spPr>
          <a:xfrm>
            <a:off x="8335061" y="1847088"/>
            <a:ext cx="3015386" cy="530352"/>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300 MIO.</a:t>
            </a:r>
            <a:endParaRPr lang="en-US" sz="3800" dirty="0"/>
          </a:p>
        </p:txBody>
      </p:sp>
      <p:sp>
        <p:nvSpPr>
          <p:cNvPr id="8" name="Text 6"/>
          <p:cNvSpPr txBox="1"/>
          <p:nvPr/>
        </p:nvSpPr>
        <p:spPr>
          <a:xfrm>
            <a:off x="8335061" y="2432304"/>
            <a:ext cx="3015386" cy="475488"/>
          </a:xfrm>
          <a:prstGeom prst="rect">
            <a:avLst/>
          </a:prstGeom>
          <a:noFill/>
          <a:ln/>
        </p:spPr>
        <p:txBody>
          <a:bodyPr wrap="square" lIns="0" tIns="0" rIns="0" bIns="0" rtlCol="0" anchor="t"/>
          <a:lstStyle/>
          <a:p>
            <a:pPr indent="0" marL="0">
              <a:lnSpc>
                <a:spcPct val="120000"/>
              </a:lnSpc>
              <a:buNone/>
            </a:pPr>
            <a:r>
              <a:rPr lang="en-US" sz="1250" dirty="0">
                <a:solidFill>
                  <a:srgbClr val="111111"/>
                </a:solidFill>
                <a:latin typeface="Arial" pitchFamily="34" charset="0"/>
                <a:ea typeface="Arial" pitchFamily="34" charset="-122"/>
                <a:cs typeface="Arial" pitchFamily="34" charset="-120"/>
              </a:rPr>
              <a:t>Menschen haben ihn 2025 benutzt.</a:t>
            </a:r>
            <a:endParaRPr lang="en-US" sz="1250" dirty="0"/>
          </a:p>
        </p:txBody>
      </p:sp>
      <p:sp>
        <p:nvSpPr>
          <p:cNvPr id="9" name="Shape 7"/>
          <p:cNvSpPr/>
          <p:nvPr/>
        </p:nvSpPr>
        <p:spPr>
          <a:xfrm>
            <a:off x="8060741" y="3273552"/>
            <a:ext cx="3564026" cy="1426464"/>
          </a:xfrm>
          <a:prstGeom prst="rect">
            <a:avLst/>
          </a:prstGeom>
          <a:solidFill>
            <a:srgbClr val="FFD84D"/>
          </a:solidFill>
          <a:ln/>
        </p:spPr>
      </p:sp>
      <p:sp>
        <p:nvSpPr>
          <p:cNvPr id="10" name="Text 8"/>
          <p:cNvSpPr txBox="1"/>
          <p:nvPr/>
        </p:nvSpPr>
        <p:spPr>
          <a:xfrm>
            <a:off x="8335061" y="3474720"/>
            <a:ext cx="3015386" cy="530352"/>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+60 %</a:t>
            </a:r>
            <a:endParaRPr lang="en-US" sz="3800" dirty="0"/>
          </a:p>
        </p:txBody>
      </p:sp>
      <p:sp>
        <p:nvSpPr>
          <p:cNvPr id="11" name="Text 9"/>
          <p:cNvSpPr txBox="1"/>
          <p:nvPr/>
        </p:nvSpPr>
        <p:spPr>
          <a:xfrm>
            <a:off x="8335061" y="4059936"/>
            <a:ext cx="3015386" cy="475488"/>
          </a:xfrm>
          <a:prstGeom prst="rect">
            <a:avLst/>
          </a:prstGeom>
          <a:noFill/>
          <a:ln/>
        </p:spPr>
        <p:txBody>
          <a:bodyPr wrap="square" lIns="0" tIns="0" rIns="0" bIns="0" rtlCol="0" anchor="t"/>
          <a:lstStyle/>
          <a:p>
            <a:pPr indent="0" marL="0">
              <a:lnSpc>
                <a:spcPct val="120000"/>
              </a:lnSpc>
              <a:buNone/>
            </a:pPr>
            <a:r>
              <a:rPr lang="en-US" sz="1250" dirty="0">
                <a:solidFill>
                  <a:srgbClr val="111111"/>
                </a:solidFill>
                <a:latin typeface="Arial" pitchFamily="34" charset="0"/>
                <a:ea typeface="Arial" pitchFamily="34" charset="-122"/>
                <a:cs typeface="Arial" pitchFamily="34" charset="-120"/>
              </a:rPr>
              <a:t>häufiger kommt ein Kauf zustande.</a:t>
            </a:r>
            <a:endParaRPr lang="en-US" sz="1250" dirty="0"/>
          </a:p>
        </p:txBody>
      </p:sp>
      <p:sp>
        <p:nvSpPr>
          <p:cNvPr id="12" name="Text 10"/>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B9B9B9"/>
                </a:solidFill>
                <a:latin typeface="Courier New" pitchFamily="34" charset="0"/>
                <a:ea typeface="Courier New" pitchFamily="34" charset="-122"/>
                <a:cs typeface="Courier New" pitchFamily="34" charset="-120"/>
              </a:rPr>
              <a:t>QUELLE: AMAZON, Q4/GJ-2025-ERGEBNISSE UND EARNINGS CALL, 02/2026</a:t>
            </a:r>
            <a:endParaRPr lang="en-US" sz="800" dirty="0"/>
          </a:p>
        </p:txBody>
      </p:sp>
      <p:sp>
        <p:nvSpPr>
          <p:cNvPr id="13" name="Shape 11"/>
          <p:cNvSpPr/>
          <p:nvPr/>
        </p:nvSpPr>
        <p:spPr>
          <a:xfrm>
            <a:off x="10874959" y="6217920"/>
            <a:ext cx="749808" cy="237744"/>
          </a:xfrm>
          <a:prstGeom prst="rect">
            <a:avLst/>
          </a:prstGeom>
          <a:solidFill>
            <a:srgbClr val="FFD84D"/>
          </a:solidFill>
          <a:ln/>
        </p:spPr>
      </p:sp>
      <p:sp>
        <p:nvSpPr>
          <p:cNvPr id="14" name="Text 12"/>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111111"/>
                </a:solidFill>
                <a:latin typeface="Courier New" pitchFamily="34" charset="0"/>
                <a:ea typeface="Courier New" pitchFamily="34" charset="-122"/>
                <a:cs typeface="Courier New" pitchFamily="34" charset="-120"/>
              </a:rPr>
              <a:t>02/15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GRUNDLAGEN</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KI IN EINER FOLIE</a:t>
            </a:r>
            <a:endParaRPr lang="en-US" sz="2800" dirty="0"/>
          </a:p>
        </p:txBody>
      </p:sp>
      <p:sp>
        <p:nvSpPr>
          <p:cNvPr id="4" name="Shape 2"/>
          <p:cNvSpPr/>
          <p:nvPr/>
        </p:nvSpPr>
        <p:spPr>
          <a:xfrm>
            <a:off x="658368" y="1737360"/>
            <a:ext cx="3564026" cy="3127248"/>
          </a:xfrm>
          <a:prstGeom prst="rect">
            <a:avLst/>
          </a:prstGeom>
          <a:solidFill>
            <a:srgbClr val="111111"/>
          </a:solidFill>
          <a:ln/>
        </p:spPr>
      </p:sp>
      <p:sp>
        <p:nvSpPr>
          <p:cNvPr id="5" name="Shape 3"/>
          <p:cNvSpPr/>
          <p:nvPr/>
        </p:nvSpPr>
        <p:spPr>
          <a:xfrm>
            <a:off x="566928" y="1645920"/>
            <a:ext cx="3564026" cy="3127248"/>
          </a:xfrm>
          <a:prstGeom prst="rect">
            <a:avLst/>
          </a:prstGeom>
          <a:solidFill>
            <a:srgbClr val="FFD84D"/>
          </a:solidFill>
          <a:ln w="28575">
            <a:solidFill>
              <a:srgbClr val="111111"/>
            </a:solidFill>
            <a:prstDash val="solid"/>
          </a:ln>
        </p:spPr>
      </p:sp>
      <p:sp>
        <p:nvSpPr>
          <p:cNvPr id="6" name="Shape 4"/>
          <p:cNvSpPr/>
          <p:nvPr/>
        </p:nvSpPr>
        <p:spPr>
          <a:xfrm>
            <a:off x="841248" y="1920240"/>
            <a:ext cx="420624" cy="420624"/>
          </a:xfrm>
          <a:prstGeom prst="rect">
            <a:avLst/>
          </a:prstGeom>
          <a:solidFill>
            <a:srgbClr val="FFFFFF"/>
          </a:solidFill>
          <a:ln w="28575">
            <a:solidFill>
              <a:srgbClr val="111111"/>
            </a:solidFill>
            <a:prstDash val="solid"/>
          </a:ln>
        </p:spPr>
      </p:sp>
      <p:pic>
        <p:nvPicPr>
          <p:cNvPr id="7" name="Image 0" descr="preencoded.png">    </p:cNvPr>
          <p:cNvPicPr>
            <a:picLocks noChangeAspect="1"/>
          </p:cNvPicPr>
          <p:nvPr/>
        </p:nvPicPr>
        <p:blipFill>
          <a:blip r:embed="rId1"/>
          <a:stretch>
            <a:fillRect/>
          </a:stretch>
        </p:blipFill>
        <p:spPr>
          <a:xfrm>
            <a:off x="933785" y="2012777"/>
            <a:ext cx="235549" cy="235549"/>
          </a:xfrm>
          <a:prstGeom prst="rect">
            <a:avLst/>
          </a:prstGeom>
        </p:spPr>
      </p:pic>
      <p:sp>
        <p:nvSpPr>
          <p:cNvPr id="8" name="Text 5"/>
          <p:cNvSpPr txBox="1"/>
          <p:nvPr/>
        </p:nvSpPr>
        <p:spPr>
          <a:xfrm>
            <a:off x="841248" y="2487168"/>
            <a:ext cx="3015386" cy="310896"/>
          </a:xfrm>
          <a:prstGeom prst="rect">
            <a:avLst/>
          </a:prstGeom>
          <a:noFill/>
          <a:ln/>
        </p:spPr>
        <p:txBody>
          <a:bodyPr wrap="square" lIns="0" tIns="0" rIns="0" bIns="0" rtlCol="0" anchor="ctr"/>
          <a:lstStyle/>
          <a:p>
            <a:pPr indent="0" marL="0">
              <a:buNone/>
            </a:pPr>
            <a:r>
              <a:rPr lang="en-US" sz="1500" dirty="0">
                <a:solidFill>
                  <a:srgbClr val="111111"/>
                </a:solidFill>
                <a:latin typeface="Arial Black" pitchFamily="34" charset="0"/>
                <a:ea typeface="Arial Black" pitchFamily="34" charset="-122"/>
                <a:cs typeface="Arial Black" pitchFamily="34" charset="-120"/>
              </a:rPr>
              <a:t>MACHINE LEARNING</a:t>
            </a:r>
            <a:endParaRPr lang="en-US" sz="1500" dirty="0"/>
          </a:p>
        </p:txBody>
      </p:sp>
      <p:sp>
        <p:nvSpPr>
          <p:cNvPr id="9" name="Text 6"/>
          <p:cNvSpPr txBox="1"/>
          <p:nvPr/>
        </p:nvSpPr>
        <p:spPr>
          <a:xfrm>
            <a:off x="841248" y="2871216"/>
            <a:ext cx="3015386" cy="1097280"/>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Erkennt Muster in großen Datenmengen. Lernt aus Beispielen statt aus Regeln.</a:t>
            </a:r>
            <a:endParaRPr lang="en-US" sz="1250" dirty="0"/>
          </a:p>
        </p:txBody>
      </p:sp>
      <p:sp>
        <p:nvSpPr>
          <p:cNvPr id="10" name="Text 7"/>
          <p:cNvSpPr txBox="1"/>
          <p:nvPr/>
        </p:nvSpPr>
        <p:spPr>
          <a:xfrm>
            <a:off x="841248" y="4133088"/>
            <a:ext cx="3015386" cy="438912"/>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NACHFRAGEPROGNOSE · BETRUGS-SCORE</a:t>
            </a:r>
            <a:endParaRPr lang="en-US" sz="900" dirty="0"/>
          </a:p>
        </p:txBody>
      </p:sp>
      <p:sp>
        <p:nvSpPr>
          <p:cNvPr id="11" name="Shape 8"/>
          <p:cNvSpPr/>
          <p:nvPr/>
        </p:nvSpPr>
        <p:spPr>
          <a:xfrm>
            <a:off x="4405274" y="1956816"/>
            <a:ext cx="3564026" cy="3127248"/>
          </a:xfrm>
          <a:prstGeom prst="rect">
            <a:avLst/>
          </a:prstGeom>
          <a:solidFill>
            <a:srgbClr val="111111"/>
          </a:solidFill>
          <a:ln/>
        </p:spPr>
      </p:sp>
      <p:sp>
        <p:nvSpPr>
          <p:cNvPr id="12" name="Shape 9"/>
          <p:cNvSpPr/>
          <p:nvPr/>
        </p:nvSpPr>
        <p:spPr>
          <a:xfrm>
            <a:off x="4313834" y="1865376"/>
            <a:ext cx="3564026" cy="3127248"/>
          </a:xfrm>
          <a:prstGeom prst="rect">
            <a:avLst/>
          </a:prstGeom>
          <a:solidFill>
            <a:srgbClr val="FFFFFF"/>
          </a:solidFill>
          <a:ln w="28575">
            <a:solidFill>
              <a:srgbClr val="111111"/>
            </a:solidFill>
            <a:prstDash val="solid"/>
          </a:ln>
        </p:spPr>
      </p:sp>
      <p:sp>
        <p:nvSpPr>
          <p:cNvPr id="13" name="Shape 10"/>
          <p:cNvSpPr/>
          <p:nvPr/>
        </p:nvSpPr>
        <p:spPr>
          <a:xfrm>
            <a:off x="4588154" y="2139696"/>
            <a:ext cx="420624" cy="420624"/>
          </a:xfrm>
          <a:prstGeom prst="rect">
            <a:avLst/>
          </a:prstGeom>
          <a:solidFill>
            <a:srgbClr val="FFD84D"/>
          </a:solidFill>
          <a:ln w="28575">
            <a:solidFill>
              <a:srgbClr val="111111"/>
            </a:solidFill>
            <a:prstDash val="solid"/>
          </a:ln>
        </p:spPr>
      </p:sp>
      <p:pic>
        <p:nvPicPr>
          <p:cNvPr id="14" name="Image 1" descr="preencoded.png">    </p:cNvPr>
          <p:cNvPicPr>
            <a:picLocks noChangeAspect="1"/>
          </p:cNvPicPr>
          <p:nvPr/>
        </p:nvPicPr>
        <p:blipFill>
          <a:blip r:embed="rId2"/>
          <a:stretch>
            <a:fillRect/>
          </a:stretch>
        </p:blipFill>
        <p:spPr>
          <a:xfrm>
            <a:off x="4680692" y="2232233"/>
            <a:ext cx="235549" cy="235549"/>
          </a:xfrm>
          <a:prstGeom prst="rect">
            <a:avLst/>
          </a:prstGeom>
        </p:spPr>
      </p:pic>
      <p:sp>
        <p:nvSpPr>
          <p:cNvPr id="15" name="Text 11"/>
          <p:cNvSpPr txBox="1"/>
          <p:nvPr/>
        </p:nvSpPr>
        <p:spPr>
          <a:xfrm>
            <a:off x="4588154" y="2706624"/>
            <a:ext cx="3015386" cy="310896"/>
          </a:xfrm>
          <a:prstGeom prst="rect">
            <a:avLst/>
          </a:prstGeom>
          <a:noFill/>
          <a:ln/>
        </p:spPr>
        <p:txBody>
          <a:bodyPr wrap="square" lIns="0" tIns="0" rIns="0" bIns="0" rtlCol="0" anchor="ctr"/>
          <a:lstStyle/>
          <a:p>
            <a:pPr indent="0" marL="0">
              <a:buNone/>
            </a:pPr>
            <a:r>
              <a:rPr lang="en-US" sz="1500" dirty="0">
                <a:solidFill>
                  <a:srgbClr val="111111"/>
                </a:solidFill>
                <a:latin typeface="Arial Black" pitchFamily="34" charset="0"/>
                <a:ea typeface="Arial Black" pitchFamily="34" charset="-122"/>
                <a:cs typeface="Arial Black" pitchFamily="34" charset="-120"/>
              </a:rPr>
              <a:t>GENERATIVE KI</a:t>
            </a:r>
            <a:endParaRPr lang="en-US" sz="1500" dirty="0"/>
          </a:p>
        </p:txBody>
      </p:sp>
      <p:sp>
        <p:nvSpPr>
          <p:cNvPr id="16" name="Text 12"/>
          <p:cNvSpPr txBox="1"/>
          <p:nvPr/>
        </p:nvSpPr>
        <p:spPr>
          <a:xfrm>
            <a:off x="4588154" y="3090672"/>
            <a:ext cx="3015386" cy="1097280"/>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Erzeugt neue Inhalte: Text, Bild, Code. Berechnet Schritt für Schritt das Plausibelste.</a:t>
            </a:r>
            <a:endParaRPr lang="en-US" sz="1250" dirty="0"/>
          </a:p>
        </p:txBody>
      </p:sp>
      <p:sp>
        <p:nvSpPr>
          <p:cNvPr id="17" name="Text 13"/>
          <p:cNvSpPr txBox="1"/>
          <p:nvPr/>
        </p:nvSpPr>
        <p:spPr>
          <a:xfrm>
            <a:off x="4588154" y="4352544"/>
            <a:ext cx="3015386" cy="438912"/>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PRODUKTTEXTE · KAMPAGNEN</a:t>
            </a:r>
            <a:endParaRPr lang="en-US" sz="900" dirty="0"/>
          </a:p>
        </p:txBody>
      </p:sp>
      <p:sp>
        <p:nvSpPr>
          <p:cNvPr id="18" name="Shape 14"/>
          <p:cNvSpPr/>
          <p:nvPr/>
        </p:nvSpPr>
        <p:spPr>
          <a:xfrm>
            <a:off x="8152181" y="1737360"/>
            <a:ext cx="3564026" cy="3127248"/>
          </a:xfrm>
          <a:prstGeom prst="rect">
            <a:avLst/>
          </a:prstGeom>
          <a:solidFill>
            <a:srgbClr val="111111"/>
          </a:solidFill>
          <a:ln/>
        </p:spPr>
      </p:sp>
      <p:sp>
        <p:nvSpPr>
          <p:cNvPr id="19" name="Shape 15"/>
          <p:cNvSpPr/>
          <p:nvPr/>
        </p:nvSpPr>
        <p:spPr>
          <a:xfrm>
            <a:off x="8060741" y="1645920"/>
            <a:ext cx="3564026" cy="3127248"/>
          </a:xfrm>
          <a:prstGeom prst="rect">
            <a:avLst/>
          </a:prstGeom>
          <a:solidFill>
            <a:srgbClr val="FFD84D"/>
          </a:solidFill>
          <a:ln w="28575">
            <a:solidFill>
              <a:srgbClr val="111111"/>
            </a:solidFill>
            <a:prstDash val="solid"/>
          </a:ln>
        </p:spPr>
      </p:sp>
      <p:sp>
        <p:nvSpPr>
          <p:cNvPr id="20" name="Shape 16"/>
          <p:cNvSpPr/>
          <p:nvPr/>
        </p:nvSpPr>
        <p:spPr>
          <a:xfrm>
            <a:off x="8335061" y="1920240"/>
            <a:ext cx="420624" cy="420624"/>
          </a:xfrm>
          <a:prstGeom prst="rect">
            <a:avLst/>
          </a:prstGeom>
          <a:solidFill>
            <a:srgbClr val="FFFFFF"/>
          </a:solidFill>
          <a:ln w="28575">
            <a:solidFill>
              <a:srgbClr val="111111"/>
            </a:solidFill>
            <a:prstDash val="solid"/>
          </a:ln>
        </p:spPr>
      </p:sp>
      <p:pic>
        <p:nvPicPr>
          <p:cNvPr id="21" name="Image 2" descr="preencoded.png">    </p:cNvPr>
          <p:cNvPicPr>
            <a:picLocks noChangeAspect="1"/>
          </p:cNvPicPr>
          <p:nvPr/>
        </p:nvPicPr>
        <p:blipFill>
          <a:blip r:embed="rId3"/>
          <a:stretch>
            <a:fillRect/>
          </a:stretch>
        </p:blipFill>
        <p:spPr>
          <a:xfrm>
            <a:off x="8427598" y="2012777"/>
            <a:ext cx="235549" cy="235549"/>
          </a:xfrm>
          <a:prstGeom prst="rect">
            <a:avLst/>
          </a:prstGeom>
        </p:spPr>
      </p:pic>
      <p:sp>
        <p:nvSpPr>
          <p:cNvPr id="22" name="Text 17"/>
          <p:cNvSpPr txBox="1"/>
          <p:nvPr/>
        </p:nvSpPr>
        <p:spPr>
          <a:xfrm>
            <a:off x="8335061" y="2487168"/>
            <a:ext cx="3015386" cy="310896"/>
          </a:xfrm>
          <a:prstGeom prst="rect">
            <a:avLst/>
          </a:prstGeom>
          <a:noFill/>
          <a:ln/>
        </p:spPr>
        <p:txBody>
          <a:bodyPr wrap="square" lIns="0" tIns="0" rIns="0" bIns="0" rtlCol="0" anchor="ctr"/>
          <a:lstStyle/>
          <a:p>
            <a:pPr indent="0" marL="0">
              <a:buNone/>
            </a:pPr>
            <a:r>
              <a:rPr lang="en-US" sz="1500" dirty="0">
                <a:solidFill>
                  <a:srgbClr val="111111"/>
                </a:solidFill>
                <a:latin typeface="Arial Black" pitchFamily="34" charset="0"/>
                <a:ea typeface="Arial Black" pitchFamily="34" charset="-122"/>
                <a:cs typeface="Arial Black" pitchFamily="34" charset="-120"/>
              </a:rPr>
              <a:t>KI-AGENTEN</a:t>
            </a:r>
            <a:endParaRPr lang="en-US" sz="1500" dirty="0"/>
          </a:p>
        </p:txBody>
      </p:sp>
      <p:sp>
        <p:nvSpPr>
          <p:cNvPr id="23" name="Text 18"/>
          <p:cNvSpPr txBox="1"/>
          <p:nvPr/>
        </p:nvSpPr>
        <p:spPr>
          <a:xfrm>
            <a:off x="8335061" y="2871216"/>
            <a:ext cx="3015386" cy="1097280"/>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Planen mehrere Schritte, bedienen Werkzeuge und handeln eigenständig bis zum Ziel.</a:t>
            </a:r>
            <a:endParaRPr lang="en-US" sz="1250" dirty="0"/>
          </a:p>
        </p:txBody>
      </p:sp>
      <p:sp>
        <p:nvSpPr>
          <p:cNvPr id="24" name="Text 19"/>
          <p:cNvSpPr txBox="1"/>
          <p:nvPr/>
        </p:nvSpPr>
        <p:spPr>
          <a:xfrm>
            <a:off x="8335061" y="4133088"/>
            <a:ext cx="3015386" cy="438912"/>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ASSISTENT, DER SELBST BESTELLT</a:t>
            </a:r>
            <a:endParaRPr lang="en-US" sz="900" dirty="0"/>
          </a:p>
        </p:txBody>
      </p:sp>
      <p:sp>
        <p:nvSpPr>
          <p:cNvPr id="25" name="Shape 20"/>
          <p:cNvSpPr/>
          <p:nvPr/>
        </p:nvSpPr>
        <p:spPr>
          <a:xfrm>
            <a:off x="658368" y="5449824"/>
            <a:ext cx="11057839" cy="585216"/>
          </a:xfrm>
          <a:prstGeom prst="rect">
            <a:avLst/>
          </a:prstGeom>
          <a:solidFill>
            <a:srgbClr val="111111"/>
          </a:solidFill>
          <a:ln/>
        </p:spPr>
      </p:sp>
      <p:sp>
        <p:nvSpPr>
          <p:cNvPr id="26" name="Shape 21"/>
          <p:cNvSpPr/>
          <p:nvPr/>
        </p:nvSpPr>
        <p:spPr>
          <a:xfrm>
            <a:off x="566928" y="5358384"/>
            <a:ext cx="11057839" cy="585216"/>
          </a:xfrm>
          <a:prstGeom prst="rect">
            <a:avLst/>
          </a:prstGeom>
          <a:solidFill>
            <a:srgbClr val="111111"/>
          </a:solidFill>
          <a:ln/>
        </p:spPr>
      </p:sp>
      <p:sp>
        <p:nvSpPr>
          <p:cNvPr id="27" name="Text 22"/>
          <p:cNvSpPr txBox="1"/>
          <p:nvPr/>
        </p:nvSpPr>
        <p:spPr>
          <a:xfrm>
            <a:off x="841248" y="5358384"/>
            <a:ext cx="10509199" cy="585216"/>
          </a:xfrm>
          <a:prstGeom prst="rect">
            <a:avLst/>
          </a:prstGeom>
          <a:noFill/>
          <a:ln/>
        </p:spPr>
        <p:txBody>
          <a:bodyPr wrap="square" lIns="0" tIns="0" rIns="0" bIns="0" rtlCol="0" anchor="ctr"/>
          <a:lstStyle/>
          <a:p>
            <a:pPr indent="0" marL="0">
              <a:buNone/>
            </a:pPr>
            <a:r>
              <a:rPr lang="en-US" sz="1450" dirty="0">
                <a:solidFill>
                  <a:srgbClr val="FFFFFF"/>
                </a:solidFill>
                <a:latin typeface="Arial" pitchFamily="34" charset="0"/>
                <a:ea typeface="Arial" pitchFamily="34" charset="-122"/>
                <a:cs typeface="Arial" pitchFamily="34" charset="-120"/>
              </a:rPr>
              <a:t>Die Reihenfolge ist der Reifegrad. 2026 verschiebt sich der Schwerpunkt vom Erzeugen zum Handeln.</a:t>
            </a:r>
            <a:endParaRPr lang="en-US" sz="1450" dirty="0"/>
          </a:p>
        </p:txBody>
      </p:sp>
      <p:sp>
        <p:nvSpPr>
          <p:cNvPr id="28" name="Shape 23"/>
          <p:cNvSpPr/>
          <p:nvPr/>
        </p:nvSpPr>
        <p:spPr>
          <a:xfrm>
            <a:off x="10874959" y="6217920"/>
            <a:ext cx="749808" cy="237744"/>
          </a:xfrm>
          <a:prstGeom prst="rect">
            <a:avLst/>
          </a:prstGeom>
          <a:solidFill>
            <a:srgbClr val="111111"/>
          </a:solidFill>
          <a:ln/>
        </p:spPr>
      </p:sp>
      <p:sp>
        <p:nvSpPr>
          <p:cNvPr id="29" name="Text 24"/>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03/15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MAKRO 1 VON 2</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KI IST IN DER BREITE ANGEKOMMEN</a:t>
            </a:r>
            <a:endParaRPr lang="en-US" sz="2800" dirty="0"/>
          </a:p>
        </p:txBody>
      </p:sp>
      <p:sp>
        <p:nvSpPr>
          <p:cNvPr id="4" name="Shape 2"/>
          <p:cNvSpPr/>
          <p:nvPr/>
        </p:nvSpPr>
        <p:spPr>
          <a:xfrm>
            <a:off x="658368" y="1719072"/>
            <a:ext cx="6374206" cy="4114800"/>
          </a:xfrm>
          <a:prstGeom prst="rect">
            <a:avLst/>
          </a:prstGeom>
          <a:solidFill>
            <a:srgbClr val="111111"/>
          </a:solidFill>
          <a:ln/>
        </p:spPr>
      </p:sp>
      <p:sp>
        <p:nvSpPr>
          <p:cNvPr id="5" name="Shape 3"/>
          <p:cNvSpPr/>
          <p:nvPr/>
        </p:nvSpPr>
        <p:spPr>
          <a:xfrm>
            <a:off x="566928" y="1627632"/>
            <a:ext cx="6374206" cy="4114800"/>
          </a:xfrm>
          <a:prstGeom prst="rect">
            <a:avLst/>
          </a:prstGeom>
          <a:solidFill>
            <a:srgbClr val="FFFFFF"/>
          </a:solidFill>
          <a:ln w="28575">
            <a:solidFill>
              <a:srgbClr val="111111"/>
            </a:solidFill>
            <a:prstDash val="solid"/>
          </a:ln>
        </p:spPr>
      </p:sp>
      <p:sp>
        <p:nvSpPr>
          <p:cNvPr id="6" name="Text 4"/>
          <p:cNvSpPr txBox="1"/>
          <p:nvPr/>
        </p:nvSpPr>
        <p:spPr>
          <a:xfrm>
            <a:off x="841248" y="1847088"/>
            <a:ext cx="5825566" cy="237744"/>
          </a:xfrm>
          <a:prstGeom prst="rect">
            <a:avLst/>
          </a:prstGeom>
          <a:noFill/>
          <a:ln/>
        </p:spPr>
        <p:txBody>
          <a:bodyPr wrap="square" lIns="0" tIns="0" rIns="0" bIns="0" rtlCol="0" anchor="ctr"/>
          <a:lstStyle/>
          <a:p>
            <a:pPr indent="0" marL="0">
              <a:buNone/>
            </a:pPr>
            <a:r>
              <a:rPr lang="en-US" sz="1300" dirty="0">
                <a:solidFill>
                  <a:srgbClr val="111111"/>
                </a:solidFill>
                <a:latin typeface="Arial Black" pitchFamily="34" charset="0"/>
                <a:ea typeface="Arial Black" pitchFamily="34" charset="-122"/>
                <a:cs typeface="Arial Black" pitchFamily="34" charset="-120"/>
              </a:rPr>
              <a:t>UNTERNEHMEN IN DEUTSCHLAND, DIE KI EINSETZEN</a:t>
            </a:r>
            <a:endParaRPr lang="en-US" sz="1300" dirty="0"/>
          </a:p>
        </p:txBody>
      </p:sp>
      <p:sp>
        <p:nvSpPr>
          <p:cNvPr id="7" name="Text 5"/>
          <p:cNvSpPr txBox="1"/>
          <p:nvPr/>
        </p:nvSpPr>
        <p:spPr>
          <a:xfrm>
            <a:off x="841248" y="2084832"/>
            <a:ext cx="5825566" cy="201168"/>
          </a:xfrm>
          <a:prstGeom prst="rect">
            <a:avLst/>
          </a:prstGeom>
          <a:noFill/>
          <a:ln/>
        </p:spPr>
        <p:txBody>
          <a:bodyPr wrap="square" lIns="0" tIns="0" rIns="0" bIns="0" rtlCol="0" anchor="ctr"/>
          <a:lstStyle/>
          <a:p>
            <a:pPr indent="0" marL="0">
              <a:buNone/>
            </a:pPr>
            <a:r>
              <a:rPr lang="en-US" sz="800" dirty="0">
                <a:solidFill>
                  <a:srgbClr val="5A5A5A"/>
                </a:solidFill>
                <a:latin typeface="Courier New" pitchFamily="34" charset="0"/>
                <a:ea typeface="Courier New" pitchFamily="34" charset="-122"/>
                <a:cs typeface="Courier New" pitchFamily="34" charset="-120"/>
              </a:rPr>
              <a:t>Anteil in Prozent · Befragung ab 20 Beschäftigten</a:t>
            </a:r>
            <a:endParaRPr lang="en-US" sz="800" dirty="0"/>
          </a:p>
        </p:txBody>
      </p:sp>
      <p:graphicFrame>
        <p:nvGraphicFramePr>
          <p:cNvPr id="8" name="Chart 0" descr=""/>
          <p:cNvGraphicFramePr/>
          <p:nvPr/>
        </p:nvGraphicFramePr>
        <p:xfrm>
          <a:off x="713232" y="2395728"/>
          <a:ext cx="6008446" cy="3182112"/>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215454" y="1719072"/>
            <a:ext cx="4500753" cy="1975104"/>
          </a:xfrm>
          <a:prstGeom prst="rect">
            <a:avLst/>
          </a:prstGeom>
          <a:solidFill>
            <a:srgbClr val="111111"/>
          </a:solidFill>
          <a:ln/>
        </p:spPr>
      </p:sp>
      <p:sp>
        <p:nvSpPr>
          <p:cNvPr id="10" name="Shape 7"/>
          <p:cNvSpPr/>
          <p:nvPr/>
        </p:nvSpPr>
        <p:spPr>
          <a:xfrm>
            <a:off x="7124014" y="1627632"/>
            <a:ext cx="4500753" cy="1975104"/>
          </a:xfrm>
          <a:prstGeom prst="rect">
            <a:avLst/>
          </a:prstGeom>
          <a:solidFill>
            <a:srgbClr val="FFD84D"/>
          </a:solidFill>
          <a:ln w="28575">
            <a:solidFill>
              <a:srgbClr val="111111"/>
            </a:solidFill>
            <a:prstDash val="solid"/>
          </a:ln>
        </p:spPr>
      </p:sp>
      <p:sp>
        <p:nvSpPr>
          <p:cNvPr id="11" name="Text 8"/>
          <p:cNvSpPr txBox="1"/>
          <p:nvPr/>
        </p:nvSpPr>
        <p:spPr>
          <a:xfrm>
            <a:off x="7398334" y="1883664"/>
            <a:ext cx="3952113" cy="566928"/>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2,59 BIO $</a:t>
            </a:r>
            <a:endParaRPr lang="en-US" sz="3800" dirty="0"/>
          </a:p>
        </p:txBody>
      </p:sp>
      <p:sp>
        <p:nvSpPr>
          <p:cNvPr id="12" name="Text 9"/>
          <p:cNvSpPr txBox="1"/>
          <p:nvPr/>
        </p:nvSpPr>
        <p:spPr>
          <a:xfrm>
            <a:off x="7398334" y="2523744"/>
            <a:ext cx="3952113" cy="877824"/>
          </a:xfrm>
          <a:prstGeom prst="rect">
            <a:avLst/>
          </a:prstGeom>
          <a:noFill/>
          <a:ln/>
        </p:spPr>
        <p:txBody>
          <a:bodyPr wrap="square" lIns="0" tIns="0" rIns="0" bIns="0" rtlCol="0" anchor="t"/>
          <a:lstStyle/>
          <a:p>
            <a:pPr indent="0" marL="0">
              <a:lnSpc>
                <a:spcPct val="128000"/>
              </a:lnSpc>
              <a:buNone/>
            </a:pPr>
            <a:r>
              <a:rPr lang="en-US" sz="1250" dirty="0">
                <a:solidFill>
                  <a:srgbClr val="111111"/>
                </a:solidFill>
                <a:latin typeface="Arial" pitchFamily="34" charset="0"/>
                <a:ea typeface="Arial" pitchFamily="34" charset="-122"/>
                <a:cs typeface="Arial" pitchFamily="34" charset="-120"/>
              </a:rPr>
              <a:t>weltweite KI-Ausgaben 2026. Ein Plus von 47 % — über 45 % davon fließen in Infrastruktur.</a:t>
            </a:r>
            <a:endParaRPr lang="en-US" sz="1250" dirty="0"/>
          </a:p>
        </p:txBody>
      </p:sp>
      <p:sp>
        <p:nvSpPr>
          <p:cNvPr id="13" name="Shape 10"/>
          <p:cNvSpPr/>
          <p:nvPr/>
        </p:nvSpPr>
        <p:spPr>
          <a:xfrm>
            <a:off x="7215454" y="3895344"/>
            <a:ext cx="4500753" cy="1938528"/>
          </a:xfrm>
          <a:prstGeom prst="rect">
            <a:avLst/>
          </a:prstGeom>
          <a:solidFill>
            <a:srgbClr val="111111"/>
          </a:solidFill>
          <a:ln/>
        </p:spPr>
      </p:sp>
      <p:sp>
        <p:nvSpPr>
          <p:cNvPr id="14" name="Shape 11"/>
          <p:cNvSpPr/>
          <p:nvPr/>
        </p:nvSpPr>
        <p:spPr>
          <a:xfrm>
            <a:off x="7124014" y="3803904"/>
            <a:ext cx="4500753" cy="1938528"/>
          </a:xfrm>
          <a:prstGeom prst="rect">
            <a:avLst/>
          </a:prstGeom>
          <a:solidFill>
            <a:srgbClr val="FFFFFF"/>
          </a:solidFill>
          <a:ln w="28575">
            <a:solidFill>
              <a:srgbClr val="111111"/>
            </a:solidFill>
            <a:prstDash val="solid"/>
          </a:ln>
        </p:spPr>
      </p:sp>
      <p:sp>
        <p:nvSpPr>
          <p:cNvPr id="15" name="Text 12"/>
          <p:cNvSpPr txBox="1"/>
          <p:nvPr/>
        </p:nvSpPr>
        <p:spPr>
          <a:xfrm>
            <a:off x="7398334" y="4059936"/>
            <a:ext cx="3952113" cy="566928"/>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NUR 4 %</a:t>
            </a:r>
            <a:endParaRPr lang="en-US" sz="3800" dirty="0"/>
          </a:p>
        </p:txBody>
      </p:sp>
      <p:sp>
        <p:nvSpPr>
          <p:cNvPr id="16" name="Text 13"/>
          <p:cNvSpPr txBox="1"/>
          <p:nvPr/>
        </p:nvSpPr>
        <p:spPr>
          <a:xfrm>
            <a:off x="7398334" y="4700016"/>
            <a:ext cx="3952113" cy="841248"/>
          </a:xfrm>
          <a:prstGeom prst="rect">
            <a:avLst/>
          </a:prstGeom>
          <a:noFill/>
          <a:ln/>
        </p:spPr>
        <p:txBody>
          <a:bodyPr wrap="square" lIns="0" tIns="0" rIns="0" bIns="0" rtlCol="0" anchor="t"/>
          <a:lstStyle/>
          <a:p>
            <a:pPr indent="0" marL="0">
              <a:lnSpc>
                <a:spcPct val="128000"/>
              </a:lnSpc>
              <a:buNone/>
            </a:pPr>
            <a:r>
              <a:rPr lang="en-US" sz="1250" dirty="0">
                <a:solidFill>
                  <a:srgbClr val="111111"/>
                </a:solidFill>
                <a:latin typeface="Arial" pitchFamily="34" charset="0"/>
                <a:ea typeface="Arial" pitchFamily="34" charset="-122"/>
                <a:cs typeface="Arial" pitchFamily="34" charset="-120"/>
              </a:rPr>
              <a:t>der Unternehmen sagen noch, KI sei kein Thema. Vor zwei Jahren waren es 41 %.</a:t>
            </a:r>
            <a:endParaRPr lang="en-US" sz="1250" dirty="0"/>
          </a:p>
        </p:txBody>
      </p:sp>
      <p:sp>
        <p:nvSpPr>
          <p:cNvPr id="17" name="Text 14"/>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BITKOM, KI IN DEUTSCHLAND 2026 (N = 603 UNTERNEHMEN AB 20 BESCHÄFTIGTEN), STAND 09/2026 · GARTNER, PROGNOSE WELTWEITER KI-AUSGABEN, 05/2026 UND 09/2025</a:t>
            </a:r>
            <a:endParaRPr lang="en-US" sz="800" dirty="0"/>
          </a:p>
        </p:txBody>
      </p:sp>
      <p:sp>
        <p:nvSpPr>
          <p:cNvPr id="18" name="Shape 15"/>
          <p:cNvSpPr/>
          <p:nvPr/>
        </p:nvSpPr>
        <p:spPr>
          <a:xfrm>
            <a:off x="10874959" y="6217920"/>
            <a:ext cx="749808" cy="237744"/>
          </a:xfrm>
          <a:prstGeom prst="rect">
            <a:avLst/>
          </a:prstGeom>
          <a:solidFill>
            <a:srgbClr val="111111"/>
          </a:solidFill>
          <a:ln/>
        </p:spPr>
      </p:sp>
      <p:sp>
        <p:nvSpPr>
          <p:cNvPr id="19" name="Text 16"/>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04/15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MAKRO 2 VON 2</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PRODUKTIVITÄT UND ARBEITSMARKT</a:t>
            </a:r>
            <a:endParaRPr lang="en-US" sz="2800" dirty="0"/>
          </a:p>
        </p:txBody>
      </p:sp>
      <p:sp>
        <p:nvSpPr>
          <p:cNvPr id="4" name="Shape 2"/>
          <p:cNvSpPr/>
          <p:nvPr/>
        </p:nvSpPr>
        <p:spPr>
          <a:xfrm>
            <a:off x="658368" y="1719072"/>
            <a:ext cx="3564026" cy="2103120"/>
          </a:xfrm>
          <a:prstGeom prst="rect">
            <a:avLst/>
          </a:prstGeom>
          <a:solidFill>
            <a:srgbClr val="111111"/>
          </a:solidFill>
          <a:ln/>
        </p:spPr>
      </p:sp>
      <p:sp>
        <p:nvSpPr>
          <p:cNvPr id="5" name="Shape 3"/>
          <p:cNvSpPr/>
          <p:nvPr/>
        </p:nvSpPr>
        <p:spPr>
          <a:xfrm>
            <a:off x="566928" y="1627632"/>
            <a:ext cx="3564026" cy="2103120"/>
          </a:xfrm>
          <a:prstGeom prst="rect">
            <a:avLst/>
          </a:prstGeom>
          <a:solidFill>
            <a:srgbClr val="FFD84D"/>
          </a:solidFill>
          <a:ln w="28575">
            <a:solidFill>
              <a:srgbClr val="111111"/>
            </a:solidFill>
            <a:prstDash val="solid"/>
          </a:ln>
        </p:spPr>
      </p:sp>
      <p:sp>
        <p:nvSpPr>
          <p:cNvPr id="6" name="Text 4"/>
          <p:cNvSpPr txBox="1"/>
          <p:nvPr/>
        </p:nvSpPr>
        <p:spPr>
          <a:xfrm>
            <a:off x="841248" y="1865376"/>
            <a:ext cx="3015386" cy="603504"/>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4,4 BIO</a:t>
            </a:r>
            <a:endParaRPr lang="en-US" sz="3800" dirty="0"/>
          </a:p>
        </p:txBody>
      </p:sp>
      <p:sp>
        <p:nvSpPr>
          <p:cNvPr id="7" name="Text 5"/>
          <p:cNvSpPr txBox="1"/>
          <p:nvPr/>
        </p:nvSpPr>
        <p:spPr>
          <a:xfrm>
            <a:off x="841248" y="2560320"/>
            <a:ext cx="3015386" cy="969264"/>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US-Dollar jährliches Wertpotenzial generativer KI. Spanne ab 2,6 Billionen.</a:t>
            </a:r>
            <a:endParaRPr lang="en-US" sz="1250" dirty="0"/>
          </a:p>
        </p:txBody>
      </p:sp>
      <p:sp>
        <p:nvSpPr>
          <p:cNvPr id="8" name="Shape 6"/>
          <p:cNvSpPr/>
          <p:nvPr/>
        </p:nvSpPr>
        <p:spPr>
          <a:xfrm>
            <a:off x="4405274" y="1920240"/>
            <a:ext cx="3564026" cy="2103120"/>
          </a:xfrm>
          <a:prstGeom prst="rect">
            <a:avLst/>
          </a:prstGeom>
          <a:solidFill>
            <a:srgbClr val="111111"/>
          </a:solidFill>
          <a:ln/>
        </p:spPr>
      </p:sp>
      <p:sp>
        <p:nvSpPr>
          <p:cNvPr id="9" name="Shape 7"/>
          <p:cNvSpPr/>
          <p:nvPr/>
        </p:nvSpPr>
        <p:spPr>
          <a:xfrm>
            <a:off x="4313834" y="1828800"/>
            <a:ext cx="3564026" cy="2103120"/>
          </a:xfrm>
          <a:prstGeom prst="rect">
            <a:avLst/>
          </a:prstGeom>
          <a:solidFill>
            <a:srgbClr val="FFFFFF"/>
          </a:solidFill>
          <a:ln w="28575">
            <a:solidFill>
              <a:srgbClr val="111111"/>
            </a:solidFill>
            <a:prstDash val="solid"/>
          </a:ln>
        </p:spPr>
      </p:sp>
      <p:sp>
        <p:nvSpPr>
          <p:cNvPr id="10" name="Text 8"/>
          <p:cNvSpPr txBox="1"/>
          <p:nvPr/>
        </p:nvSpPr>
        <p:spPr>
          <a:xfrm>
            <a:off x="4588154" y="2066544"/>
            <a:ext cx="3015386" cy="603504"/>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+12,8 %</a:t>
            </a:r>
            <a:endParaRPr lang="en-US" sz="3800" dirty="0"/>
          </a:p>
        </p:txBody>
      </p:sp>
      <p:sp>
        <p:nvSpPr>
          <p:cNvPr id="11" name="Text 9"/>
          <p:cNvSpPr txBox="1"/>
          <p:nvPr/>
        </p:nvSpPr>
        <p:spPr>
          <a:xfrm>
            <a:off x="4588154" y="2761488"/>
            <a:ext cx="3015386" cy="969264"/>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höheres deutsches BIP im Jahr 2037, wenn KI sich weiter in der Breite durchsetzt.</a:t>
            </a:r>
            <a:endParaRPr lang="en-US" sz="1250" dirty="0"/>
          </a:p>
        </p:txBody>
      </p:sp>
      <p:sp>
        <p:nvSpPr>
          <p:cNvPr id="12" name="Shape 10"/>
          <p:cNvSpPr/>
          <p:nvPr/>
        </p:nvSpPr>
        <p:spPr>
          <a:xfrm>
            <a:off x="8152181" y="1719072"/>
            <a:ext cx="3564026" cy="2103120"/>
          </a:xfrm>
          <a:prstGeom prst="rect">
            <a:avLst/>
          </a:prstGeom>
          <a:solidFill>
            <a:srgbClr val="111111"/>
          </a:solidFill>
          <a:ln/>
        </p:spPr>
      </p:sp>
      <p:sp>
        <p:nvSpPr>
          <p:cNvPr id="13" name="Shape 11"/>
          <p:cNvSpPr/>
          <p:nvPr/>
        </p:nvSpPr>
        <p:spPr>
          <a:xfrm>
            <a:off x="8060741" y="1627632"/>
            <a:ext cx="3564026" cy="2103120"/>
          </a:xfrm>
          <a:prstGeom prst="rect">
            <a:avLst/>
          </a:prstGeom>
          <a:solidFill>
            <a:srgbClr val="FFD84D"/>
          </a:solidFill>
          <a:ln w="28575">
            <a:solidFill>
              <a:srgbClr val="111111"/>
            </a:solidFill>
            <a:prstDash val="solid"/>
          </a:ln>
        </p:spPr>
      </p:sp>
      <p:sp>
        <p:nvSpPr>
          <p:cNvPr id="14" name="Text 12"/>
          <p:cNvSpPr txBox="1"/>
          <p:nvPr/>
        </p:nvSpPr>
        <p:spPr>
          <a:xfrm>
            <a:off x="8335061" y="1865376"/>
            <a:ext cx="3015386" cy="603504"/>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1,6 MIO</a:t>
            </a:r>
            <a:endParaRPr lang="en-US" sz="3800" dirty="0"/>
          </a:p>
        </p:txBody>
      </p:sp>
      <p:sp>
        <p:nvSpPr>
          <p:cNvPr id="15" name="Text 13"/>
          <p:cNvSpPr txBox="1"/>
          <p:nvPr/>
        </p:nvSpPr>
        <p:spPr>
          <a:xfrm>
            <a:off x="8335061" y="2560320"/>
            <a:ext cx="3015386" cy="969264"/>
          </a:xfrm>
          <a:prstGeom prst="rect">
            <a:avLst/>
          </a:prstGeom>
          <a:noFill/>
          <a:ln/>
        </p:spPr>
        <p:txBody>
          <a:bodyPr wrap="square" lIns="0" tIns="0" rIns="0" bIns="0" rtlCol="0" anchor="t"/>
          <a:lstStyle/>
          <a:p>
            <a:pPr indent="0" marL="0">
              <a:lnSpc>
                <a:spcPct val="130000"/>
              </a:lnSpc>
              <a:buNone/>
            </a:pPr>
            <a:r>
              <a:rPr lang="en-US" sz="1250" dirty="0">
                <a:solidFill>
                  <a:srgbClr val="111111"/>
                </a:solidFill>
                <a:latin typeface="Arial" pitchFamily="34" charset="0"/>
                <a:ea typeface="Arial" pitchFamily="34" charset="-122"/>
                <a:cs typeface="Arial" pitchFamily="34" charset="-120"/>
              </a:rPr>
              <a:t>Arbeitsplätze geraten in Bewegung. Die Beschäftigung bleibt in Summe stabil.</a:t>
            </a:r>
            <a:endParaRPr lang="en-US" sz="1250" dirty="0"/>
          </a:p>
        </p:txBody>
      </p:sp>
      <p:sp>
        <p:nvSpPr>
          <p:cNvPr id="16" name="Shape 14"/>
          <p:cNvSpPr/>
          <p:nvPr/>
        </p:nvSpPr>
        <p:spPr>
          <a:xfrm>
            <a:off x="658368" y="4261104"/>
            <a:ext cx="11057839" cy="1481328"/>
          </a:xfrm>
          <a:prstGeom prst="rect">
            <a:avLst/>
          </a:prstGeom>
          <a:solidFill>
            <a:srgbClr val="111111"/>
          </a:solidFill>
          <a:ln/>
        </p:spPr>
      </p:sp>
      <p:sp>
        <p:nvSpPr>
          <p:cNvPr id="17" name="Shape 15"/>
          <p:cNvSpPr/>
          <p:nvPr/>
        </p:nvSpPr>
        <p:spPr>
          <a:xfrm>
            <a:off x="566928" y="4169664"/>
            <a:ext cx="11057839" cy="1481328"/>
          </a:xfrm>
          <a:prstGeom prst="rect">
            <a:avLst/>
          </a:prstGeom>
          <a:solidFill>
            <a:srgbClr val="111111"/>
          </a:solidFill>
          <a:ln/>
        </p:spPr>
      </p:sp>
      <p:sp>
        <p:nvSpPr>
          <p:cNvPr id="18" name="Text 16"/>
          <p:cNvSpPr txBox="1"/>
          <p:nvPr/>
        </p:nvSpPr>
        <p:spPr>
          <a:xfrm>
            <a:off x="841248" y="4389120"/>
            <a:ext cx="10509199" cy="310896"/>
          </a:xfrm>
          <a:prstGeom prst="rect">
            <a:avLst/>
          </a:prstGeom>
          <a:noFill/>
          <a:ln/>
        </p:spPr>
        <p:txBody>
          <a:bodyPr wrap="square" lIns="0" tIns="0" rIns="0" bIns="0" rtlCol="0" anchor="ctr"/>
          <a:lstStyle/>
          <a:p>
            <a:pPr indent="0" marL="0">
              <a:buNone/>
            </a:pPr>
            <a:r>
              <a:rPr lang="en-US" sz="1500" dirty="0">
                <a:solidFill>
                  <a:srgbClr val="FFD84D"/>
                </a:solidFill>
                <a:latin typeface="Arial Black" pitchFamily="34" charset="0"/>
                <a:ea typeface="Arial Black" pitchFamily="34" charset="-122"/>
                <a:cs typeface="Arial Black" pitchFamily="34" charset="-120"/>
              </a:rPr>
              <a:t>DER REALITÄTSCHECK</a:t>
            </a:r>
            <a:endParaRPr lang="en-US" sz="1500" dirty="0"/>
          </a:p>
        </p:txBody>
      </p:sp>
      <p:sp>
        <p:nvSpPr>
          <p:cNvPr id="19" name="Text 17"/>
          <p:cNvSpPr txBox="1"/>
          <p:nvPr/>
        </p:nvSpPr>
        <p:spPr>
          <a:xfrm>
            <a:off x="841248" y="4773168"/>
            <a:ext cx="10509199" cy="749808"/>
          </a:xfrm>
          <a:prstGeom prst="rect">
            <a:avLst/>
          </a:prstGeom>
          <a:noFill/>
          <a:ln/>
        </p:spPr>
        <p:txBody>
          <a:bodyPr wrap="square" lIns="0" tIns="0" rIns="0" bIns="0" rtlCol="0" anchor="t"/>
          <a:lstStyle/>
          <a:p>
            <a:pPr indent="0" marL="0">
              <a:lnSpc>
                <a:spcPct val="126000"/>
              </a:lnSpc>
              <a:buNone/>
            </a:pPr>
            <a:r>
              <a:rPr lang="en-US" sz="1450" dirty="0">
                <a:solidFill>
                  <a:srgbClr val="FFFFFF"/>
                </a:solidFill>
                <a:latin typeface="Arial" pitchFamily="34" charset="0"/>
                <a:ea typeface="Arial" pitchFamily="34" charset="-122"/>
                <a:cs typeface="Arial" pitchFamily="34" charset="-120"/>
              </a:rPr>
              <a:t>Nur 39 % der Unternehmen weltweit führen überhaupt einen EBIT-Effekt auf KI zurück — bei den meisten liegt er unter 5 %. Rund zwei Drittel haben noch gar nicht begonnen, KI zu skalieren.</a:t>
            </a:r>
            <a:endParaRPr lang="en-US" sz="1450" dirty="0"/>
          </a:p>
          <a:p>
            <a:pPr indent="0" marL="0">
              <a:lnSpc>
                <a:spcPct val="126000"/>
              </a:lnSpc>
              <a:buNone/>
            </a:pPr>
            <a:r>
              <a:rPr lang="en-US" sz="1450" dirty="0">
                <a:solidFill>
                  <a:srgbClr val="FFFFFF"/>
                </a:solidFill>
                <a:latin typeface="Arial" pitchFamily="34" charset="0"/>
                <a:ea typeface="Arial" pitchFamily="34" charset="-122"/>
                <a:cs typeface="Arial" pitchFamily="34" charset="-120"/>
              </a:rPr>
              <a:t>Einsatz ist nicht gleich Ertrag.</a:t>
            </a:r>
            <a:endParaRPr lang="en-US" sz="1450" dirty="0"/>
          </a:p>
        </p:txBody>
      </p:sp>
      <p:sp>
        <p:nvSpPr>
          <p:cNvPr id="20" name="Text 18"/>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MCKINSEY, THE ECONOMIC POTENTIAL OF GENERATIVE AI (63 ANALYSIERTE ANWENDUNGSFÄLLE) · IAB-FORSCHUNGSBERICHT 23/2025 (SIMULATION ÜBER 15 JAHRE) · MCKINSEY, THE STATE OF AI 2025</a:t>
            </a:r>
            <a:endParaRPr lang="en-US" sz="800" dirty="0"/>
          </a:p>
        </p:txBody>
      </p:sp>
      <p:sp>
        <p:nvSpPr>
          <p:cNvPr id="21" name="Shape 19"/>
          <p:cNvSpPr/>
          <p:nvPr/>
        </p:nvSpPr>
        <p:spPr>
          <a:xfrm>
            <a:off x="10874959" y="6217920"/>
            <a:ext cx="749808" cy="237744"/>
          </a:xfrm>
          <a:prstGeom prst="rect">
            <a:avLst/>
          </a:prstGeom>
          <a:solidFill>
            <a:srgbClr val="111111"/>
          </a:solidFill>
          <a:ln/>
        </p:spPr>
      </p:sp>
      <p:sp>
        <p:nvSpPr>
          <p:cNvPr id="22" name="Text 20"/>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05/15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DER MARKT</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DER DEUTSCHE ONLINEHANDEL</a:t>
            </a:r>
            <a:endParaRPr lang="en-US" sz="2800" dirty="0"/>
          </a:p>
        </p:txBody>
      </p:sp>
      <p:sp>
        <p:nvSpPr>
          <p:cNvPr id="4" name="Shape 2"/>
          <p:cNvSpPr/>
          <p:nvPr/>
        </p:nvSpPr>
        <p:spPr>
          <a:xfrm>
            <a:off x="658368" y="1719072"/>
            <a:ext cx="6374206" cy="4114800"/>
          </a:xfrm>
          <a:prstGeom prst="rect">
            <a:avLst/>
          </a:prstGeom>
          <a:solidFill>
            <a:srgbClr val="111111"/>
          </a:solidFill>
          <a:ln/>
        </p:spPr>
      </p:sp>
      <p:sp>
        <p:nvSpPr>
          <p:cNvPr id="5" name="Shape 3"/>
          <p:cNvSpPr/>
          <p:nvPr/>
        </p:nvSpPr>
        <p:spPr>
          <a:xfrm>
            <a:off x="566928" y="1627632"/>
            <a:ext cx="6374206" cy="4114800"/>
          </a:xfrm>
          <a:prstGeom prst="rect">
            <a:avLst/>
          </a:prstGeom>
          <a:solidFill>
            <a:srgbClr val="FFFFFF"/>
          </a:solidFill>
          <a:ln w="28575">
            <a:solidFill>
              <a:srgbClr val="111111"/>
            </a:solidFill>
            <a:prstDash val="solid"/>
          </a:ln>
        </p:spPr>
      </p:sp>
      <p:sp>
        <p:nvSpPr>
          <p:cNvPr id="6" name="Text 4"/>
          <p:cNvSpPr txBox="1"/>
          <p:nvPr/>
        </p:nvSpPr>
        <p:spPr>
          <a:xfrm>
            <a:off x="841248" y="1847088"/>
            <a:ext cx="5825566" cy="237744"/>
          </a:xfrm>
          <a:prstGeom prst="rect">
            <a:avLst/>
          </a:prstGeom>
          <a:noFill/>
          <a:ln/>
        </p:spPr>
        <p:txBody>
          <a:bodyPr wrap="square" lIns="0" tIns="0" rIns="0" bIns="0" rtlCol="0" anchor="ctr"/>
          <a:lstStyle/>
          <a:p>
            <a:pPr indent="0" marL="0">
              <a:buNone/>
            </a:pPr>
            <a:r>
              <a:rPr lang="en-US" sz="1300" dirty="0">
                <a:solidFill>
                  <a:srgbClr val="111111"/>
                </a:solidFill>
                <a:latin typeface="Arial Black" pitchFamily="34" charset="0"/>
                <a:ea typeface="Arial Black" pitchFamily="34" charset="-122"/>
                <a:cs typeface="Arial Black" pitchFamily="34" charset="-120"/>
              </a:rPr>
              <a:t>NETTOUMSATZ ONLINEHANDEL DEUTSCHLAND</a:t>
            </a:r>
            <a:endParaRPr lang="en-US" sz="1300" dirty="0"/>
          </a:p>
        </p:txBody>
      </p:sp>
      <p:sp>
        <p:nvSpPr>
          <p:cNvPr id="7" name="Text 5"/>
          <p:cNvSpPr txBox="1"/>
          <p:nvPr/>
        </p:nvSpPr>
        <p:spPr>
          <a:xfrm>
            <a:off x="841248" y="2084832"/>
            <a:ext cx="5825566" cy="201168"/>
          </a:xfrm>
          <a:prstGeom prst="rect">
            <a:avLst/>
          </a:prstGeom>
          <a:noFill/>
          <a:ln/>
        </p:spPr>
        <p:txBody>
          <a:bodyPr wrap="square" lIns="0" tIns="0" rIns="0" bIns="0" rtlCol="0" anchor="ctr"/>
          <a:lstStyle/>
          <a:p>
            <a:pPr indent="0" marL="0">
              <a:buNone/>
            </a:pPr>
            <a:r>
              <a:rPr lang="en-US" sz="800" dirty="0">
                <a:solidFill>
                  <a:srgbClr val="5A5A5A"/>
                </a:solidFill>
                <a:latin typeface="Courier New" pitchFamily="34" charset="0"/>
                <a:ea typeface="Courier New" pitchFamily="34" charset="-122"/>
                <a:cs typeface="Courier New" pitchFamily="34" charset="-120"/>
              </a:rPr>
              <a:t>in Milliarden Euro · Wert für 2026 ist eine Prognose</a:t>
            </a:r>
            <a:endParaRPr lang="en-US" sz="800" dirty="0"/>
          </a:p>
        </p:txBody>
      </p:sp>
      <p:graphicFrame>
        <p:nvGraphicFramePr>
          <p:cNvPr id="8" name="Chart 0" descr=""/>
          <p:cNvGraphicFramePr/>
          <p:nvPr/>
        </p:nvGraphicFramePr>
        <p:xfrm>
          <a:off x="713232" y="2395728"/>
          <a:ext cx="6008446" cy="3182112"/>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215454" y="1719072"/>
            <a:ext cx="4500753" cy="1975104"/>
          </a:xfrm>
          <a:prstGeom prst="rect">
            <a:avLst/>
          </a:prstGeom>
          <a:solidFill>
            <a:srgbClr val="111111"/>
          </a:solidFill>
          <a:ln/>
        </p:spPr>
      </p:sp>
      <p:sp>
        <p:nvSpPr>
          <p:cNvPr id="10" name="Shape 7"/>
          <p:cNvSpPr/>
          <p:nvPr/>
        </p:nvSpPr>
        <p:spPr>
          <a:xfrm>
            <a:off x="7124014" y="1627632"/>
            <a:ext cx="4500753" cy="1975104"/>
          </a:xfrm>
          <a:prstGeom prst="rect">
            <a:avLst/>
          </a:prstGeom>
          <a:solidFill>
            <a:srgbClr val="FFD84D"/>
          </a:solidFill>
          <a:ln w="28575">
            <a:solidFill>
              <a:srgbClr val="111111"/>
            </a:solidFill>
            <a:prstDash val="solid"/>
          </a:ln>
        </p:spPr>
      </p:sp>
      <p:sp>
        <p:nvSpPr>
          <p:cNvPr id="11" name="Text 8"/>
          <p:cNvSpPr txBox="1"/>
          <p:nvPr/>
        </p:nvSpPr>
        <p:spPr>
          <a:xfrm>
            <a:off x="7398334" y="1883664"/>
            <a:ext cx="3952113" cy="566928"/>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56,7 %</a:t>
            </a:r>
            <a:endParaRPr lang="en-US" sz="3800" dirty="0"/>
          </a:p>
        </p:txBody>
      </p:sp>
      <p:sp>
        <p:nvSpPr>
          <p:cNvPr id="12" name="Text 9"/>
          <p:cNvSpPr txBox="1"/>
          <p:nvPr/>
        </p:nvSpPr>
        <p:spPr>
          <a:xfrm>
            <a:off x="7398334" y="2523744"/>
            <a:ext cx="3952113" cy="877824"/>
          </a:xfrm>
          <a:prstGeom prst="rect">
            <a:avLst/>
          </a:prstGeom>
          <a:noFill/>
          <a:ln/>
        </p:spPr>
        <p:txBody>
          <a:bodyPr wrap="square" lIns="0" tIns="0" rIns="0" bIns="0" rtlCol="0" anchor="t"/>
          <a:lstStyle/>
          <a:p>
            <a:pPr indent="0" marL="0">
              <a:lnSpc>
                <a:spcPct val="128000"/>
              </a:lnSpc>
              <a:buNone/>
            </a:pPr>
            <a:r>
              <a:rPr lang="en-US" sz="1250" dirty="0">
                <a:solidFill>
                  <a:srgbClr val="111111"/>
                </a:solidFill>
                <a:latin typeface="Arial" pitchFamily="34" charset="0"/>
                <a:ea typeface="Arial" pitchFamily="34" charset="-122"/>
                <a:cs typeface="Arial" pitchFamily="34" charset="-120"/>
              </a:rPr>
              <a:t>des Onlineumsatzes laufen über Marktplätze. Mehr als jeder zweite Euro.</a:t>
            </a:r>
            <a:endParaRPr lang="en-US" sz="1250" dirty="0"/>
          </a:p>
        </p:txBody>
      </p:sp>
      <p:sp>
        <p:nvSpPr>
          <p:cNvPr id="13" name="Shape 10"/>
          <p:cNvSpPr/>
          <p:nvPr/>
        </p:nvSpPr>
        <p:spPr>
          <a:xfrm>
            <a:off x="7215454" y="3895344"/>
            <a:ext cx="4500753" cy="1938528"/>
          </a:xfrm>
          <a:prstGeom prst="rect">
            <a:avLst/>
          </a:prstGeom>
          <a:solidFill>
            <a:srgbClr val="111111"/>
          </a:solidFill>
          <a:ln/>
        </p:spPr>
      </p:sp>
      <p:sp>
        <p:nvSpPr>
          <p:cNvPr id="14" name="Shape 11"/>
          <p:cNvSpPr/>
          <p:nvPr/>
        </p:nvSpPr>
        <p:spPr>
          <a:xfrm>
            <a:off x="7124014" y="3803904"/>
            <a:ext cx="4500753" cy="1938528"/>
          </a:xfrm>
          <a:prstGeom prst="rect">
            <a:avLst/>
          </a:prstGeom>
          <a:solidFill>
            <a:srgbClr val="FFFFFF"/>
          </a:solidFill>
          <a:ln w="28575">
            <a:solidFill>
              <a:srgbClr val="111111"/>
            </a:solidFill>
            <a:prstDash val="solid"/>
          </a:ln>
        </p:spPr>
      </p:sp>
      <p:sp>
        <p:nvSpPr>
          <p:cNvPr id="15" name="Text 12"/>
          <p:cNvSpPr txBox="1"/>
          <p:nvPr/>
        </p:nvSpPr>
        <p:spPr>
          <a:xfrm>
            <a:off x="7398334" y="4059936"/>
            <a:ext cx="3952113" cy="566928"/>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+4,3 %</a:t>
            </a:r>
            <a:endParaRPr lang="en-US" sz="3800" dirty="0"/>
          </a:p>
        </p:txBody>
      </p:sp>
      <p:sp>
        <p:nvSpPr>
          <p:cNvPr id="16" name="Text 13"/>
          <p:cNvSpPr txBox="1"/>
          <p:nvPr/>
        </p:nvSpPr>
        <p:spPr>
          <a:xfrm>
            <a:off x="7398334" y="4700016"/>
            <a:ext cx="3952113" cy="841248"/>
          </a:xfrm>
          <a:prstGeom prst="rect">
            <a:avLst/>
          </a:prstGeom>
          <a:noFill/>
          <a:ln/>
        </p:spPr>
        <p:txBody>
          <a:bodyPr wrap="square" lIns="0" tIns="0" rIns="0" bIns="0" rtlCol="0" anchor="t"/>
          <a:lstStyle/>
          <a:p>
            <a:pPr indent="0" marL="0">
              <a:lnSpc>
                <a:spcPct val="128000"/>
              </a:lnSpc>
              <a:buNone/>
            </a:pPr>
            <a:r>
              <a:rPr lang="en-US" sz="1250" dirty="0">
                <a:solidFill>
                  <a:srgbClr val="111111"/>
                </a:solidFill>
                <a:latin typeface="Arial" pitchFamily="34" charset="0"/>
                <a:ea typeface="Arial" pitchFamily="34" charset="-122"/>
                <a:cs typeface="Arial" pitchFamily="34" charset="-120"/>
              </a:rPr>
              <a:t>Onlinewachstum 2026 — der stationäre Handel schafft nur +1,6 %.</a:t>
            </a:r>
            <a:endParaRPr lang="en-US" sz="1250" dirty="0"/>
          </a:p>
        </p:txBody>
      </p:sp>
      <p:sp>
        <p:nvSpPr>
          <p:cNvPr id="17" name="Text 14"/>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HDE ONLINE-MONITOR 2026 (NETTOUMSATZ ONLINEHANDEL DEUTSCHLAND); WERT 2026 EIGENE BERECHNUNG AUS DER HDE-PROGNOSE VON +4,3 %</a:t>
            </a:r>
            <a:endParaRPr lang="en-US" sz="800" dirty="0"/>
          </a:p>
        </p:txBody>
      </p:sp>
      <p:sp>
        <p:nvSpPr>
          <p:cNvPr id="18" name="Shape 15"/>
          <p:cNvSpPr/>
          <p:nvPr/>
        </p:nvSpPr>
        <p:spPr>
          <a:xfrm>
            <a:off x="10874959" y="6217920"/>
            <a:ext cx="749808" cy="237744"/>
          </a:xfrm>
          <a:prstGeom prst="rect">
            <a:avLst/>
          </a:prstGeom>
          <a:solidFill>
            <a:srgbClr val="111111"/>
          </a:solidFill>
          <a:ln/>
        </p:spPr>
      </p:sp>
      <p:sp>
        <p:nvSpPr>
          <p:cNvPr id="19" name="Text 16"/>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06/15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E-COMMERCE KONKRET</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SIEBEN HEBEL IM ONLINEHANDEL</a:t>
            </a:r>
            <a:endParaRPr lang="en-US" sz="2800" dirty="0"/>
          </a:p>
        </p:txBody>
      </p:sp>
      <p:sp>
        <p:nvSpPr>
          <p:cNvPr id="4" name="Shape 2"/>
          <p:cNvSpPr/>
          <p:nvPr/>
        </p:nvSpPr>
        <p:spPr>
          <a:xfrm>
            <a:off x="658368" y="1700784"/>
            <a:ext cx="2627300" cy="2011680"/>
          </a:xfrm>
          <a:prstGeom prst="rect">
            <a:avLst/>
          </a:prstGeom>
          <a:solidFill>
            <a:srgbClr val="111111"/>
          </a:solidFill>
          <a:ln/>
        </p:spPr>
      </p:sp>
      <p:sp>
        <p:nvSpPr>
          <p:cNvPr id="5" name="Shape 3"/>
          <p:cNvSpPr/>
          <p:nvPr/>
        </p:nvSpPr>
        <p:spPr>
          <a:xfrm>
            <a:off x="566928" y="1609344"/>
            <a:ext cx="2627300" cy="2011680"/>
          </a:xfrm>
          <a:prstGeom prst="rect">
            <a:avLst/>
          </a:prstGeom>
          <a:solidFill>
            <a:srgbClr val="FFD84D"/>
          </a:solidFill>
          <a:ln w="28575">
            <a:solidFill>
              <a:srgbClr val="111111"/>
            </a:solidFill>
            <a:prstDash val="solid"/>
          </a:ln>
        </p:spPr>
      </p:sp>
      <p:sp>
        <p:nvSpPr>
          <p:cNvPr id="6" name="Shape 4"/>
          <p:cNvSpPr/>
          <p:nvPr/>
        </p:nvSpPr>
        <p:spPr>
          <a:xfrm>
            <a:off x="804672" y="1847088"/>
            <a:ext cx="384048" cy="384048"/>
          </a:xfrm>
          <a:prstGeom prst="rect">
            <a:avLst/>
          </a:prstGeom>
          <a:solidFill>
            <a:srgbClr val="FFFFFF"/>
          </a:solidFill>
          <a:ln w="28575">
            <a:solidFill>
              <a:srgbClr val="111111"/>
            </a:solidFill>
            <a:prstDash val="solid"/>
          </a:ln>
        </p:spPr>
      </p:sp>
      <p:pic>
        <p:nvPicPr>
          <p:cNvPr id="7" name="Image 0" descr="preencoded.png">    </p:cNvPr>
          <p:cNvPicPr>
            <a:picLocks noChangeAspect="1"/>
          </p:cNvPicPr>
          <p:nvPr/>
        </p:nvPicPr>
        <p:blipFill>
          <a:blip r:embed="rId1"/>
          <a:stretch>
            <a:fillRect/>
          </a:stretch>
        </p:blipFill>
        <p:spPr>
          <a:xfrm>
            <a:off x="889163" y="1931579"/>
            <a:ext cx="215067" cy="215067"/>
          </a:xfrm>
          <a:prstGeom prst="rect">
            <a:avLst/>
          </a:prstGeom>
        </p:spPr>
      </p:pic>
      <p:sp>
        <p:nvSpPr>
          <p:cNvPr id="8" name="Text 5"/>
          <p:cNvSpPr txBox="1"/>
          <p:nvPr/>
        </p:nvSpPr>
        <p:spPr>
          <a:xfrm>
            <a:off x="804672" y="235915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PERSONALI-</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SIERUNG</a:t>
            </a:r>
            <a:endParaRPr lang="en-US" sz="1200" dirty="0"/>
          </a:p>
        </p:txBody>
      </p:sp>
      <p:sp>
        <p:nvSpPr>
          <p:cNvPr id="9" name="Text 6"/>
          <p:cNvSpPr txBox="1"/>
          <p:nvPr/>
        </p:nvSpPr>
        <p:spPr>
          <a:xfrm>
            <a:off x="804672" y="301752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Sortiment je Person</a:t>
            </a:r>
            <a:endParaRPr lang="en-US" sz="900" dirty="0"/>
          </a:p>
        </p:txBody>
      </p:sp>
      <p:sp>
        <p:nvSpPr>
          <p:cNvPr id="10" name="Shape 7"/>
          <p:cNvSpPr/>
          <p:nvPr/>
        </p:nvSpPr>
        <p:spPr>
          <a:xfrm>
            <a:off x="3468548" y="1700784"/>
            <a:ext cx="2627300" cy="2011680"/>
          </a:xfrm>
          <a:prstGeom prst="rect">
            <a:avLst/>
          </a:prstGeom>
          <a:solidFill>
            <a:srgbClr val="111111"/>
          </a:solidFill>
          <a:ln/>
        </p:spPr>
      </p:sp>
      <p:sp>
        <p:nvSpPr>
          <p:cNvPr id="11" name="Shape 8"/>
          <p:cNvSpPr/>
          <p:nvPr/>
        </p:nvSpPr>
        <p:spPr>
          <a:xfrm>
            <a:off x="3377108" y="1609344"/>
            <a:ext cx="2627300" cy="2011680"/>
          </a:xfrm>
          <a:prstGeom prst="rect">
            <a:avLst/>
          </a:prstGeom>
          <a:solidFill>
            <a:srgbClr val="FFFFFF"/>
          </a:solidFill>
          <a:ln w="28575">
            <a:solidFill>
              <a:srgbClr val="111111"/>
            </a:solidFill>
            <a:prstDash val="solid"/>
          </a:ln>
        </p:spPr>
      </p:sp>
      <p:sp>
        <p:nvSpPr>
          <p:cNvPr id="12" name="Shape 9"/>
          <p:cNvSpPr/>
          <p:nvPr/>
        </p:nvSpPr>
        <p:spPr>
          <a:xfrm>
            <a:off x="3614852" y="1847088"/>
            <a:ext cx="384048" cy="384048"/>
          </a:xfrm>
          <a:prstGeom prst="rect">
            <a:avLst/>
          </a:prstGeom>
          <a:solidFill>
            <a:srgbClr val="FFD84D"/>
          </a:solidFill>
          <a:ln w="28575">
            <a:solidFill>
              <a:srgbClr val="111111"/>
            </a:solidFill>
            <a:prstDash val="solid"/>
          </a:ln>
        </p:spPr>
      </p:sp>
      <p:pic>
        <p:nvPicPr>
          <p:cNvPr id="13" name="Image 1" descr="preencoded.png">    </p:cNvPr>
          <p:cNvPicPr>
            <a:picLocks noChangeAspect="1"/>
          </p:cNvPicPr>
          <p:nvPr/>
        </p:nvPicPr>
        <p:blipFill>
          <a:blip r:embed="rId2"/>
          <a:stretch>
            <a:fillRect/>
          </a:stretch>
        </p:blipFill>
        <p:spPr>
          <a:xfrm>
            <a:off x="3699342" y="1931579"/>
            <a:ext cx="215067" cy="215067"/>
          </a:xfrm>
          <a:prstGeom prst="rect">
            <a:avLst/>
          </a:prstGeom>
        </p:spPr>
      </p:pic>
      <p:sp>
        <p:nvSpPr>
          <p:cNvPr id="14" name="Text 10"/>
          <p:cNvSpPr txBox="1"/>
          <p:nvPr/>
        </p:nvSpPr>
        <p:spPr>
          <a:xfrm>
            <a:off x="3614852" y="235915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PRODUKT-</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SUCHE</a:t>
            </a:r>
            <a:endParaRPr lang="en-US" sz="1200" dirty="0"/>
          </a:p>
        </p:txBody>
      </p:sp>
      <p:sp>
        <p:nvSpPr>
          <p:cNvPr id="15" name="Text 11"/>
          <p:cNvSpPr txBox="1"/>
          <p:nvPr/>
        </p:nvSpPr>
        <p:spPr>
          <a:xfrm>
            <a:off x="3614852" y="301752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Dialog statt Stichwort</a:t>
            </a:r>
            <a:endParaRPr lang="en-US" sz="900" dirty="0"/>
          </a:p>
        </p:txBody>
      </p:sp>
      <p:sp>
        <p:nvSpPr>
          <p:cNvPr id="16" name="Shape 12"/>
          <p:cNvSpPr/>
          <p:nvPr/>
        </p:nvSpPr>
        <p:spPr>
          <a:xfrm>
            <a:off x="6278728" y="1700784"/>
            <a:ext cx="2627300" cy="2011680"/>
          </a:xfrm>
          <a:prstGeom prst="rect">
            <a:avLst/>
          </a:prstGeom>
          <a:solidFill>
            <a:srgbClr val="111111"/>
          </a:solidFill>
          <a:ln/>
        </p:spPr>
      </p:sp>
      <p:sp>
        <p:nvSpPr>
          <p:cNvPr id="17" name="Shape 13"/>
          <p:cNvSpPr/>
          <p:nvPr/>
        </p:nvSpPr>
        <p:spPr>
          <a:xfrm>
            <a:off x="6187288" y="1609344"/>
            <a:ext cx="2627300" cy="2011680"/>
          </a:xfrm>
          <a:prstGeom prst="rect">
            <a:avLst/>
          </a:prstGeom>
          <a:solidFill>
            <a:srgbClr val="FFD84D"/>
          </a:solidFill>
          <a:ln w="28575">
            <a:solidFill>
              <a:srgbClr val="111111"/>
            </a:solidFill>
            <a:prstDash val="solid"/>
          </a:ln>
        </p:spPr>
      </p:sp>
      <p:sp>
        <p:nvSpPr>
          <p:cNvPr id="18" name="Shape 14"/>
          <p:cNvSpPr/>
          <p:nvPr/>
        </p:nvSpPr>
        <p:spPr>
          <a:xfrm>
            <a:off x="6425032" y="1847088"/>
            <a:ext cx="384048" cy="384048"/>
          </a:xfrm>
          <a:prstGeom prst="rect">
            <a:avLst/>
          </a:prstGeom>
          <a:solidFill>
            <a:srgbClr val="FFFFFF"/>
          </a:solidFill>
          <a:ln w="28575">
            <a:solidFill>
              <a:srgbClr val="111111"/>
            </a:solidFill>
            <a:prstDash val="solid"/>
          </a:ln>
        </p:spPr>
      </p:sp>
      <p:pic>
        <p:nvPicPr>
          <p:cNvPr id="19" name="Image 2" descr="preencoded.png">    </p:cNvPr>
          <p:cNvPicPr>
            <a:picLocks noChangeAspect="1"/>
          </p:cNvPicPr>
          <p:nvPr/>
        </p:nvPicPr>
        <p:blipFill>
          <a:blip r:embed="rId3"/>
          <a:stretch>
            <a:fillRect/>
          </a:stretch>
        </p:blipFill>
        <p:spPr>
          <a:xfrm>
            <a:off x="6509522" y="1931579"/>
            <a:ext cx="215067" cy="215067"/>
          </a:xfrm>
          <a:prstGeom prst="rect">
            <a:avLst/>
          </a:prstGeom>
        </p:spPr>
      </p:pic>
      <p:sp>
        <p:nvSpPr>
          <p:cNvPr id="20" name="Text 15"/>
          <p:cNvSpPr txBox="1"/>
          <p:nvPr/>
        </p:nvSpPr>
        <p:spPr>
          <a:xfrm>
            <a:off x="6425032" y="235915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DYNAMIC</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PRICING</a:t>
            </a:r>
            <a:endParaRPr lang="en-US" sz="1200" dirty="0"/>
          </a:p>
        </p:txBody>
      </p:sp>
      <p:sp>
        <p:nvSpPr>
          <p:cNvPr id="21" name="Text 16"/>
          <p:cNvSpPr txBox="1"/>
          <p:nvPr/>
        </p:nvSpPr>
        <p:spPr>
          <a:xfrm>
            <a:off x="6425032" y="301752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Preise reagieren live</a:t>
            </a:r>
            <a:endParaRPr lang="en-US" sz="900" dirty="0"/>
          </a:p>
        </p:txBody>
      </p:sp>
      <p:sp>
        <p:nvSpPr>
          <p:cNvPr id="22" name="Shape 17"/>
          <p:cNvSpPr/>
          <p:nvPr/>
        </p:nvSpPr>
        <p:spPr>
          <a:xfrm>
            <a:off x="9088907" y="1700784"/>
            <a:ext cx="2627300" cy="2011680"/>
          </a:xfrm>
          <a:prstGeom prst="rect">
            <a:avLst/>
          </a:prstGeom>
          <a:solidFill>
            <a:srgbClr val="111111"/>
          </a:solidFill>
          <a:ln/>
        </p:spPr>
      </p:sp>
      <p:sp>
        <p:nvSpPr>
          <p:cNvPr id="23" name="Shape 18"/>
          <p:cNvSpPr/>
          <p:nvPr/>
        </p:nvSpPr>
        <p:spPr>
          <a:xfrm>
            <a:off x="8997467" y="1609344"/>
            <a:ext cx="2627300" cy="2011680"/>
          </a:xfrm>
          <a:prstGeom prst="rect">
            <a:avLst/>
          </a:prstGeom>
          <a:solidFill>
            <a:srgbClr val="FFFFFF"/>
          </a:solidFill>
          <a:ln w="28575">
            <a:solidFill>
              <a:srgbClr val="111111"/>
            </a:solidFill>
            <a:prstDash val="solid"/>
          </a:ln>
        </p:spPr>
      </p:sp>
      <p:sp>
        <p:nvSpPr>
          <p:cNvPr id="24" name="Shape 19"/>
          <p:cNvSpPr/>
          <p:nvPr/>
        </p:nvSpPr>
        <p:spPr>
          <a:xfrm>
            <a:off x="9235211" y="1847088"/>
            <a:ext cx="384048" cy="384048"/>
          </a:xfrm>
          <a:prstGeom prst="rect">
            <a:avLst/>
          </a:prstGeom>
          <a:solidFill>
            <a:srgbClr val="FFD84D"/>
          </a:solidFill>
          <a:ln w="28575">
            <a:solidFill>
              <a:srgbClr val="111111"/>
            </a:solidFill>
            <a:prstDash val="solid"/>
          </a:ln>
        </p:spPr>
      </p:sp>
      <p:pic>
        <p:nvPicPr>
          <p:cNvPr id="25" name="Image 3" descr="preencoded.png">    </p:cNvPr>
          <p:cNvPicPr>
            <a:picLocks noChangeAspect="1"/>
          </p:cNvPicPr>
          <p:nvPr/>
        </p:nvPicPr>
        <p:blipFill>
          <a:blip r:embed="rId4"/>
          <a:stretch>
            <a:fillRect/>
          </a:stretch>
        </p:blipFill>
        <p:spPr>
          <a:xfrm>
            <a:off x="9319702" y="1931579"/>
            <a:ext cx="215067" cy="215067"/>
          </a:xfrm>
          <a:prstGeom prst="rect">
            <a:avLst/>
          </a:prstGeom>
        </p:spPr>
      </p:pic>
      <p:sp>
        <p:nvSpPr>
          <p:cNvPr id="26" name="Text 20"/>
          <p:cNvSpPr txBox="1"/>
          <p:nvPr/>
        </p:nvSpPr>
        <p:spPr>
          <a:xfrm>
            <a:off x="9235211" y="235915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KUNDEN-</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SERVICE</a:t>
            </a:r>
            <a:endParaRPr lang="en-US" sz="1200" dirty="0"/>
          </a:p>
        </p:txBody>
      </p:sp>
      <p:sp>
        <p:nvSpPr>
          <p:cNvPr id="27" name="Text 21"/>
          <p:cNvSpPr txBox="1"/>
          <p:nvPr/>
        </p:nvSpPr>
        <p:spPr>
          <a:xfrm>
            <a:off x="9235211" y="301752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Rund um die Uhr</a:t>
            </a:r>
            <a:endParaRPr lang="en-US" sz="900" dirty="0"/>
          </a:p>
        </p:txBody>
      </p:sp>
      <p:sp>
        <p:nvSpPr>
          <p:cNvPr id="28" name="Shape 22"/>
          <p:cNvSpPr/>
          <p:nvPr/>
        </p:nvSpPr>
        <p:spPr>
          <a:xfrm>
            <a:off x="658368" y="3895344"/>
            <a:ext cx="2627300" cy="2011680"/>
          </a:xfrm>
          <a:prstGeom prst="rect">
            <a:avLst/>
          </a:prstGeom>
          <a:solidFill>
            <a:srgbClr val="111111"/>
          </a:solidFill>
          <a:ln/>
        </p:spPr>
      </p:sp>
      <p:sp>
        <p:nvSpPr>
          <p:cNvPr id="29" name="Shape 23"/>
          <p:cNvSpPr/>
          <p:nvPr/>
        </p:nvSpPr>
        <p:spPr>
          <a:xfrm>
            <a:off x="566928" y="3803904"/>
            <a:ext cx="2627300" cy="2011680"/>
          </a:xfrm>
          <a:prstGeom prst="rect">
            <a:avLst/>
          </a:prstGeom>
          <a:solidFill>
            <a:srgbClr val="FFFFFF"/>
          </a:solidFill>
          <a:ln w="28575">
            <a:solidFill>
              <a:srgbClr val="111111"/>
            </a:solidFill>
            <a:prstDash val="solid"/>
          </a:ln>
        </p:spPr>
      </p:sp>
      <p:sp>
        <p:nvSpPr>
          <p:cNvPr id="30" name="Shape 24"/>
          <p:cNvSpPr/>
          <p:nvPr/>
        </p:nvSpPr>
        <p:spPr>
          <a:xfrm>
            <a:off x="804672" y="4041648"/>
            <a:ext cx="384048" cy="384048"/>
          </a:xfrm>
          <a:prstGeom prst="rect">
            <a:avLst/>
          </a:prstGeom>
          <a:solidFill>
            <a:srgbClr val="FFD84D"/>
          </a:solidFill>
          <a:ln w="28575">
            <a:solidFill>
              <a:srgbClr val="111111"/>
            </a:solidFill>
            <a:prstDash val="solid"/>
          </a:ln>
        </p:spPr>
      </p:sp>
      <p:pic>
        <p:nvPicPr>
          <p:cNvPr id="31" name="Image 4" descr="preencoded.png">    </p:cNvPr>
          <p:cNvPicPr>
            <a:picLocks noChangeAspect="1"/>
          </p:cNvPicPr>
          <p:nvPr/>
        </p:nvPicPr>
        <p:blipFill>
          <a:blip r:embed="rId5"/>
          <a:stretch>
            <a:fillRect/>
          </a:stretch>
        </p:blipFill>
        <p:spPr>
          <a:xfrm>
            <a:off x="889163" y="4126139"/>
            <a:ext cx="215067" cy="215067"/>
          </a:xfrm>
          <a:prstGeom prst="rect">
            <a:avLst/>
          </a:prstGeom>
        </p:spPr>
      </p:pic>
      <p:sp>
        <p:nvSpPr>
          <p:cNvPr id="32" name="Text 25"/>
          <p:cNvSpPr txBox="1"/>
          <p:nvPr/>
        </p:nvSpPr>
        <p:spPr>
          <a:xfrm>
            <a:off x="804672" y="455371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CONTENT &amp;</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LISTINGS</a:t>
            </a:r>
            <a:endParaRPr lang="en-US" sz="1200" dirty="0"/>
          </a:p>
        </p:txBody>
      </p:sp>
      <p:sp>
        <p:nvSpPr>
          <p:cNvPr id="33" name="Text 26"/>
          <p:cNvSpPr txBox="1"/>
          <p:nvPr/>
        </p:nvSpPr>
        <p:spPr>
          <a:xfrm>
            <a:off x="804672" y="521208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Texte und Bilder automatisch</a:t>
            </a:r>
            <a:endParaRPr lang="en-US" sz="900" dirty="0"/>
          </a:p>
        </p:txBody>
      </p:sp>
      <p:sp>
        <p:nvSpPr>
          <p:cNvPr id="34" name="Shape 27"/>
          <p:cNvSpPr/>
          <p:nvPr/>
        </p:nvSpPr>
        <p:spPr>
          <a:xfrm>
            <a:off x="3468548" y="3895344"/>
            <a:ext cx="2627300" cy="2011680"/>
          </a:xfrm>
          <a:prstGeom prst="rect">
            <a:avLst/>
          </a:prstGeom>
          <a:solidFill>
            <a:srgbClr val="111111"/>
          </a:solidFill>
          <a:ln/>
        </p:spPr>
      </p:sp>
      <p:sp>
        <p:nvSpPr>
          <p:cNvPr id="35" name="Shape 28"/>
          <p:cNvSpPr/>
          <p:nvPr/>
        </p:nvSpPr>
        <p:spPr>
          <a:xfrm>
            <a:off x="3377108" y="3803904"/>
            <a:ext cx="2627300" cy="2011680"/>
          </a:xfrm>
          <a:prstGeom prst="rect">
            <a:avLst/>
          </a:prstGeom>
          <a:solidFill>
            <a:srgbClr val="FFD84D"/>
          </a:solidFill>
          <a:ln w="28575">
            <a:solidFill>
              <a:srgbClr val="111111"/>
            </a:solidFill>
            <a:prstDash val="solid"/>
          </a:ln>
        </p:spPr>
      </p:sp>
      <p:sp>
        <p:nvSpPr>
          <p:cNvPr id="36" name="Shape 29"/>
          <p:cNvSpPr/>
          <p:nvPr/>
        </p:nvSpPr>
        <p:spPr>
          <a:xfrm>
            <a:off x="3614852" y="4041648"/>
            <a:ext cx="384048" cy="384048"/>
          </a:xfrm>
          <a:prstGeom prst="rect">
            <a:avLst/>
          </a:prstGeom>
          <a:solidFill>
            <a:srgbClr val="FFFFFF"/>
          </a:solidFill>
          <a:ln w="28575">
            <a:solidFill>
              <a:srgbClr val="111111"/>
            </a:solidFill>
            <a:prstDash val="solid"/>
          </a:ln>
        </p:spPr>
      </p:sp>
      <p:pic>
        <p:nvPicPr>
          <p:cNvPr id="37" name="Image 5" descr="preencoded.png">    </p:cNvPr>
          <p:cNvPicPr>
            <a:picLocks noChangeAspect="1"/>
          </p:cNvPicPr>
          <p:nvPr/>
        </p:nvPicPr>
        <p:blipFill>
          <a:blip r:embed="rId6"/>
          <a:stretch>
            <a:fillRect/>
          </a:stretch>
        </p:blipFill>
        <p:spPr>
          <a:xfrm>
            <a:off x="3699342" y="4126139"/>
            <a:ext cx="215067" cy="215067"/>
          </a:xfrm>
          <a:prstGeom prst="rect">
            <a:avLst/>
          </a:prstGeom>
        </p:spPr>
      </p:pic>
      <p:sp>
        <p:nvSpPr>
          <p:cNvPr id="38" name="Text 30"/>
          <p:cNvSpPr txBox="1"/>
          <p:nvPr/>
        </p:nvSpPr>
        <p:spPr>
          <a:xfrm>
            <a:off x="3614852" y="455371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LOGISTIK &amp;</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PROGNOSE</a:t>
            </a:r>
            <a:endParaRPr lang="en-US" sz="1200" dirty="0"/>
          </a:p>
        </p:txBody>
      </p:sp>
      <p:sp>
        <p:nvSpPr>
          <p:cNvPr id="39" name="Text 31"/>
          <p:cNvSpPr txBox="1"/>
          <p:nvPr/>
        </p:nvSpPr>
        <p:spPr>
          <a:xfrm>
            <a:off x="3614852" y="521208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Bedarf vorhersagen</a:t>
            </a:r>
            <a:endParaRPr lang="en-US" sz="900" dirty="0"/>
          </a:p>
        </p:txBody>
      </p:sp>
      <p:sp>
        <p:nvSpPr>
          <p:cNvPr id="40" name="Shape 32"/>
          <p:cNvSpPr/>
          <p:nvPr/>
        </p:nvSpPr>
        <p:spPr>
          <a:xfrm>
            <a:off x="6278728" y="3895344"/>
            <a:ext cx="2627300" cy="2011680"/>
          </a:xfrm>
          <a:prstGeom prst="rect">
            <a:avLst/>
          </a:prstGeom>
          <a:solidFill>
            <a:srgbClr val="111111"/>
          </a:solidFill>
          <a:ln/>
        </p:spPr>
      </p:sp>
      <p:sp>
        <p:nvSpPr>
          <p:cNvPr id="41" name="Shape 33"/>
          <p:cNvSpPr/>
          <p:nvPr/>
        </p:nvSpPr>
        <p:spPr>
          <a:xfrm>
            <a:off x="6187288" y="3803904"/>
            <a:ext cx="2627300" cy="2011680"/>
          </a:xfrm>
          <a:prstGeom prst="rect">
            <a:avLst/>
          </a:prstGeom>
          <a:solidFill>
            <a:srgbClr val="FFFFFF"/>
          </a:solidFill>
          <a:ln w="28575">
            <a:solidFill>
              <a:srgbClr val="111111"/>
            </a:solidFill>
            <a:prstDash val="solid"/>
          </a:ln>
        </p:spPr>
      </p:sp>
      <p:sp>
        <p:nvSpPr>
          <p:cNvPr id="42" name="Shape 34"/>
          <p:cNvSpPr/>
          <p:nvPr/>
        </p:nvSpPr>
        <p:spPr>
          <a:xfrm>
            <a:off x="6425032" y="4041648"/>
            <a:ext cx="384048" cy="384048"/>
          </a:xfrm>
          <a:prstGeom prst="rect">
            <a:avLst/>
          </a:prstGeom>
          <a:solidFill>
            <a:srgbClr val="FFD84D"/>
          </a:solidFill>
          <a:ln w="28575">
            <a:solidFill>
              <a:srgbClr val="111111"/>
            </a:solidFill>
            <a:prstDash val="solid"/>
          </a:ln>
        </p:spPr>
      </p:sp>
      <p:pic>
        <p:nvPicPr>
          <p:cNvPr id="43" name="Image 6" descr="preencoded.png">    </p:cNvPr>
          <p:cNvPicPr>
            <a:picLocks noChangeAspect="1"/>
          </p:cNvPicPr>
          <p:nvPr/>
        </p:nvPicPr>
        <p:blipFill>
          <a:blip r:embed="rId7"/>
          <a:stretch>
            <a:fillRect/>
          </a:stretch>
        </p:blipFill>
        <p:spPr>
          <a:xfrm>
            <a:off x="6509522" y="4126139"/>
            <a:ext cx="215067" cy="215067"/>
          </a:xfrm>
          <a:prstGeom prst="rect">
            <a:avLst/>
          </a:prstGeom>
        </p:spPr>
      </p:pic>
      <p:sp>
        <p:nvSpPr>
          <p:cNvPr id="44" name="Text 35"/>
          <p:cNvSpPr txBox="1"/>
          <p:nvPr/>
        </p:nvSpPr>
        <p:spPr>
          <a:xfrm>
            <a:off x="6425032" y="455371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BETRUGS-</a:t>
            </a:r>
            <a:endParaRPr lang="en-US" sz="1200" dirty="0"/>
          </a:p>
          <a:p>
            <a:pPr indent="0" marL="0">
              <a:lnSpc>
                <a:spcPct val="108000"/>
              </a:lnSpc>
              <a:buNone/>
            </a:pPr>
            <a:r>
              <a:rPr lang="en-US" sz="1200" dirty="0">
                <a:solidFill>
                  <a:srgbClr val="111111"/>
                </a:solidFill>
                <a:latin typeface="Arial Black" pitchFamily="34" charset="0"/>
                <a:ea typeface="Arial Black" pitchFamily="34" charset="-122"/>
                <a:cs typeface="Arial Black" pitchFamily="34" charset="-120"/>
              </a:rPr>
              <a:t>ERKENNUNG</a:t>
            </a:r>
            <a:endParaRPr lang="en-US" sz="1200" dirty="0"/>
          </a:p>
        </p:txBody>
      </p:sp>
      <p:sp>
        <p:nvSpPr>
          <p:cNvPr id="45" name="Text 36"/>
          <p:cNvSpPr txBox="1"/>
          <p:nvPr/>
        </p:nvSpPr>
        <p:spPr>
          <a:xfrm>
            <a:off x="6425032" y="521208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111111"/>
                </a:solidFill>
                <a:latin typeface="Courier New" pitchFamily="34" charset="0"/>
                <a:ea typeface="Courier New" pitchFamily="34" charset="-122"/>
                <a:cs typeface="Courier New" pitchFamily="34" charset="-120"/>
              </a:rPr>
              <a:t>Prüfung in Millisekunden</a:t>
            </a:r>
            <a:endParaRPr lang="en-US" sz="900" dirty="0"/>
          </a:p>
        </p:txBody>
      </p:sp>
      <p:sp>
        <p:nvSpPr>
          <p:cNvPr id="46" name="Shape 37"/>
          <p:cNvSpPr/>
          <p:nvPr/>
        </p:nvSpPr>
        <p:spPr>
          <a:xfrm>
            <a:off x="9088907" y="3895344"/>
            <a:ext cx="2627300" cy="2011680"/>
          </a:xfrm>
          <a:prstGeom prst="rect">
            <a:avLst/>
          </a:prstGeom>
          <a:solidFill>
            <a:srgbClr val="111111"/>
          </a:solidFill>
          <a:ln/>
        </p:spPr>
      </p:sp>
      <p:sp>
        <p:nvSpPr>
          <p:cNvPr id="47" name="Shape 38"/>
          <p:cNvSpPr/>
          <p:nvPr/>
        </p:nvSpPr>
        <p:spPr>
          <a:xfrm>
            <a:off x="8997467" y="3803904"/>
            <a:ext cx="2627300" cy="2011680"/>
          </a:xfrm>
          <a:prstGeom prst="rect">
            <a:avLst/>
          </a:prstGeom>
          <a:solidFill>
            <a:srgbClr val="111111"/>
          </a:solidFill>
          <a:ln/>
        </p:spPr>
      </p:sp>
      <p:sp>
        <p:nvSpPr>
          <p:cNvPr id="48" name="Shape 39"/>
          <p:cNvSpPr/>
          <p:nvPr/>
        </p:nvSpPr>
        <p:spPr>
          <a:xfrm>
            <a:off x="9235211" y="4041648"/>
            <a:ext cx="384048" cy="384048"/>
          </a:xfrm>
          <a:prstGeom prst="rect">
            <a:avLst/>
          </a:prstGeom>
          <a:solidFill>
            <a:srgbClr val="FFD84D"/>
          </a:solidFill>
          <a:ln w="28575">
            <a:solidFill>
              <a:srgbClr val="111111"/>
            </a:solidFill>
            <a:prstDash val="solid"/>
          </a:ln>
        </p:spPr>
      </p:sp>
      <p:pic>
        <p:nvPicPr>
          <p:cNvPr id="49" name="Image 7" descr="preencoded.png">    </p:cNvPr>
          <p:cNvPicPr>
            <a:picLocks noChangeAspect="1"/>
          </p:cNvPicPr>
          <p:nvPr/>
        </p:nvPicPr>
        <p:blipFill>
          <a:blip r:embed="rId8"/>
          <a:stretch>
            <a:fillRect/>
          </a:stretch>
        </p:blipFill>
        <p:spPr>
          <a:xfrm>
            <a:off x="9319702" y="4126139"/>
            <a:ext cx="215067" cy="215067"/>
          </a:xfrm>
          <a:prstGeom prst="rect">
            <a:avLst/>
          </a:prstGeom>
        </p:spPr>
      </p:pic>
      <p:sp>
        <p:nvSpPr>
          <p:cNvPr id="50" name="Text 40"/>
          <p:cNvSpPr txBox="1"/>
          <p:nvPr/>
        </p:nvSpPr>
        <p:spPr>
          <a:xfrm>
            <a:off x="9235211" y="4553712"/>
            <a:ext cx="2151812" cy="566928"/>
          </a:xfrm>
          <a:prstGeom prst="rect">
            <a:avLst/>
          </a:prstGeom>
          <a:noFill/>
          <a:ln/>
        </p:spPr>
        <p:txBody>
          <a:bodyPr wrap="square" lIns="0" tIns="0" rIns="0" bIns="0" rtlCol="0" anchor="t"/>
          <a:lstStyle/>
          <a:p>
            <a:pPr indent="0" marL="0">
              <a:lnSpc>
                <a:spcPct val="108000"/>
              </a:lnSpc>
              <a:buNone/>
            </a:pPr>
            <a:r>
              <a:rPr lang="en-US" sz="1200" dirty="0">
                <a:solidFill>
                  <a:srgbClr val="FFD84D"/>
                </a:solidFill>
                <a:latin typeface="Arial Black" pitchFamily="34" charset="0"/>
                <a:ea typeface="Arial Black" pitchFamily="34" charset="-122"/>
                <a:cs typeface="Arial Black" pitchFamily="34" charset="-120"/>
              </a:rPr>
              <a:t>OHNE DATEN</a:t>
            </a:r>
            <a:endParaRPr lang="en-US" sz="1200" dirty="0"/>
          </a:p>
          <a:p>
            <a:pPr indent="0" marL="0">
              <a:lnSpc>
                <a:spcPct val="108000"/>
              </a:lnSpc>
              <a:buNone/>
            </a:pPr>
            <a:r>
              <a:rPr lang="en-US" sz="1200" dirty="0">
                <a:solidFill>
                  <a:srgbClr val="FFD84D"/>
                </a:solidFill>
                <a:latin typeface="Arial Black" pitchFamily="34" charset="0"/>
                <a:ea typeface="Arial Black" pitchFamily="34" charset="-122"/>
                <a:cs typeface="Arial Black" pitchFamily="34" charset="-120"/>
              </a:rPr>
              <a:t>KEIN HEBEL</a:t>
            </a:r>
            <a:endParaRPr lang="en-US" sz="1200" dirty="0"/>
          </a:p>
        </p:txBody>
      </p:sp>
      <p:sp>
        <p:nvSpPr>
          <p:cNvPr id="51" name="Text 41"/>
          <p:cNvSpPr txBox="1"/>
          <p:nvPr/>
        </p:nvSpPr>
        <p:spPr>
          <a:xfrm>
            <a:off x="9235211" y="5212080"/>
            <a:ext cx="2151812" cy="475488"/>
          </a:xfrm>
          <a:prstGeom prst="rect">
            <a:avLst/>
          </a:prstGeom>
          <a:noFill/>
          <a:ln/>
        </p:spPr>
        <p:txBody>
          <a:bodyPr wrap="square" lIns="0" tIns="0" rIns="0" bIns="0" rtlCol="0" anchor="t"/>
          <a:lstStyle/>
          <a:p>
            <a:pPr indent="0" marL="0">
              <a:lnSpc>
                <a:spcPct val="120000"/>
              </a:lnSpc>
              <a:buNone/>
            </a:pPr>
            <a:r>
              <a:rPr lang="en-US" sz="900" b="1" dirty="0">
                <a:solidFill>
                  <a:srgbClr val="FFFFFF"/>
                </a:solidFill>
                <a:latin typeface="Courier New" pitchFamily="34" charset="0"/>
                <a:ea typeface="Courier New" pitchFamily="34" charset="-122"/>
                <a:cs typeface="Courier New" pitchFamily="34" charset="-120"/>
              </a:rPr>
              <a:t>Alle sieben stehen auf derselben Grundlage.</a:t>
            </a:r>
            <a:endParaRPr lang="en-US" sz="900" dirty="0"/>
          </a:p>
        </p:txBody>
      </p:sp>
      <p:sp>
        <p:nvSpPr>
          <p:cNvPr id="52" name="Shape 42"/>
          <p:cNvSpPr/>
          <p:nvPr/>
        </p:nvSpPr>
        <p:spPr>
          <a:xfrm>
            <a:off x="10874959" y="6217920"/>
            <a:ext cx="749808" cy="237744"/>
          </a:xfrm>
          <a:prstGeom prst="rect">
            <a:avLst/>
          </a:prstGeom>
          <a:solidFill>
            <a:srgbClr val="111111"/>
          </a:solidFill>
          <a:ln/>
        </p:spPr>
      </p:sp>
      <p:sp>
        <p:nvSpPr>
          <p:cNvPr id="53" name="Text 43"/>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07/15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WIRKUNG</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WAS DAS MESSBAR BRINGT</a:t>
            </a:r>
            <a:endParaRPr lang="en-US" sz="2800" dirty="0"/>
          </a:p>
        </p:txBody>
      </p:sp>
      <p:sp>
        <p:nvSpPr>
          <p:cNvPr id="4" name="Shape 2"/>
          <p:cNvSpPr/>
          <p:nvPr/>
        </p:nvSpPr>
        <p:spPr>
          <a:xfrm>
            <a:off x="658368" y="1719072"/>
            <a:ext cx="7310933" cy="4114800"/>
          </a:xfrm>
          <a:prstGeom prst="rect">
            <a:avLst/>
          </a:prstGeom>
          <a:solidFill>
            <a:srgbClr val="111111"/>
          </a:solidFill>
          <a:ln/>
        </p:spPr>
      </p:sp>
      <p:sp>
        <p:nvSpPr>
          <p:cNvPr id="5" name="Shape 3"/>
          <p:cNvSpPr/>
          <p:nvPr/>
        </p:nvSpPr>
        <p:spPr>
          <a:xfrm>
            <a:off x="566928" y="1627632"/>
            <a:ext cx="7310933" cy="4114800"/>
          </a:xfrm>
          <a:prstGeom prst="rect">
            <a:avLst/>
          </a:prstGeom>
          <a:solidFill>
            <a:srgbClr val="FFFFFF"/>
          </a:solidFill>
          <a:ln w="28575">
            <a:solidFill>
              <a:srgbClr val="111111"/>
            </a:solidFill>
            <a:prstDash val="solid"/>
          </a:ln>
        </p:spPr>
      </p:sp>
      <p:sp>
        <p:nvSpPr>
          <p:cNvPr id="6" name="Text 4"/>
          <p:cNvSpPr txBox="1"/>
          <p:nvPr/>
        </p:nvSpPr>
        <p:spPr>
          <a:xfrm>
            <a:off x="841248" y="1847088"/>
            <a:ext cx="6762293" cy="237744"/>
          </a:xfrm>
          <a:prstGeom prst="rect">
            <a:avLst/>
          </a:prstGeom>
          <a:noFill/>
          <a:ln/>
        </p:spPr>
        <p:txBody>
          <a:bodyPr wrap="square" lIns="0" tIns="0" rIns="0" bIns="0" rtlCol="0" anchor="ctr"/>
          <a:lstStyle/>
          <a:p>
            <a:pPr indent="0" marL="0">
              <a:buNone/>
            </a:pPr>
            <a:r>
              <a:rPr lang="en-US" sz="1300" dirty="0">
                <a:solidFill>
                  <a:srgbClr val="111111"/>
                </a:solidFill>
                <a:latin typeface="Arial Black" pitchFamily="34" charset="0"/>
                <a:ea typeface="Arial Black" pitchFamily="34" charset="-122"/>
                <a:cs typeface="Arial Black" pitchFamily="34" charset="-120"/>
              </a:rPr>
              <a:t>BERICHTETE EFFEKTGRÖSSEN</a:t>
            </a:r>
            <a:endParaRPr lang="en-US" sz="1300" dirty="0"/>
          </a:p>
        </p:txBody>
      </p:sp>
      <p:sp>
        <p:nvSpPr>
          <p:cNvPr id="7" name="Text 5"/>
          <p:cNvSpPr txBox="1"/>
          <p:nvPr/>
        </p:nvSpPr>
        <p:spPr>
          <a:xfrm>
            <a:off x="841248" y="2084832"/>
            <a:ext cx="6762293" cy="201168"/>
          </a:xfrm>
          <a:prstGeom prst="rect">
            <a:avLst/>
          </a:prstGeom>
          <a:noFill/>
          <a:ln/>
        </p:spPr>
        <p:txBody>
          <a:bodyPr wrap="square" lIns="0" tIns="0" rIns="0" bIns="0" rtlCol="0" anchor="ctr"/>
          <a:lstStyle/>
          <a:p>
            <a:pPr indent="0" marL="0">
              <a:buNone/>
            </a:pPr>
            <a:r>
              <a:rPr lang="en-US" sz="800" dirty="0">
                <a:solidFill>
                  <a:srgbClr val="5A5A5A"/>
                </a:solidFill>
                <a:latin typeface="Courier New" pitchFamily="34" charset="0"/>
                <a:ea typeface="Courier New" pitchFamily="34" charset="-122"/>
                <a:cs typeface="Courier New" pitchFamily="34" charset="-120"/>
              </a:rPr>
              <a:t>in Prozent · Richtung der Veränderung steht in der Beschriftung</a:t>
            </a:r>
            <a:endParaRPr lang="en-US" sz="800" dirty="0"/>
          </a:p>
        </p:txBody>
      </p:sp>
      <p:graphicFrame>
        <p:nvGraphicFramePr>
          <p:cNvPr id="8" name="Chart 0" descr=""/>
          <p:cNvGraphicFramePr/>
          <p:nvPr/>
        </p:nvGraphicFramePr>
        <p:xfrm>
          <a:off x="694944" y="2395728"/>
          <a:ext cx="6963461" cy="3182112"/>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152181" y="1719072"/>
            <a:ext cx="3564026" cy="4114800"/>
          </a:xfrm>
          <a:prstGeom prst="rect">
            <a:avLst/>
          </a:prstGeom>
          <a:solidFill>
            <a:srgbClr val="111111"/>
          </a:solidFill>
          <a:ln/>
        </p:spPr>
      </p:sp>
      <p:sp>
        <p:nvSpPr>
          <p:cNvPr id="10" name="Shape 7"/>
          <p:cNvSpPr/>
          <p:nvPr/>
        </p:nvSpPr>
        <p:spPr>
          <a:xfrm>
            <a:off x="8060741" y="1627632"/>
            <a:ext cx="3564026" cy="4114800"/>
          </a:xfrm>
          <a:prstGeom prst="rect">
            <a:avLst/>
          </a:prstGeom>
          <a:solidFill>
            <a:srgbClr val="111111"/>
          </a:solidFill>
          <a:ln/>
        </p:spPr>
      </p:sp>
      <p:sp>
        <p:nvSpPr>
          <p:cNvPr id="11" name="Shape 8"/>
          <p:cNvSpPr/>
          <p:nvPr/>
        </p:nvSpPr>
        <p:spPr>
          <a:xfrm>
            <a:off x="8335061" y="1883664"/>
            <a:ext cx="420624" cy="420624"/>
          </a:xfrm>
          <a:prstGeom prst="rect">
            <a:avLst/>
          </a:prstGeom>
          <a:solidFill>
            <a:srgbClr val="FFD84D"/>
          </a:solidFill>
          <a:ln w="28575">
            <a:solidFill>
              <a:srgbClr val="111111"/>
            </a:solidFill>
            <a:prstDash val="solid"/>
          </a:ln>
        </p:spPr>
      </p:sp>
      <p:pic>
        <p:nvPicPr>
          <p:cNvPr id="12" name="Image 0" descr="preencoded.png">    </p:cNvPr>
          <p:cNvPicPr>
            <a:picLocks noChangeAspect="1"/>
          </p:cNvPicPr>
          <p:nvPr/>
        </p:nvPicPr>
        <p:blipFill>
          <a:blip r:embed="rId2"/>
          <a:stretch>
            <a:fillRect/>
          </a:stretch>
        </p:blipFill>
        <p:spPr>
          <a:xfrm>
            <a:off x="8427598" y="1976201"/>
            <a:ext cx="235549" cy="235549"/>
          </a:xfrm>
          <a:prstGeom prst="rect">
            <a:avLst/>
          </a:prstGeom>
        </p:spPr>
      </p:pic>
      <p:sp>
        <p:nvSpPr>
          <p:cNvPr id="13" name="Text 9"/>
          <p:cNvSpPr txBox="1"/>
          <p:nvPr/>
        </p:nvSpPr>
        <p:spPr>
          <a:xfrm>
            <a:off x="8335061" y="2468880"/>
            <a:ext cx="3015386" cy="676656"/>
          </a:xfrm>
          <a:prstGeom prst="rect">
            <a:avLst/>
          </a:prstGeom>
          <a:noFill/>
          <a:ln/>
        </p:spPr>
        <p:txBody>
          <a:bodyPr wrap="square" lIns="0" tIns="0" rIns="0" bIns="0" rtlCol="0" anchor="t"/>
          <a:lstStyle/>
          <a:p>
            <a:pPr indent="0" marL="0">
              <a:lnSpc>
                <a:spcPct val="110000"/>
              </a:lnSpc>
              <a:buNone/>
            </a:pPr>
            <a:r>
              <a:rPr lang="en-US" sz="1500" dirty="0">
                <a:solidFill>
                  <a:srgbClr val="FFD84D"/>
                </a:solidFill>
                <a:latin typeface="Arial Black" pitchFamily="34" charset="0"/>
                <a:ea typeface="Arial Black" pitchFamily="34" charset="-122"/>
                <a:cs typeface="Arial Black" pitchFamily="34" charset="-120"/>
              </a:rPr>
              <a:t>BITTE NICHT</a:t>
            </a:r>
            <a:endParaRPr lang="en-US" sz="1500" dirty="0"/>
          </a:p>
          <a:p>
            <a:pPr indent="0" marL="0">
              <a:lnSpc>
                <a:spcPct val="110000"/>
              </a:lnSpc>
              <a:buNone/>
            </a:pPr>
            <a:r>
              <a:rPr lang="en-US" sz="1500" dirty="0">
                <a:solidFill>
                  <a:srgbClr val="FFD84D"/>
                </a:solidFill>
                <a:latin typeface="Arial Black" pitchFamily="34" charset="0"/>
                <a:ea typeface="Arial Black" pitchFamily="34" charset="-122"/>
                <a:cs typeface="Arial Black" pitchFamily="34" charset="-120"/>
              </a:rPr>
              <a:t>ADDIEREN</a:t>
            </a:r>
            <a:endParaRPr lang="en-US" sz="1500" dirty="0"/>
          </a:p>
        </p:txBody>
      </p:sp>
      <p:sp>
        <p:nvSpPr>
          <p:cNvPr id="14" name="Text 10"/>
          <p:cNvSpPr txBox="1"/>
          <p:nvPr/>
        </p:nvSpPr>
        <p:spPr>
          <a:xfrm>
            <a:off x="8335061" y="3310128"/>
            <a:ext cx="3015386" cy="2194560"/>
          </a:xfrm>
          <a:prstGeom prst="rect">
            <a:avLst/>
          </a:prstGeom>
          <a:noFill/>
          <a:ln/>
        </p:spPr>
        <p:txBody>
          <a:bodyPr wrap="square" lIns="0" tIns="0" rIns="0" bIns="0" rtlCol="0" anchor="t"/>
          <a:lstStyle/>
          <a:p>
            <a:pPr indent="0" marL="0">
              <a:lnSpc>
                <a:spcPct val="130000"/>
              </a:lnSpc>
              <a:buNone/>
            </a:pPr>
            <a:r>
              <a:rPr lang="en-US" sz="1250" dirty="0">
                <a:solidFill>
                  <a:srgbClr val="FFFFFF"/>
                </a:solidFill>
                <a:latin typeface="Arial" pitchFamily="34" charset="0"/>
                <a:ea typeface="Arial" pitchFamily="34" charset="-122"/>
                <a:cs typeface="Arial" pitchFamily="34" charset="-120"/>
              </a:rPr>
              <a:t>Die Balkenlänge zeigt die Größe des Effekts, nicht die Richtung. Ob ein Wert steigt oder sinkt, steht links in der Beschriftung.</a:t>
            </a:r>
            <a:endParaRPr lang="en-US" sz="1250" dirty="0"/>
          </a:p>
          <a:p>
            <a:pPr indent="0" marL="0">
              <a:lnSpc>
                <a:spcPct val="130000"/>
              </a:lnSpc>
              <a:buNone/>
            </a:pPr>
            <a:endParaRPr lang="en-US" sz="1250" dirty="0"/>
          </a:p>
          <a:p>
            <a:pPr indent="0" marL="0">
              <a:lnSpc>
                <a:spcPct val="130000"/>
              </a:lnSpc>
              <a:buNone/>
            </a:pPr>
            <a:r>
              <a:rPr lang="en-US" sz="1250" dirty="0">
                <a:solidFill>
                  <a:srgbClr val="FFFFFF"/>
                </a:solidFill>
                <a:latin typeface="Arial" pitchFamily="34" charset="0"/>
                <a:ea typeface="Arial" pitchFamily="34" charset="-122"/>
                <a:cs typeface="Arial" pitchFamily="34" charset="-120"/>
              </a:rPr>
              <a:t>Die Werte stammen aus verschiedenen Studien und Unternehmen. Sie zeigen Größenordnungen, keine Garantien.</a:t>
            </a:r>
            <a:endParaRPr lang="en-US" sz="1250" dirty="0"/>
          </a:p>
        </p:txBody>
      </p:sp>
      <p:sp>
        <p:nvSpPr>
          <p:cNvPr id="15" name="Text 11"/>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PERSONALISIERUNG, BESTÄNDE, PROGNOSEFEHLER: MCKINSEY, THE ECONOMIC POTENTIAL OF GENERATIVE AI (63 ANALYSIERTE ANWENDUNGSFÄLLE) · CONTENT: ZALANDO SE, GESCHÄFTSJAHR 2025 (VERÖFFENTLICHUNG 12.03.2026) · BEARBEITUNGSZEIT: KLARNA, PRESSEMITTEILUNG ZUM KI-ASSISTENTEN; KURSKORREKTUR 2025</a:t>
            </a:r>
            <a:endParaRPr lang="en-US" sz="800" dirty="0"/>
          </a:p>
        </p:txBody>
      </p:sp>
      <p:sp>
        <p:nvSpPr>
          <p:cNvPr id="16" name="Shape 12"/>
          <p:cNvSpPr/>
          <p:nvPr/>
        </p:nvSpPr>
        <p:spPr>
          <a:xfrm>
            <a:off x="10874959" y="6217920"/>
            <a:ext cx="749808" cy="237744"/>
          </a:xfrm>
          <a:prstGeom prst="rect">
            <a:avLst/>
          </a:prstGeom>
          <a:solidFill>
            <a:srgbClr val="111111"/>
          </a:solidFill>
          <a:ln/>
        </p:spPr>
      </p:sp>
      <p:sp>
        <p:nvSpPr>
          <p:cNvPr id="17" name="Text 13"/>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08/15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PRAXIS 1 VON 3</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AMAZON RUFUS</a:t>
            </a:r>
            <a:endParaRPr lang="en-US" sz="2800" dirty="0"/>
          </a:p>
        </p:txBody>
      </p:sp>
      <p:sp>
        <p:nvSpPr>
          <p:cNvPr id="4" name="Shape 2"/>
          <p:cNvSpPr/>
          <p:nvPr/>
        </p:nvSpPr>
        <p:spPr>
          <a:xfrm>
            <a:off x="658368" y="1719072"/>
            <a:ext cx="5437480" cy="4114800"/>
          </a:xfrm>
          <a:prstGeom prst="rect">
            <a:avLst/>
          </a:prstGeom>
          <a:solidFill>
            <a:srgbClr val="111111"/>
          </a:solidFill>
          <a:ln/>
        </p:spPr>
      </p:sp>
      <p:sp>
        <p:nvSpPr>
          <p:cNvPr id="5" name="Shape 3"/>
          <p:cNvSpPr/>
          <p:nvPr/>
        </p:nvSpPr>
        <p:spPr>
          <a:xfrm>
            <a:off x="566928" y="1627632"/>
            <a:ext cx="5437480" cy="4114800"/>
          </a:xfrm>
          <a:prstGeom prst="rect">
            <a:avLst/>
          </a:prstGeom>
          <a:solidFill>
            <a:srgbClr val="FFFFFF"/>
          </a:solidFill>
          <a:ln w="28575">
            <a:solidFill>
              <a:srgbClr val="111111"/>
            </a:solidFill>
            <a:prstDash val="solid"/>
          </a:ln>
        </p:spPr>
      </p:sp>
      <p:sp>
        <p:nvSpPr>
          <p:cNvPr id="6" name="Text 4"/>
          <p:cNvSpPr txBox="1"/>
          <p:nvPr/>
        </p:nvSpPr>
        <p:spPr>
          <a:xfrm>
            <a:off x="841248" y="1847088"/>
            <a:ext cx="4888840" cy="237744"/>
          </a:xfrm>
          <a:prstGeom prst="rect">
            <a:avLst/>
          </a:prstGeom>
          <a:noFill/>
          <a:ln/>
        </p:spPr>
        <p:txBody>
          <a:bodyPr wrap="square" lIns="0" tIns="0" rIns="0" bIns="0" rtlCol="0" anchor="ctr"/>
          <a:lstStyle/>
          <a:p>
            <a:pPr indent="0" marL="0">
              <a:buNone/>
            </a:pPr>
            <a:r>
              <a:rPr lang="en-US" sz="1300" dirty="0">
                <a:solidFill>
                  <a:srgbClr val="111111"/>
                </a:solidFill>
                <a:latin typeface="Arial Black" pitchFamily="34" charset="0"/>
                <a:ea typeface="Arial Black" pitchFamily="34" charset="-122"/>
                <a:cs typeface="Arial Black" pitchFamily="34" charset="-120"/>
              </a:rPr>
              <a:t>WAHRSCHEINLICHKEIT EINES KAUFABSCHLUSSES</a:t>
            </a:r>
            <a:endParaRPr lang="en-US" sz="1300" dirty="0"/>
          </a:p>
        </p:txBody>
      </p:sp>
      <p:sp>
        <p:nvSpPr>
          <p:cNvPr id="7" name="Text 5"/>
          <p:cNvSpPr txBox="1"/>
          <p:nvPr/>
        </p:nvSpPr>
        <p:spPr>
          <a:xfrm>
            <a:off x="841248" y="2084832"/>
            <a:ext cx="4888840" cy="201168"/>
          </a:xfrm>
          <a:prstGeom prst="rect">
            <a:avLst/>
          </a:prstGeom>
          <a:noFill/>
          <a:ln/>
        </p:spPr>
        <p:txBody>
          <a:bodyPr wrap="square" lIns="0" tIns="0" rIns="0" bIns="0" rtlCol="0" anchor="ctr"/>
          <a:lstStyle/>
          <a:p>
            <a:pPr indent="0" marL="0">
              <a:buNone/>
            </a:pPr>
            <a:r>
              <a:rPr lang="en-US" sz="800" dirty="0">
                <a:solidFill>
                  <a:srgbClr val="5A5A5A"/>
                </a:solidFill>
                <a:latin typeface="Courier New" pitchFamily="34" charset="0"/>
                <a:ea typeface="Courier New" pitchFamily="34" charset="-122"/>
                <a:cs typeface="Courier New" pitchFamily="34" charset="-120"/>
              </a:rPr>
              <a:t>Indexwert · Einkauf ohne Assistent = 100</a:t>
            </a:r>
            <a:endParaRPr lang="en-US" sz="800" dirty="0"/>
          </a:p>
        </p:txBody>
      </p:sp>
      <p:graphicFrame>
        <p:nvGraphicFramePr>
          <p:cNvPr id="8" name="Chart 0" descr=""/>
          <p:cNvGraphicFramePr/>
          <p:nvPr/>
        </p:nvGraphicFramePr>
        <p:xfrm>
          <a:off x="713232" y="2432304"/>
          <a:ext cx="5071720" cy="314553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78728" y="1719072"/>
            <a:ext cx="5437480" cy="1920240"/>
          </a:xfrm>
          <a:prstGeom prst="rect">
            <a:avLst/>
          </a:prstGeom>
          <a:solidFill>
            <a:srgbClr val="111111"/>
          </a:solidFill>
          <a:ln/>
        </p:spPr>
      </p:sp>
      <p:sp>
        <p:nvSpPr>
          <p:cNvPr id="10" name="Shape 7"/>
          <p:cNvSpPr/>
          <p:nvPr/>
        </p:nvSpPr>
        <p:spPr>
          <a:xfrm>
            <a:off x="6187288" y="1627632"/>
            <a:ext cx="5437480" cy="1920240"/>
          </a:xfrm>
          <a:prstGeom prst="rect">
            <a:avLst/>
          </a:prstGeom>
          <a:solidFill>
            <a:srgbClr val="FFD84D"/>
          </a:solidFill>
          <a:ln w="28575">
            <a:solidFill>
              <a:srgbClr val="111111"/>
            </a:solidFill>
            <a:prstDash val="solid"/>
          </a:ln>
        </p:spPr>
      </p:sp>
      <p:sp>
        <p:nvSpPr>
          <p:cNvPr id="11" name="Text 8"/>
          <p:cNvSpPr txBox="1"/>
          <p:nvPr/>
        </p:nvSpPr>
        <p:spPr>
          <a:xfrm>
            <a:off x="6461608" y="1920240"/>
            <a:ext cx="4888840" cy="658368"/>
          </a:xfrm>
          <a:prstGeom prst="rect">
            <a:avLst/>
          </a:prstGeom>
          <a:noFill/>
          <a:ln/>
        </p:spPr>
        <p:txBody>
          <a:bodyPr wrap="square" lIns="0" tIns="0" rIns="0" bIns="0" rtlCol="0" anchor="ctr"/>
          <a:lstStyle/>
          <a:p>
            <a:pPr indent="0" marL="0">
              <a:buNone/>
            </a:pPr>
            <a:r>
              <a:rPr lang="en-US" sz="4400" dirty="0">
                <a:solidFill>
                  <a:srgbClr val="111111"/>
                </a:solidFill>
                <a:latin typeface="Arial Black" pitchFamily="34" charset="0"/>
                <a:ea typeface="Arial Black" pitchFamily="34" charset="-122"/>
                <a:cs typeface="Arial Black" pitchFamily="34" charset="-120"/>
              </a:rPr>
              <a:t>12 MRD $</a:t>
            </a:r>
            <a:endParaRPr lang="en-US" sz="4400" dirty="0"/>
          </a:p>
        </p:txBody>
      </p:sp>
      <p:sp>
        <p:nvSpPr>
          <p:cNvPr id="12" name="Text 9"/>
          <p:cNvSpPr txBox="1"/>
          <p:nvPr/>
        </p:nvSpPr>
        <p:spPr>
          <a:xfrm>
            <a:off x="6461608" y="2670048"/>
            <a:ext cx="4888840" cy="603504"/>
          </a:xfrm>
          <a:prstGeom prst="rect">
            <a:avLst/>
          </a:prstGeom>
          <a:noFill/>
          <a:ln/>
        </p:spPr>
        <p:txBody>
          <a:bodyPr wrap="square" lIns="0" tIns="0" rIns="0" bIns="0" rtlCol="0" anchor="t"/>
          <a:lstStyle/>
          <a:p>
            <a:pPr indent="0" marL="0">
              <a:lnSpc>
                <a:spcPct val="125000"/>
              </a:lnSpc>
              <a:buNone/>
            </a:pPr>
            <a:r>
              <a:rPr lang="en-US" sz="1250" dirty="0">
                <a:solidFill>
                  <a:srgbClr val="111111"/>
                </a:solidFill>
                <a:latin typeface="Arial" pitchFamily="34" charset="0"/>
                <a:ea typeface="Arial" pitchFamily="34" charset="-122"/>
                <a:cs typeface="Arial" pitchFamily="34" charset="-120"/>
              </a:rPr>
              <a:t>zusätzlicher Umsatz 2025 · über 300 Mio. Nutzerinnen und Nutzer</a:t>
            </a:r>
            <a:endParaRPr lang="en-US" sz="1250" dirty="0"/>
          </a:p>
        </p:txBody>
      </p:sp>
      <p:sp>
        <p:nvSpPr>
          <p:cNvPr id="13" name="Shape 10"/>
          <p:cNvSpPr/>
          <p:nvPr/>
        </p:nvSpPr>
        <p:spPr>
          <a:xfrm>
            <a:off x="6278728" y="3840480"/>
            <a:ext cx="5437480" cy="1993392"/>
          </a:xfrm>
          <a:prstGeom prst="rect">
            <a:avLst/>
          </a:prstGeom>
          <a:solidFill>
            <a:srgbClr val="111111"/>
          </a:solidFill>
          <a:ln/>
        </p:spPr>
      </p:sp>
      <p:sp>
        <p:nvSpPr>
          <p:cNvPr id="14" name="Shape 11"/>
          <p:cNvSpPr/>
          <p:nvPr/>
        </p:nvSpPr>
        <p:spPr>
          <a:xfrm>
            <a:off x="6187288" y="3749040"/>
            <a:ext cx="5437480" cy="1993392"/>
          </a:xfrm>
          <a:prstGeom prst="rect">
            <a:avLst/>
          </a:prstGeom>
          <a:solidFill>
            <a:srgbClr val="FFFFFF"/>
          </a:solidFill>
          <a:ln w="28575">
            <a:solidFill>
              <a:srgbClr val="111111"/>
            </a:solidFill>
            <a:prstDash val="solid"/>
          </a:ln>
        </p:spPr>
      </p:sp>
      <p:sp>
        <p:nvSpPr>
          <p:cNvPr id="15" name="Text 12"/>
          <p:cNvSpPr txBox="1"/>
          <p:nvPr/>
        </p:nvSpPr>
        <p:spPr>
          <a:xfrm>
            <a:off x="6461608" y="3986784"/>
            <a:ext cx="4888840" cy="292608"/>
          </a:xfrm>
          <a:prstGeom prst="rect">
            <a:avLst/>
          </a:prstGeom>
          <a:noFill/>
          <a:ln/>
        </p:spPr>
        <p:txBody>
          <a:bodyPr wrap="square" lIns="0" tIns="0" rIns="0" bIns="0" rtlCol="0" anchor="ctr"/>
          <a:lstStyle/>
          <a:p>
            <a:pPr indent="0" marL="0">
              <a:buNone/>
            </a:pPr>
            <a:r>
              <a:rPr lang="en-US" sz="1400" dirty="0">
                <a:solidFill>
                  <a:srgbClr val="111111"/>
                </a:solidFill>
                <a:latin typeface="Arial Black" pitchFamily="34" charset="0"/>
                <a:ea typeface="Arial Black" pitchFamily="34" charset="-122"/>
                <a:cs typeface="Arial Black" pitchFamily="34" charset="-120"/>
              </a:rPr>
              <a:t>WAS ER TUT</a:t>
            </a:r>
            <a:endParaRPr lang="en-US" sz="1400" dirty="0"/>
          </a:p>
        </p:txBody>
      </p:sp>
      <p:sp>
        <p:nvSpPr>
          <p:cNvPr id="16" name="Text 13"/>
          <p:cNvSpPr txBox="1"/>
          <p:nvPr/>
        </p:nvSpPr>
        <p:spPr>
          <a:xfrm>
            <a:off x="6461608" y="4352544"/>
            <a:ext cx="4888840" cy="1280160"/>
          </a:xfrm>
          <a:prstGeom prst="rect">
            <a:avLst/>
          </a:prstGeom>
          <a:noFill/>
          <a:ln/>
        </p:spPr>
        <p:txBody>
          <a:bodyPr wrap="square" lIns="0" tIns="0" rIns="0" bIns="0" rtlCol="0" anchor="t"/>
          <a:lstStyle/>
          <a:p>
            <a:pPr marL="342900" indent="-342900">
              <a:lnSpc>
                <a:spcPct val="122000"/>
              </a:lnSpc>
              <a:spcAft>
                <a:spcPts val="900"/>
              </a:spcAft>
              <a:buSzPct val="100000"/>
              <a:buChar char="•"/>
            </a:pPr>
            <a:r>
              <a:rPr lang="en-US" sz="1250" dirty="0">
                <a:solidFill>
                  <a:srgbClr val="111111"/>
                </a:solidFill>
                <a:latin typeface="Arial" pitchFamily="34" charset="0"/>
                <a:ea typeface="Arial" pitchFamily="34" charset="-122"/>
                <a:cs typeface="Arial" pitchFamily="34" charset="-120"/>
              </a:rPr>
              <a:t>beantwortet Produktfragen im Dialog und vergleicht Alternativen</a:t>
            </a:r>
            <a:endParaRPr lang="en-US" sz="1250" dirty="0"/>
          </a:p>
          <a:p>
            <a:pPr marL="342900" indent="-342900">
              <a:lnSpc>
                <a:spcPct val="122000"/>
              </a:lnSpc>
              <a:spcAft>
                <a:spcPts val="900"/>
              </a:spcAft>
              <a:buSzPct val="100000"/>
              <a:buChar char="•"/>
            </a:pPr>
            <a:r>
              <a:rPr lang="en-US" sz="1250" dirty="0">
                <a:solidFill>
                  <a:srgbClr val="111111"/>
                </a:solidFill>
                <a:latin typeface="Arial" pitchFamily="34" charset="0"/>
                <a:ea typeface="Arial" pitchFamily="34" charset="-122"/>
                <a:cs typeface="Arial" pitchFamily="34" charset="-120"/>
              </a:rPr>
              <a:t>beobachtet Preise und kauft beim Wunschpreis selbstständig</a:t>
            </a:r>
            <a:endParaRPr lang="en-US" sz="1250" dirty="0"/>
          </a:p>
          <a:p>
            <a:pPr marL="342900" indent="-342900">
              <a:lnSpc>
                <a:spcPct val="122000"/>
              </a:lnSpc>
              <a:buSzPct val="100000"/>
              <a:buChar char="•"/>
            </a:pPr>
            <a:r>
              <a:rPr lang="en-US" sz="1250" dirty="0">
                <a:solidFill>
                  <a:srgbClr val="111111"/>
                </a:solidFill>
                <a:latin typeface="Arial" pitchFamily="34" charset="0"/>
                <a:ea typeface="Arial" pitchFamily="34" charset="-122"/>
                <a:cs typeface="Arial" pitchFamily="34" charset="-120"/>
              </a:rPr>
              <a:t>kauft inzwischen auch in fremden Shops ein</a:t>
            </a:r>
            <a:endParaRPr lang="en-US" sz="1250" dirty="0"/>
          </a:p>
        </p:txBody>
      </p:sp>
      <p:sp>
        <p:nvSpPr>
          <p:cNvPr id="17" name="Text 14"/>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AMAZON, Q4/GJ-2025-ERGEBNISSE UND EARNINGS CALL, 02/2026</a:t>
            </a:r>
            <a:endParaRPr lang="en-US" sz="800" dirty="0"/>
          </a:p>
        </p:txBody>
      </p:sp>
      <p:sp>
        <p:nvSpPr>
          <p:cNvPr id="18" name="Shape 15"/>
          <p:cNvSpPr/>
          <p:nvPr/>
        </p:nvSpPr>
        <p:spPr>
          <a:xfrm>
            <a:off x="10874959" y="6217920"/>
            <a:ext cx="749808" cy="237744"/>
          </a:xfrm>
          <a:prstGeom prst="rect">
            <a:avLst/>
          </a:prstGeom>
          <a:solidFill>
            <a:srgbClr val="111111"/>
          </a:solidFill>
          <a:ln/>
        </p:spPr>
      </p:sp>
      <p:sp>
        <p:nvSpPr>
          <p:cNvPr id="19" name="Text 16"/>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09/15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PRAXIS 2 VON 3</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ZALANDO</a:t>
            </a:r>
            <a:endParaRPr lang="en-US" sz="2800" dirty="0"/>
          </a:p>
        </p:txBody>
      </p:sp>
      <p:sp>
        <p:nvSpPr>
          <p:cNvPr id="4" name="Shape 2"/>
          <p:cNvSpPr/>
          <p:nvPr/>
        </p:nvSpPr>
        <p:spPr>
          <a:xfrm>
            <a:off x="658368" y="1719072"/>
            <a:ext cx="2627300" cy="2139696"/>
          </a:xfrm>
          <a:prstGeom prst="rect">
            <a:avLst/>
          </a:prstGeom>
          <a:solidFill>
            <a:srgbClr val="111111"/>
          </a:solidFill>
          <a:ln/>
        </p:spPr>
      </p:sp>
      <p:sp>
        <p:nvSpPr>
          <p:cNvPr id="5" name="Shape 3"/>
          <p:cNvSpPr/>
          <p:nvPr/>
        </p:nvSpPr>
        <p:spPr>
          <a:xfrm>
            <a:off x="566928" y="1627632"/>
            <a:ext cx="2627300" cy="2139696"/>
          </a:xfrm>
          <a:prstGeom prst="rect">
            <a:avLst/>
          </a:prstGeom>
          <a:solidFill>
            <a:srgbClr val="FFD84D"/>
          </a:solidFill>
          <a:ln w="28575">
            <a:solidFill>
              <a:srgbClr val="111111"/>
            </a:solidFill>
            <a:prstDash val="solid"/>
          </a:ln>
        </p:spPr>
      </p:sp>
      <p:sp>
        <p:nvSpPr>
          <p:cNvPr id="6" name="Text 4"/>
          <p:cNvSpPr txBox="1"/>
          <p:nvPr/>
        </p:nvSpPr>
        <p:spPr>
          <a:xfrm>
            <a:off x="804672" y="1883664"/>
            <a:ext cx="2151812" cy="566928"/>
          </a:xfrm>
          <a:prstGeom prst="rect">
            <a:avLst/>
          </a:prstGeom>
          <a:noFill/>
          <a:ln/>
        </p:spPr>
        <p:txBody>
          <a:bodyPr wrap="square" lIns="0" tIns="0" rIns="0" bIns="0" rtlCol="0" anchor="ctr"/>
          <a:lstStyle/>
          <a:p>
            <a:pPr indent="0" marL="0">
              <a:buNone/>
            </a:pPr>
            <a:r>
              <a:rPr lang="en-US" sz="3400" dirty="0">
                <a:solidFill>
                  <a:srgbClr val="111111"/>
                </a:solidFill>
                <a:latin typeface="Arial Black" pitchFamily="34" charset="0"/>
                <a:ea typeface="Arial Black" pitchFamily="34" charset="-122"/>
                <a:cs typeface="Arial Black" pitchFamily="34" charset="-120"/>
              </a:rPr>
              <a:t>-8 %</a:t>
            </a:r>
            <a:endParaRPr lang="en-US" sz="3400" dirty="0"/>
          </a:p>
        </p:txBody>
      </p:sp>
      <p:sp>
        <p:nvSpPr>
          <p:cNvPr id="7" name="Text 5"/>
          <p:cNvSpPr txBox="1"/>
          <p:nvPr/>
        </p:nvSpPr>
        <p:spPr>
          <a:xfrm>
            <a:off x="804672" y="2560320"/>
            <a:ext cx="2151812" cy="1005840"/>
          </a:xfrm>
          <a:prstGeom prst="rect">
            <a:avLst/>
          </a:prstGeom>
          <a:noFill/>
          <a:ln/>
        </p:spPr>
        <p:txBody>
          <a:bodyPr wrap="square" lIns="0" tIns="0" rIns="0" bIns="0" rtlCol="0" anchor="t"/>
          <a:lstStyle/>
          <a:p>
            <a:pPr indent="0" marL="0">
              <a:lnSpc>
                <a:spcPct val="130000"/>
              </a:lnSpc>
              <a:buNone/>
            </a:pPr>
            <a:r>
              <a:rPr lang="en-US" sz="1200" dirty="0">
                <a:solidFill>
                  <a:srgbClr val="111111"/>
                </a:solidFill>
                <a:latin typeface="Arial" pitchFamily="34" charset="0"/>
                <a:ea typeface="Arial" pitchFamily="34" charset="-122"/>
                <a:cs typeface="Arial" pitchFamily="34" charset="-120"/>
              </a:rPr>
              <a:t>größenbedingte Retouren durch Size &amp; Fit</a:t>
            </a:r>
            <a:endParaRPr lang="en-US" sz="1200" dirty="0"/>
          </a:p>
        </p:txBody>
      </p:sp>
      <p:sp>
        <p:nvSpPr>
          <p:cNvPr id="8" name="Shape 6"/>
          <p:cNvSpPr/>
          <p:nvPr/>
        </p:nvSpPr>
        <p:spPr>
          <a:xfrm>
            <a:off x="3468548" y="1901952"/>
            <a:ext cx="2627300" cy="2139696"/>
          </a:xfrm>
          <a:prstGeom prst="rect">
            <a:avLst/>
          </a:prstGeom>
          <a:solidFill>
            <a:srgbClr val="111111"/>
          </a:solidFill>
          <a:ln/>
        </p:spPr>
      </p:sp>
      <p:sp>
        <p:nvSpPr>
          <p:cNvPr id="9" name="Shape 7"/>
          <p:cNvSpPr/>
          <p:nvPr/>
        </p:nvSpPr>
        <p:spPr>
          <a:xfrm>
            <a:off x="3377108" y="1810512"/>
            <a:ext cx="2627300" cy="2139696"/>
          </a:xfrm>
          <a:prstGeom prst="rect">
            <a:avLst/>
          </a:prstGeom>
          <a:solidFill>
            <a:srgbClr val="FFFFFF"/>
          </a:solidFill>
          <a:ln w="28575">
            <a:solidFill>
              <a:srgbClr val="111111"/>
            </a:solidFill>
            <a:prstDash val="solid"/>
          </a:ln>
        </p:spPr>
      </p:sp>
      <p:sp>
        <p:nvSpPr>
          <p:cNvPr id="10" name="Text 8"/>
          <p:cNvSpPr txBox="1"/>
          <p:nvPr/>
        </p:nvSpPr>
        <p:spPr>
          <a:xfrm>
            <a:off x="3614852" y="2066544"/>
            <a:ext cx="2151812" cy="566928"/>
          </a:xfrm>
          <a:prstGeom prst="rect">
            <a:avLst/>
          </a:prstGeom>
          <a:noFill/>
          <a:ln/>
        </p:spPr>
        <p:txBody>
          <a:bodyPr wrap="square" lIns="0" tIns="0" rIns="0" bIns="0" rtlCol="0" anchor="ctr"/>
          <a:lstStyle/>
          <a:p>
            <a:pPr indent="0" marL="0">
              <a:buNone/>
            </a:pPr>
            <a:r>
              <a:rPr lang="en-US" sz="3400" dirty="0">
                <a:solidFill>
                  <a:srgbClr val="111111"/>
                </a:solidFill>
                <a:latin typeface="Arial Black" pitchFamily="34" charset="0"/>
                <a:ea typeface="Arial Black" pitchFamily="34" charset="-122"/>
                <a:cs typeface="Arial Black" pitchFamily="34" charset="-120"/>
              </a:rPr>
              <a:t>+13 %</a:t>
            </a:r>
            <a:endParaRPr lang="en-US" sz="3400" dirty="0"/>
          </a:p>
        </p:txBody>
      </p:sp>
      <p:sp>
        <p:nvSpPr>
          <p:cNvPr id="11" name="Text 9"/>
          <p:cNvSpPr txBox="1"/>
          <p:nvPr/>
        </p:nvSpPr>
        <p:spPr>
          <a:xfrm>
            <a:off x="3614852" y="2743200"/>
            <a:ext cx="2151812" cy="1005840"/>
          </a:xfrm>
          <a:prstGeom prst="rect">
            <a:avLst/>
          </a:prstGeom>
          <a:noFill/>
          <a:ln/>
        </p:spPr>
        <p:txBody>
          <a:bodyPr wrap="square" lIns="0" tIns="0" rIns="0" bIns="0" rtlCol="0" anchor="t"/>
          <a:lstStyle/>
          <a:p>
            <a:pPr indent="0" marL="0">
              <a:lnSpc>
                <a:spcPct val="130000"/>
              </a:lnSpc>
              <a:buNone/>
            </a:pPr>
            <a:r>
              <a:rPr lang="en-US" sz="1200" dirty="0">
                <a:solidFill>
                  <a:srgbClr val="111111"/>
                </a:solidFill>
                <a:latin typeface="Arial" pitchFamily="34" charset="0"/>
                <a:ea typeface="Arial" pitchFamily="34" charset="-122"/>
                <a:cs typeface="Arial" pitchFamily="34" charset="-120"/>
              </a:rPr>
              <a:t>mehr Artikel im Warenkorb durch KI-Matching</a:t>
            </a:r>
            <a:endParaRPr lang="en-US" sz="1200" dirty="0"/>
          </a:p>
        </p:txBody>
      </p:sp>
      <p:sp>
        <p:nvSpPr>
          <p:cNvPr id="12" name="Shape 10"/>
          <p:cNvSpPr/>
          <p:nvPr/>
        </p:nvSpPr>
        <p:spPr>
          <a:xfrm>
            <a:off x="6278728" y="1719072"/>
            <a:ext cx="2627300" cy="2139696"/>
          </a:xfrm>
          <a:prstGeom prst="rect">
            <a:avLst/>
          </a:prstGeom>
          <a:solidFill>
            <a:srgbClr val="111111"/>
          </a:solidFill>
          <a:ln/>
        </p:spPr>
      </p:sp>
      <p:sp>
        <p:nvSpPr>
          <p:cNvPr id="13" name="Shape 11"/>
          <p:cNvSpPr/>
          <p:nvPr/>
        </p:nvSpPr>
        <p:spPr>
          <a:xfrm>
            <a:off x="6187288" y="1627632"/>
            <a:ext cx="2627300" cy="2139696"/>
          </a:xfrm>
          <a:prstGeom prst="rect">
            <a:avLst/>
          </a:prstGeom>
          <a:solidFill>
            <a:srgbClr val="FFFFFF"/>
          </a:solidFill>
          <a:ln w="28575">
            <a:solidFill>
              <a:srgbClr val="111111"/>
            </a:solidFill>
            <a:prstDash val="solid"/>
          </a:ln>
        </p:spPr>
      </p:sp>
      <p:sp>
        <p:nvSpPr>
          <p:cNvPr id="14" name="Text 12"/>
          <p:cNvSpPr txBox="1"/>
          <p:nvPr/>
        </p:nvSpPr>
        <p:spPr>
          <a:xfrm>
            <a:off x="6425032" y="1883664"/>
            <a:ext cx="2151812" cy="566928"/>
          </a:xfrm>
          <a:prstGeom prst="rect">
            <a:avLst/>
          </a:prstGeom>
          <a:noFill/>
          <a:ln/>
        </p:spPr>
        <p:txBody>
          <a:bodyPr wrap="square" lIns="0" tIns="0" rIns="0" bIns="0" rtlCol="0" anchor="ctr"/>
          <a:lstStyle/>
          <a:p>
            <a:pPr indent="0" marL="0">
              <a:buNone/>
            </a:pPr>
            <a:r>
              <a:rPr lang="en-US" sz="3400" dirty="0">
                <a:solidFill>
                  <a:srgbClr val="111111"/>
                </a:solidFill>
                <a:latin typeface="Arial Black" pitchFamily="34" charset="0"/>
                <a:ea typeface="Arial Black" pitchFamily="34" charset="-122"/>
                <a:cs typeface="Arial Black" pitchFamily="34" charset="-120"/>
              </a:rPr>
              <a:t>90 %</a:t>
            </a:r>
            <a:endParaRPr lang="en-US" sz="3400" dirty="0"/>
          </a:p>
        </p:txBody>
      </p:sp>
      <p:sp>
        <p:nvSpPr>
          <p:cNvPr id="15" name="Text 13"/>
          <p:cNvSpPr txBox="1"/>
          <p:nvPr/>
        </p:nvSpPr>
        <p:spPr>
          <a:xfrm>
            <a:off x="6425032" y="2560320"/>
            <a:ext cx="2151812" cy="1005840"/>
          </a:xfrm>
          <a:prstGeom prst="rect">
            <a:avLst/>
          </a:prstGeom>
          <a:noFill/>
          <a:ln/>
        </p:spPr>
        <p:txBody>
          <a:bodyPr wrap="square" lIns="0" tIns="0" rIns="0" bIns="0" rtlCol="0" anchor="t"/>
          <a:lstStyle/>
          <a:p>
            <a:pPr indent="0" marL="0">
              <a:lnSpc>
                <a:spcPct val="130000"/>
              </a:lnSpc>
              <a:buNone/>
            </a:pPr>
            <a:r>
              <a:rPr lang="en-US" sz="1200" dirty="0">
                <a:solidFill>
                  <a:srgbClr val="111111"/>
                </a:solidFill>
                <a:latin typeface="Arial" pitchFamily="34" charset="0"/>
                <a:ea typeface="Arial" pitchFamily="34" charset="-122"/>
                <a:cs typeface="Arial" pitchFamily="34" charset="-120"/>
              </a:rPr>
              <a:t>der Produktinhalte sind KI-erzeugt</a:t>
            </a:r>
            <a:endParaRPr lang="en-US" sz="1200" dirty="0"/>
          </a:p>
        </p:txBody>
      </p:sp>
      <p:sp>
        <p:nvSpPr>
          <p:cNvPr id="16" name="Shape 14"/>
          <p:cNvSpPr/>
          <p:nvPr/>
        </p:nvSpPr>
        <p:spPr>
          <a:xfrm>
            <a:off x="9088907" y="1901952"/>
            <a:ext cx="2627300" cy="2139696"/>
          </a:xfrm>
          <a:prstGeom prst="rect">
            <a:avLst/>
          </a:prstGeom>
          <a:solidFill>
            <a:srgbClr val="111111"/>
          </a:solidFill>
          <a:ln/>
        </p:spPr>
      </p:sp>
      <p:sp>
        <p:nvSpPr>
          <p:cNvPr id="17" name="Shape 15"/>
          <p:cNvSpPr/>
          <p:nvPr/>
        </p:nvSpPr>
        <p:spPr>
          <a:xfrm>
            <a:off x="8997467" y="1810512"/>
            <a:ext cx="2627300" cy="2139696"/>
          </a:xfrm>
          <a:prstGeom prst="rect">
            <a:avLst/>
          </a:prstGeom>
          <a:solidFill>
            <a:srgbClr val="FFD84D"/>
          </a:solidFill>
          <a:ln w="28575">
            <a:solidFill>
              <a:srgbClr val="111111"/>
            </a:solidFill>
            <a:prstDash val="solid"/>
          </a:ln>
        </p:spPr>
      </p:sp>
      <p:sp>
        <p:nvSpPr>
          <p:cNvPr id="18" name="Text 16"/>
          <p:cNvSpPr txBox="1"/>
          <p:nvPr/>
        </p:nvSpPr>
        <p:spPr>
          <a:xfrm>
            <a:off x="9235211" y="2066544"/>
            <a:ext cx="2151812" cy="566928"/>
          </a:xfrm>
          <a:prstGeom prst="rect">
            <a:avLst/>
          </a:prstGeom>
          <a:noFill/>
          <a:ln/>
        </p:spPr>
        <p:txBody>
          <a:bodyPr wrap="square" lIns="0" tIns="0" rIns="0" bIns="0" rtlCol="0" anchor="ctr"/>
          <a:lstStyle/>
          <a:p>
            <a:pPr indent="0" marL="0">
              <a:buNone/>
            </a:pPr>
            <a:r>
              <a:rPr lang="en-US" sz="3400" dirty="0">
                <a:solidFill>
                  <a:srgbClr val="111111"/>
                </a:solidFill>
                <a:latin typeface="Arial Black" pitchFamily="34" charset="0"/>
                <a:ea typeface="Arial Black" pitchFamily="34" charset="-122"/>
                <a:cs typeface="Arial Black" pitchFamily="34" charset="-120"/>
              </a:rPr>
              <a:t>6 MIO</a:t>
            </a:r>
            <a:endParaRPr lang="en-US" sz="3400" dirty="0"/>
          </a:p>
        </p:txBody>
      </p:sp>
      <p:sp>
        <p:nvSpPr>
          <p:cNvPr id="19" name="Text 17"/>
          <p:cNvSpPr txBox="1"/>
          <p:nvPr/>
        </p:nvSpPr>
        <p:spPr>
          <a:xfrm>
            <a:off x="9235211" y="2743200"/>
            <a:ext cx="2151812" cy="1005840"/>
          </a:xfrm>
          <a:prstGeom prst="rect">
            <a:avLst/>
          </a:prstGeom>
          <a:noFill/>
          <a:ln/>
        </p:spPr>
        <p:txBody>
          <a:bodyPr wrap="square" lIns="0" tIns="0" rIns="0" bIns="0" rtlCol="0" anchor="t"/>
          <a:lstStyle/>
          <a:p>
            <a:pPr indent="0" marL="0">
              <a:lnSpc>
                <a:spcPct val="130000"/>
              </a:lnSpc>
              <a:buNone/>
            </a:pPr>
            <a:r>
              <a:rPr lang="en-US" sz="1200" dirty="0">
                <a:solidFill>
                  <a:srgbClr val="111111"/>
                </a:solidFill>
                <a:latin typeface="Arial" pitchFamily="34" charset="0"/>
                <a:ea typeface="Arial" pitchFamily="34" charset="-122"/>
                <a:cs typeface="Arial" pitchFamily="34" charset="-120"/>
              </a:rPr>
              <a:t>Nutzer des Assistant — viermal so viele wie 2024</a:t>
            </a:r>
            <a:endParaRPr lang="en-US" sz="1200" dirty="0"/>
          </a:p>
        </p:txBody>
      </p:sp>
      <p:sp>
        <p:nvSpPr>
          <p:cNvPr id="20" name="Shape 18"/>
          <p:cNvSpPr/>
          <p:nvPr/>
        </p:nvSpPr>
        <p:spPr>
          <a:xfrm>
            <a:off x="658368" y="4315968"/>
            <a:ext cx="11057839" cy="1426464"/>
          </a:xfrm>
          <a:prstGeom prst="rect">
            <a:avLst/>
          </a:prstGeom>
          <a:solidFill>
            <a:srgbClr val="111111"/>
          </a:solidFill>
          <a:ln/>
        </p:spPr>
      </p:sp>
      <p:sp>
        <p:nvSpPr>
          <p:cNvPr id="21" name="Shape 19"/>
          <p:cNvSpPr/>
          <p:nvPr/>
        </p:nvSpPr>
        <p:spPr>
          <a:xfrm>
            <a:off x="566928" y="4224528"/>
            <a:ext cx="11057839" cy="1426464"/>
          </a:xfrm>
          <a:prstGeom prst="rect">
            <a:avLst/>
          </a:prstGeom>
          <a:solidFill>
            <a:srgbClr val="111111"/>
          </a:solidFill>
          <a:ln/>
        </p:spPr>
      </p:sp>
      <p:sp>
        <p:nvSpPr>
          <p:cNvPr id="22" name="Text 20"/>
          <p:cNvSpPr txBox="1"/>
          <p:nvPr/>
        </p:nvSpPr>
        <p:spPr>
          <a:xfrm>
            <a:off x="841248" y="4443984"/>
            <a:ext cx="10509199" cy="310896"/>
          </a:xfrm>
          <a:prstGeom prst="rect">
            <a:avLst/>
          </a:prstGeom>
          <a:noFill/>
          <a:ln/>
        </p:spPr>
        <p:txBody>
          <a:bodyPr wrap="square" lIns="0" tIns="0" rIns="0" bIns="0" rtlCol="0" anchor="ctr"/>
          <a:lstStyle/>
          <a:p>
            <a:pPr indent="0" marL="0">
              <a:buNone/>
            </a:pPr>
            <a:r>
              <a:rPr lang="en-US" sz="1400" dirty="0">
                <a:solidFill>
                  <a:srgbClr val="FFD84D"/>
                </a:solidFill>
                <a:latin typeface="Arial Black" pitchFamily="34" charset="0"/>
                <a:ea typeface="Arial Black" pitchFamily="34" charset="-122"/>
                <a:cs typeface="Arial Black" pitchFamily="34" charset="-120"/>
              </a:rPr>
              <a:t>KI SITZT NICHT AN EINER STELLE, SONDERN ENTLANG DER GANZEN KETTE</a:t>
            </a:r>
            <a:endParaRPr lang="en-US" sz="1400" dirty="0"/>
          </a:p>
        </p:txBody>
      </p:sp>
      <p:sp>
        <p:nvSpPr>
          <p:cNvPr id="23" name="Text 21"/>
          <p:cNvSpPr txBox="1"/>
          <p:nvPr/>
        </p:nvSpPr>
        <p:spPr>
          <a:xfrm>
            <a:off x="841248" y="4828032"/>
            <a:ext cx="10509199" cy="731520"/>
          </a:xfrm>
          <a:prstGeom prst="rect">
            <a:avLst/>
          </a:prstGeom>
          <a:noFill/>
          <a:ln/>
        </p:spPr>
        <p:txBody>
          <a:bodyPr wrap="square" lIns="0" tIns="0" rIns="0" bIns="0" rtlCol="0" anchor="t"/>
          <a:lstStyle/>
          <a:p>
            <a:pPr indent="0" marL="0">
              <a:lnSpc>
                <a:spcPct val="126000"/>
              </a:lnSpc>
              <a:buNone/>
            </a:pPr>
            <a:r>
              <a:rPr lang="en-US" sz="1450" dirty="0">
                <a:solidFill>
                  <a:srgbClr val="FFFFFF"/>
                </a:solidFill>
                <a:latin typeface="Arial" pitchFamily="34" charset="0"/>
                <a:ea typeface="Arial" pitchFamily="34" charset="-122"/>
                <a:cs typeface="Arial" pitchFamily="34" charset="-120"/>
              </a:rPr>
              <a:t>Content-Leistung +70 %, Kampagnen in Tagen statt sechs Wochen, Lieferzusage 22 Prozentpunkte genauer.</a:t>
            </a:r>
            <a:endParaRPr lang="en-US" sz="1450" dirty="0"/>
          </a:p>
          <a:p>
            <a:pPr indent="0" marL="0">
              <a:lnSpc>
                <a:spcPct val="126000"/>
              </a:lnSpc>
              <a:buNone/>
            </a:pPr>
            <a:r>
              <a:rPr lang="en-US" sz="1450" dirty="0">
                <a:solidFill>
                  <a:srgbClr val="FFFFFF"/>
                </a:solidFill>
                <a:latin typeface="Arial" pitchFamily="34" charset="0"/>
                <a:ea typeface="Arial" pitchFamily="34" charset="-122"/>
                <a:cs typeface="Arial" pitchFamily="34" charset="-120"/>
              </a:rPr>
              <a:t>Rahmen 2025: 12,3 Mrd. € Umsatz (+16,8 %) und 591 Mio. € bereinigtes EBIT.</a:t>
            </a:r>
            <a:endParaRPr lang="en-US" sz="1450" dirty="0"/>
          </a:p>
        </p:txBody>
      </p:sp>
      <p:sp>
        <p:nvSpPr>
          <p:cNvPr id="24" name="Text 22"/>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ZALANDO SE, GESCHÄFTSJAHR 2025 (VERÖFFENTLICHUNG 12.03.2026)</a:t>
            </a:r>
            <a:endParaRPr lang="en-US" sz="800" dirty="0"/>
          </a:p>
        </p:txBody>
      </p:sp>
      <p:sp>
        <p:nvSpPr>
          <p:cNvPr id="25" name="Shape 23"/>
          <p:cNvSpPr/>
          <p:nvPr/>
        </p:nvSpPr>
        <p:spPr>
          <a:xfrm>
            <a:off x="10874959" y="6217920"/>
            <a:ext cx="749808" cy="237744"/>
          </a:xfrm>
          <a:prstGeom prst="rect">
            <a:avLst/>
          </a:prstGeom>
          <a:solidFill>
            <a:srgbClr val="111111"/>
          </a:solidFill>
          <a:ln/>
        </p:spPr>
      </p:sp>
      <p:sp>
        <p:nvSpPr>
          <p:cNvPr id="26" name="Text 24"/>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10/15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PRAXIS 3 VON 3</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SHOPIFY UND DIE KLARNA-LEKTION</a:t>
            </a:r>
            <a:endParaRPr lang="en-US" sz="2800" dirty="0"/>
          </a:p>
        </p:txBody>
      </p:sp>
      <p:sp>
        <p:nvSpPr>
          <p:cNvPr id="4" name="Shape 2"/>
          <p:cNvSpPr/>
          <p:nvPr/>
        </p:nvSpPr>
        <p:spPr>
          <a:xfrm>
            <a:off x="658368" y="1719072"/>
            <a:ext cx="5437480" cy="3621024"/>
          </a:xfrm>
          <a:prstGeom prst="rect">
            <a:avLst/>
          </a:prstGeom>
          <a:solidFill>
            <a:srgbClr val="111111"/>
          </a:solidFill>
          <a:ln/>
        </p:spPr>
      </p:sp>
      <p:sp>
        <p:nvSpPr>
          <p:cNvPr id="5" name="Shape 3"/>
          <p:cNvSpPr/>
          <p:nvPr/>
        </p:nvSpPr>
        <p:spPr>
          <a:xfrm>
            <a:off x="566928" y="1627632"/>
            <a:ext cx="5437480" cy="3621024"/>
          </a:xfrm>
          <a:prstGeom prst="rect">
            <a:avLst/>
          </a:prstGeom>
          <a:solidFill>
            <a:srgbClr val="FFFFFF"/>
          </a:solidFill>
          <a:ln w="28575">
            <a:solidFill>
              <a:srgbClr val="111111"/>
            </a:solidFill>
            <a:prstDash val="solid"/>
          </a:ln>
        </p:spPr>
      </p:sp>
      <p:sp>
        <p:nvSpPr>
          <p:cNvPr id="6" name="Shape 4"/>
          <p:cNvSpPr/>
          <p:nvPr/>
        </p:nvSpPr>
        <p:spPr>
          <a:xfrm>
            <a:off x="841248" y="1883664"/>
            <a:ext cx="384048" cy="384048"/>
          </a:xfrm>
          <a:prstGeom prst="rect">
            <a:avLst/>
          </a:prstGeom>
          <a:solidFill>
            <a:srgbClr val="FFD84D"/>
          </a:solidFill>
          <a:ln w="28575">
            <a:solidFill>
              <a:srgbClr val="111111"/>
            </a:solidFill>
            <a:prstDash val="solid"/>
          </a:ln>
        </p:spPr>
      </p:sp>
      <p:pic>
        <p:nvPicPr>
          <p:cNvPr id="7" name="Image 0" descr="preencoded.png">    </p:cNvPr>
          <p:cNvPicPr>
            <a:picLocks noChangeAspect="1"/>
          </p:cNvPicPr>
          <p:nvPr/>
        </p:nvPicPr>
        <p:blipFill>
          <a:blip r:embed="rId1"/>
          <a:stretch>
            <a:fillRect/>
          </a:stretch>
        </p:blipFill>
        <p:spPr>
          <a:xfrm>
            <a:off x="925739" y="1968155"/>
            <a:ext cx="215067" cy="215067"/>
          </a:xfrm>
          <a:prstGeom prst="rect">
            <a:avLst/>
          </a:prstGeom>
        </p:spPr>
      </p:pic>
      <p:sp>
        <p:nvSpPr>
          <p:cNvPr id="8" name="Text 5"/>
          <p:cNvSpPr txBox="1"/>
          <p:nvPr/>
        </p:nvSpPr>
        <p:spPr>
          <a:xfrm>
            <a:off x="1389888" y="1883664"/>
            <a:ext cx="4340200" cy="384048"/>
          </a:xfrm>
          <a:prstGeom prst="rect">
            <a:avLst/>
          </a:prstGeom>
          <a:noFill/>
          <a:ln/>
        </p:spPr>
        <p:txBody>
          <a:bodyPr wrap="square" lIns="0" tIns="0" rIns="0" bIns="0" rtlCol="0" anchor="ctr"/>
          <a:lstStyle/>
          <a:p>
            <a:pPr indent="0" marL="0">
              <a:buNone/>
            </a:pPr>
            <a:r>
              <a:rPr lang="en-US" sz="1400" dirty="0">
                <a:solidFill>
                  <a:srgbClr val="111111"/>
                </a:solidFill>
                <a:latin typeface="Arial Black" pitchFamily="34" charset="0"/>
                <a:ea typeface="Arial Black" pitchFamily="34" charset="-122"/>
                <a:cs typeface="Arial Black" pitchFamily="34" charset="-120"/>
              </a:rPr>
              <a:t>SHOPIFY</a:t>
            </a:r>
            <a:endParaRPr lang="en-US" sz="1400" dirty="0"/>
          </a:p>
        </p:txBody>
      </p:sp>
      <p:sp>
        <p:nvSpPr>
          <p:cNvPr id="9" name="Text 6"/>
          <p:cNvSpPr txBox="1"/>
          <p:nvPr/>
        </p:nvSpPr>
        <p:spPr>
          <a:xfrm>
            <a:off x="841248" y="2468880"/>
            <a:ext cx="4888840" cy="621792"/>
          </a:xfrm>
          <a:prstGeom prst="rect">
            <a:avLst/>
          </a:prstGeom>
          <a:noFill/>
          <a:ln/>
        </p:spPr>
        <p:txBody>
          <a:bodyPr wrap="square" lIns="0" tIns="0" rIns="0" bIns="0" rtlCol="0" anchor="ctr"/>
          <a:lstStyle/>
          <a:p>
            <a:pPr indent="0" marL="0">
              <a:buNone/>
            </a:pPr>
            <a:r>
              <a:rPr lang="en-US" sz="4000" dirty="0">
                <a:solidFill>
                  <a:srgbClr val="111111"/>
                </a:solidFill>
                <a:latin typeface="Arial Black" pitchFamily="34" charset="0"/>
                <a:ea typeface="Arial Black" pitchFamily="34" charset="-122"/>
                <a:cs typeface="Arial Black" pitchFamily="34" charset="-120"/>
              </a:rPr>
              <a:t>15-FACH</a:t>
            </a:r>
            <a:endParaRPr lang="en-US" sz="4000" dirty="0"/>
          </a:p>
        </p:txBody>
      </p:sp>
      <p:sp>
        <p:nvSpPr>
          <p:cNvPr id="10" name="Text 7"/>
          <p:cNvSpPr txBox="1"/>
          <p:nvPr/>
        </p:nvSpPr>
        <p:spPr>
          <a:xfrm>
            <a:off x="841248" y="3163824"/>
            <a:ext cx="4888840" cy="530352"/>
          </a:xfrm>
          <a:prstGeom prst="rect">
            <a:avLst/>
          </a:prstGeom>
          <a:noFill/>
          <a:ln/>
        </p:spPr>
        <p:txBody>
          <a:bodyPr wrap="square" lIns="0" tIns="0" rIns="0" bIns="0" rtlCol="0" anchor="t"/>
          <a:lstStyle/>
          <a:p>
            <a:pPr indent="0" marL="0">
              <a:lnSpc>
                <a:spcPct val="125000"/>
              </a:lnSpc>
              <a:buNone/>
            </a:pPr>
            <a:r>
              <a:rPr lang="en-US" sz="1250" dirty="0">
                <a:solidFill>
                  <a:srgbClr val="111111"/>
                </a:solidFill>
                <a:latin typeface="Arial" pitchFamily="34" charset="0"/>
                <a:ea typeface="Arial" pitchFamily="34" charset="-122"/>
                <a:cs typeface="Arial" pitchFamily="34" charset="-120"/>
              </a:rPr>
              <a:t>wuchsen KI-zugeordnete Bestellungen zwischen Januar 2025 und Januar 2026.</a:t>
            </a:r>
            <a:endParaRPr lang="en-US" sz="1250" dirty="0"/>
          </a:p>
        </p:txBody>
      </p:sp>
      <p:sp>
        <p:nvSpPr>
          <p:cNvPr id="11" name="Text 8"/>
          <p:cNvSpPr txBox="1"/>
          <p:nvPr/>
        </p:nvSpPr>
        <p:spPr>
          <a:xfrm>
            <a:off x="841248" y="3803904"/>
            <a:ext cx="4888840" cy="1298448"/>
          </a:xfrm>
          <a:prstGeom prst="rect">
            <a:avLst/>
          </a:prstGeom>
          <a:noFill/>
          <a:ln/>
        </p:spPr>
        <p:txBody>
          <a:bodyPr wrap="square" lIns="0" tIns="0" rIns="0" bIns="0" rtlCol="0" anchor="t"/>
          <a:lstStyle/>
          <a:p>
            <a:pPr marL="342900" indent="-342900">
              <a:lnSpc>
                <a:spcPct val="122000"/>
              </a:lnSpc>
              <a:spcAft>
                <a:spcPts val="1000"/>
              </a:spcAft>
              <a:buSzPct val="100000"/>
              <a:buChar char="•"/>
            </a:pPr>
            <a:r>
              <a:rPr lang="en-US" sz="1250" dirty="0">
                <a:solidFill>
                  <a:srgbClr val="111111"/>
                </a:solidFill>
                <a:latin typeface="Arial" pitchFamily="34" charset="0"/>
                <a:ea typeface="Arial" pitchFamily="34" charset="-122"/>
                <a:cs typeface="Arial" pitchFamily="34" charset="-120"/>
              </a:rPr>
              <a:t>Shopify Magic schreibt Produkttexte und Kampagnen.</a:t>
            </a:r>
            <a:endParaRPr lang="en-US" sz="1250" dirty="0"/>
          </a:p>
          <a:p>
            <a:pPr marL="342900" indent="-342900">
              <a:lnSpc>
                <a:spcPct val="122000"/>
              </a:lnSpc>
              <a:buSzPct val="100000"/>
              <a:buChar char="•"/>
            </a:pPr>
            <a:r>
              <a:rPr lang="en-US" sz="1250" dirty="0">
                <a:solidFill>
                  <a:srgbClr val="111111"/>
                </a:solidFill>
                <a:latin typeface="Arial" pitchFamily="34" charset="0"/>
                <a:ea typeface="Arial" pitchFamily="34" charset="-122"/>
                <a:cs typeface="Arial" pitchFamily="34" charset="-120"/>
              </a:rPr>
              <a:t>Shops sind in ChatGPT und Perplexity direkt kaufbar.</a:t>
            </a:r>
            <a:endParaRPr lang="en-US" sz="1250" dirty="0"/>
          </a:p>
        </p:txBody>
      </p:sp>
      <p:sp>
        <p:nvSpPr>
          <p:cNvPr id="12" name="Shape 9"/>
          <p:cNvSpPr/>
          <p:nvPr/>
        </p:nvSpPr>
        <p:spPr>
          <a:xfrm>
            <a:off x="6278728" y="1719072"/>
            <a:ext cx="5437480" cy="3621024"/>
          </a:xfrm>
          <a:prstGeom prst="rect">
            <a:avLst/>
          </a:prstGeom>
          <a:solidFill>
            <a:srgbClr val="111111"/>
          </a:solidFill>
          <a:ln/>
        </p:spPr>
      </p:sp>
      <p:sp>
        <p:nvSpPr>
          <p:cNvPr id="13" name="Shape 10"/>
          <p:cNvSpPr/>
          <p:nvPr/>
        </p:nvSpPr>
        <p:spPr>
          <a:xfrm>
            <a:off x="6187288" y="1627632"/>
            <a:ext cx="5437480" cy="3621024"/>
          </a:xfrm>
          <a:prstGeom prst="rect">
            <a:avLst/>
          </a:prstGeom>
          <a:solidFill>
            <a:srgbClr val="FFD84D"/>
          </a:solidFill>
          <a:ln w="28575">
            <a:solidFill>
              <a:srgbClr val="111111"/>
            </a:solidFill>
            <a:prstDash val="solid"/>
          </a:ln>
        </p:spPr>
      </p:sp>
      <p:sp>
        <p:nvSpPr>
          <p:cNvPr id="14" name="Shape 11"/>
          <p:cNvSpPr/>
          <p:nvPr/>
        </p:nvSpPr>
        <p:spPr>
          <a:xfrm>
            <a:off x="6461608" y="1883664"/>
            <a:ext cx="384048" cy="384048"/>
          </a:xfrm>
          <a:prstGeom prst="rect">
            <a:avLst/>
          </a:prstGeom>
          <a:solidFill>
            <a:srgbClr val="FFFFFF"/>
          </a:solidFill>
          <a:ln w="28575">
            <a:solidFill>
              <a:srgbClr val="111111"/>
            </a:solidFill>
            <a:prstDash val="solid"/>
          </a:ln>
        </p:spPr>
      </p:sp>
      <p:pic>
        <p:nvPicPr>
          <p:cNvPr id="15" name="Image 1" descr="preencoded.png">    </p:cNvPr>
          <p:cNvPicPr>
            <a:picLocks noChangeAspect="1"/>
          </p:cNvPicPr>
          <p:nvPr/>
        </p:nvPicPr>
        <p:blipFill>
          <a:blip r:embed="rId2"/>
          <a:stretch>
            <a:fillRect/>
          </a:stretch>
        </p:blipFill>
        <p:spPr>
          <a:xfrm>
            <a:off x="6546098" y="1968155"/>
            <a:ext cx="215067" cy="215067"/>
          </a:xfrm>
          <a:prstGeom prst="rect">
            <a:avLst/>
          </a:prstGeom>
        </p:spPr>
      </p:pic>
      <p:sp>
        <p:nvSpPr>
          <p:cNvPr id="16" name="Text 12"/>
          <p:cNvSpPr txBox="1"/>
          <p:nvPr/>
        </p:nvSpPr>
        <p:spPr>
          <a:xfrm>
            <a:off x="7010248" y="1883664"/>
            <a:ext cx="4340200" cy="384048"/>
          </a:xfrm>
          <a:prstGeom prst="rect">
            <a:avLst/>
          </a:prstGeom>
          <a:noFill/>
          <a:ln/>
        </p:spPr>
        <p:txBody>
          <a:bodyPr wrap="square" lIns="0" tIns="0" rIns="0" bIns="0" rtlCol="0" anchor="ctr"/>
          <a:lstStyle/>
          <a:p>
            <a:pPr indent="0" marL="0">
              <a:buNone/>
            </a:pPr>
            <a:r>
              <a:rPr lang="en-US" sz="1400" dirty="0">
                <a:solidFill>
                  <a:srgbClr val="111111"/>
                </a:solidFill>
                <a:latin typeface="Arial Black" pitchFamily="34" charset="0"/>
                <a:ea typeface="Arial Black" pitchFamily="34" charset="-122"/>
                <a:cs typeface="Arial Black" pitchFamily="34" charset="-120"/>
              </a:rPr>
              <a:t>KLARNA</a:t>
            </a:r>
            <a:endParaRPr lang="en-US" sz="1400" dirty="0"/>
          </a:p>
        </p:txBody>
      </p:sp>
      <p:sp>
        <p:nvSpPr>
          <p:cNvPr id="17" name="Text 13"/>
          <p:cNvSpPr txBox="1"/>
          <p:nvPr/>
        </p:nvSpPr>
        <p:spPr>
          <a:xfrm>
            <a:off x="6461608" y="2468880"/>
            <a:ext cx="4888840" cy="621792"/>
          </a:xfrm>
          <a:prstGeom prst="rect">
            <a:avLst/>
          </a:prstGeom>
          <a:noFill/>
          <a:ln/>
        </p:spPr>
        <p:txBody>
          <a:bodyPr wrap="square" lIns="0" tIns="0" rIns="0" bIns="0" rtlCol="0" anchor="ctr"/>
          <a:lstStyle/>
          <a:p>
            <a:pPr indent="0" marL="0">
              <a:buNone/>
            </a:pPr>
            <a:r>
              <a:rPr lang="en-US" sz="4000" dirty="0">
                <a:solidFill>
                  <a:srgbClr val="111111"/>
                </a:solidFill>
                <a:latin typeface="Arial Black" pitchFamily="34" charset="0"/>
                <a:ea typeface="Arial Black" pitchFamily="34" charset="-122"/>
                <a:cs typeface="Arial Black" pitchFamily="34" charset="-120"/>
              </a:rPr>
              <a:t>-82 %</a:t>
            </a:r>
            <a:endParaRPr lang="en-US" sz="4000" dirty="0"/>
          </a:p>
        </p:txBody>
      </p:sp>
      <p:sp>
        <p:nvSpPr>
          <p:cNvPr id="18" name="Text 14"/>
          <p:cNvSpPr txBox="1"/>
          <p:nvPr/>
        </p:nvSpPr>
        <p:spPr>
          <a:xfrm>
            <a:off x="6461608" y="3163824"/>
            <a:ext cx="4888840" cy="530352"/>
          </a:xfrm>
          <a:prstGeom prst="rect">
            <a:avLst/>
          </a:prstGeom>
          <a:noFill/>
          <a:ln/>
        </p:spPr>
        <p:txBody>
          <a:bodyPr wrap="square" lIns="0" tIns="0" rIns="0" bIns="0" rtlCol="0" anchor="t"/>
          <a:lstStyle/>
          <a:p>
            <a:pPr indent="0" marL="0">
              <a:lnSpc>
                <a:spcPct val="125000"/>
              </a:lnSpc>
              <a:buNone/>
            </a:pPr>
            <a:r>
              <a:rPr lang="en-US" sz="1250" dirty="0">
                <a:solidFill>
                  <a:srgbClr val="111111"/>
                </a:solidFill>
                <a:latin typeface="Arial" pitchFamily="34" charset="0"/>
                <a:ea typeface="Arial" pitchFamily="34" charset="-122"/>
                <a:cs typeface="Arial" pitchFamily="34" charset="-120"/>
              </a:rPr>
              <a:t>Bearbeitungszeit im Service: von elf Minuten auf unter zwei.</a:t>
            </a:r>
            <a:endParaRPr lang="en-US" sz="1250" dirty="0"/>
          </a:p>
        </p:txBody>
      </p:sp>
      <p:sp>
        <p:nvSpPr>
          <p:cNvPr id="19" name="Text 15"/>
          <p:cNvSpPr txBox="1"/>
          <p:nvPr/>
        </p:nvSpPr>
        <p:spPr>
          <a:xfrm>
            <a:off x="6461608" y="3803904"/>
            <a:ext cx="4888840" cy="1298448"/>
          </a:xfrm>
          <a:prstGeom prst="rect">
            <a:avLst/>
          </a:prstGeom>
          <a:noFill/>
          <a:ln/>
        </p:spPr>
        <p:txBody>
          <a:bodyPr wrap="square" lIns="0" tIns="0" rIns="0" bIns="0" rtlCol="0" anchor="t"/>
          <a:lstStyle/>
          <a:p>
            <a:pPr marL="342900" indent="-342900">
              <a:lnSpc>
                <a:spcPct val="122000"/>
              </a:lnSpc>
              <a:spcAft>
                <a:spcPts val="1000"/>
              </a:spcAft>
              <a:buSzPct val="100000"/>
              <a:buChar char="•"/>
            </a:pPr>
            <a:r>
              <a:rPr lang="en-US" sz="1250" dirty="0">
                <a:solidFill>
                  <a:srgbClr val="111111"/>
                </a:solidFill>
                <a:latin typeface="Arial" pitchFamily="34" charset="0"/>
                <a:ea typeface="Arial" pitchFamily="34" charset="-122"/>
                <a:cs typeface="Arial" pitchFamily="34" charset="-120"/>
              </a:rPr>
              <a:t>Die KI übernahm zwei Drittel aller Chats — rund 700 Vollzeitkräfte.</a:t>
            </a:r>
            <a:endParaRPr lang="en-US" sz="1250" dirty="0"/>
          </a:p>
          <a:p>
            <a:pPr marL="342900" indent="-342900">
              <a:lnSpc>
                <a:spcPct val="122000"/>
              </a:lnSpc>
              <a:buSzPct val="100000"/>
              <a:buChar char="•"/>
            </a:pPr>
            <a:r>
              <a:rPr lang="en-US" sz="1250" dirty="0">
                <a:solidFill>
                  <a:srgbClr val="111111"/>
                </a:solidFill>
                <a:latin typeface="Arial" pitchFamily="34" charset="0"/>
                <a:ea typeface="Arial" pitchFamily="34" charset="-122"/>
                <a:cs typeface="Arial" pitchFamily="34" charset="-120"/>
              </a:rPr>
              <a:t>2025 ruderte der Vorstandschef zurück: Die Qualität litt.</a:t>
            </a:r>
            <a:endParaRPr lang="en-US" sz="1250" dirty="0"/>
          </a:p>
        </p:txBody>
      </p:sp>
      <p:sp>
        <p:nvSpPr>
          <p:cNvPr id="20" name="Shape 16"/>
          <p:cNvSpPr/>
          <p:nvPr/>
        </p:nvSpPr>
        <p:spPr>
          <a:xfrm>
            <a:off x="658368" y="5504688"/>
            <a:ext cx="11057839" cy="548640"/>
          </a:xfrm>
          <a:prstGeom prst="rect">
            <a:avLst/>
          </a:prstGeom>
          <a:solidFill>
            <a:srgbClr val="111111"/>
          </a:solidFill>
          <a:ln/>
        </p:spPr>
      </p:sp>
      <p:sp>
        <p:nvSpPr>
          <p:cNvPr id="21" name="Shape 17"/>
          <p:cNvSpPr/>
          <p:nvPr/>
        </p:nvSpPr>
        <p:spPr>
          <a:xfrm>
            <a:off x="566928" y="5413248"/>
            <a:ext cx="11057839" cy="548640"/>
          </a:xfrm>
          <a:prstGeom prst="rect">
            <a:avLst/>
          </a:prstGeom>
          <a:solidFill>
            <a:srgbClr val="111111"/>
          </a:solidFill>
          <a:ln/>
        </p:spPr>
      </p:sp>
      <p:sp>
        <p:nvSpPr>
          <p:cNvPr id="22" name="Text 18"/>
          <p:cNvSpPr txBox="1"/>
          <p:nvPr/>
        </p:nvSpPr>
        <p:spPr>
          <a:xfrm>
            <a:off x="841248" y="5413248"/>
            <a:ext cx="10509199" cy="548640"/>
          </a:xfrm>
          <a:prstGeom prst="rect">
            <a:avLst/>
          </a:prstGeom>
          <a:noFill/>
          <a:ln/>
        </p:spPr>
        <p:txBody>
          <a:bodyPr wrap="square" lIns="0" tIns="0" rIns="0" bIns="0" rtlCol="0" anchor="ctr"/>
          <a:lstStyle/>
          <a:p>
            <a:pPr indent="0" marL="0">
              <a:buNone/>
            </a:pPr>
            <a:r>
              <a:rPr lang="en-US" sz="1400" dirty="0">
                <a:solidFill>
                  <a:srgbClr val="FFD84D"/>
                </a:solidFill>
                <a:latin typeface="Arial Black" pitchFamily="34" charset="0"/>
                <a:ea typeface="Arial Black" pitchFamily="34" charset="-122"/>
                <a:cs typeface="Arial Black" pitchFamily="34" charset="-120"/>
              </a:rPr>
              <a:t>KI SENKT KOSTEN SEHR SCHNELL. QUALITÄT BLEIBT EINE ENTSCHEIDUNG.</a:t>
            </a:r>
            <a:endParaRPr lang="en-US" sz="1400" dirty="0"/>
          </a:p>
        </p:txBody>
      </p:sp>
      <p:sp>
        <p:nvSpPr>
          <p:cNvPr id="23" name="Text 19"/>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SHOPIFY, EDITIONS WINTER ’26 UND ENTERPRISE-AI-SEITE · KLARNA, PRESSEMITTEILUNG ZUM KI-ASSISTENTEN; KURSKORREKTUR 2025</a:t>
            </a:r>
            <a:endParaRPr lang="en-US" sz="800" dirty="0"/>
          </a:p>
        </p:txBody>
      </p:sp>
      <p:sp>
        <p:nvSpPr>
          <p:cNvPr id="24" name="Shape 20"/>
          <p:cNvSpPr/>
          <p:nvPr/>
        </p:nvSpPr>
        <p:spPr>
          <a:xfrm>
            <a:off x="10874959" y="6217920"/>
            <a:ext cx="749808" cy="237744"/>
          </a:xfrm>
          <a:prstGeom prst="rect">
            <a:avLst/>
          </a:prstGeom>
          <a:solidFill>
            <a:srgbClr val="111111"/>
          </a:solidFill>
          <a:ln/>
        </p:spPr>
      </p:sp>
      <p:sp>
        <p:nvSpPr>
          <p:cNvPr id="25" name="Text 21"/>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11/15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ABWÄGUNG</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CHANCEN UND RISIKEN</a:t>
            </a:r>
            <a:endParaRPr lang="en-US" sz="2800" dirty="0"/>
          </a:p>
        </p:txBody>
      </p:sp>
      <p:sp>
        <p:nvSpPr>
          <p:cNvPr id="4" name="Text 2"/>
          <p:cNvSpPr txBox="1"/>
          <p:nvPr/>
        </p:nvSpPr>
        <p:spPr>
          <a:xfrm>
            <a:off x="566928" y="1554480"/>
            <a:ext cx="543748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CHANCEN</a:t>
            </a:r>
            <a:endParaRPr lang="en-US" sz="1100" dirty="0"/>
          </a:p>
        </p:txBody>
      </p:sp>
      <p:sp>
        <p:nvSpPr>
          <p:cNvPr id="5" name="Text 3"/>
          <p:cNvSpPr txBox="1"/>
          <p:nvPr/>
        </p:nvSpPr>
        <p:spPr>
          <a:xfrm>
            <a:off x="6187288" y="1554480"/>
            <a:ext cx="543748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RISIKEN</a:t>
            </a:r>
            <a:endParaRPr lang="en-US" sz="1100" dirty="0"/>
          </a:p>
        </p:txBody>
      </p:sp>
      <p:sp>
        <p:nvSpPr>
          <p:cNvPr id="6" name="Shape 4"/>
          <p:cNvSpPr/>
          <p:nvPr/>
        </p:nvSpPr>
        <p:spPr>
          <a:xfrm>
            <a:off x="658368" y="1956816"/>
            <a:ext cx="5437480" cy="914400"/>
          </a:xfrm>
          <a:prstGeom prst="rect">
            <a:avLst/>
          </a:prstGeom>
          <a:solidFill>
            <a:srgbClr val="111111"/>
          </a:solidFill>
          <a:ln/>
        </p:spPr>
      </p:sp>
      <p:sp>
        <p:nvSpPr>
          <p:cNvPr id="7" name="Shape 5"/>
          <p:cNvSpPr/>
          <p:nvPr/>
        </p:nvSpPr>
        <p:spPr>
          <a:xfrm>
            <a:off x="566928" y="1865376"/>
            <a:ext cx="5437480" cy="914400"/>
          </a:xfrm>
          <a:prstGeom prst="rect">
            <a:avLst/>
          </a:prstGeom>
          <a:solidFill>
            <a:srgbClr val="FFD84D"/>
          </a:solidFill>
          <a:ln w="28575">
            <a:solidFill>
              <a:srgbClr val="111111"/>
            </a:solidFill>
            <a:prstDash val="solid"/>
          </a:ln>
        </p:spPr>
      </p:sp>
      <p:sp>
        <p:nvSpPr>
          <p:cNvPr id="8" name="Shape 6"/>
          <p:cNvSpPr/>
          <p:nvPr/>
        </p:nvSpPr>
        <p:spPr>
          <a:xfrm>
            <a:off x="786384" y="2112264"/>
            <a:ext cx="420624" cy="420624"/>
          </a:xfrm>
          <a:prstGeom prst="rect">
            <a:avLst/>
          </a:prstGeom>
          <a:solidFill>
            <a:srgbClr val="FFFFFF"/>
          </a:solidFill>
          <a:ln w="28575">
            <a:solidFill>
              <a:srgbClr val="111111"/>
            </a:solidFill>
            <a:prstDash val="solid"/>
          </a:ln>
        </p:spPr>
      </p:sp>
      <p:pic>
        <p:nvPicPr>
          <p:cNvPr id="9" name="Image 0" descr="preencoded.png">    </p:cNvPr>
          <p:cNvPicPr>
            <a:picLocks noChangeAspect="1"/>
          </p:cNvPicPr>
          <p:nvPr/>
        </p:nvPicPr>
        <p:blipFill>
          <a:blip r:embed="rId1"/>
          <a:stretch>
            <a:fillRect/>
          </a:stretch>
        </p:blipFill>
        <p:spPr>
          <a:xfrm>
            <a:off x="878921" y="2204801"/>
            <a:ext cx="235549" cy="235549"/>
          </a:xfrm>
          <a:prstGeom prst="rect">
            <a:avLst/>
          </a:prstGeom>
        </p:spPr>
      </p:pic>
      <p:sp>
        <p:nvSpPr>
          <p:cNvPr id="10" name="Text 7"/>
          <p:cNvSpPr txBox="1"/>
          <p:nvPr/>
        </p:nvSpPr>
        <p:spPr>
          <a:xfrm>
            <a:off x="1353312" y="1993392"/>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WERKZEUGE FÜR ALLE</a:t>
            </a:r>
            <a:endParaRPr lang="en-US" sz="1150" dirty="0"/>
          </a:p>
        </p:txBody>
      </p:sp>
      <p:sp>
        <p:nvSpPr>
          <p:cNvPr id="11" name="Text 8"/>
          <p:cNvSpPr txBox="1"/>
          <p:nvPr/>
        </p:nvSpPr>
        <p:spPr>
          <a:xfrm>
            <a:off x="1353312" y="2267712"/>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Kleine Händler bekommen, was vorher nur Konzerne hatten.</a:t>
            </a:r>
            <a:endParaRPr lang="en-US" sz="1050" dirty="0"/>
          </a:p>
        </p:txBody>
      </p:sp>
      <p:sp>
        <p:nvSpPr>
          <p:cNvPr id="12" name="Shape 9"/>
          <p:cNvSpPr/>
          <p:nvPr/>
        </p:nvSpPr>
        <p:spPr>
          <a:xfrm>
            <a:off x="658368" y="2980944"/>
            <a:ext cx="5437480" cy="914400"/>
          </a:xfrm>
          <a:prstGeom prst="rect">
            <a:avLst/>
          </a:prstGeom>
          <a:solidFill>
            <a:srgbClr val="111111"/>
          </a:solidFill>
          <a:ln/>
        </p:spPr>
      </p:sp>
      <p:sp>
        <p:nvSpPr>
          <p:cNvPr id="13" name="Shape 10"/>
          <p:cNvSpPr/>
          <p:nvPr/>
        </p:nvSpPr>
        <p:spPr>
          <a:xfrm>
            <a:off x="566928" y="2889504"/>
            <a:ext cx="5437480" cy="914400"/>
          </a:xfrm>
          <a:prstGeom prst="rect">
            <a:avLst/>
          </a:prstGeom>
          <a:solidFill>
            <a:srgbClr val="FFD84D"/>
          </a:solidFill>
          <a:ln w="28575">
            <a:solidFill>
              <a:srgbClr val="111111"/>
            </a:solidFill>
            <a:prstDash val="solid"/>
          </a:ln>
        </p:spPr>
      </p:sp>
      <p:sp>
        <p:nvSpPr>
          <p:cNvPr id="14" name="Shape 11"/>
          <p:cNvSpPr/>
          <p:nvPr/>
        </p:nvSpPr>
        <p:spPr>
          <a:xfrm>
            <a:off x="786384" y="3136392"/>
            <a:ext cx="420624" cy="420624"/>
          </a:xfrm>
          <a:prstGeom prst="rect">
            <a:avLst/>
          </a:prstGeom>
          <a:solidFill>
            <a:srgbClr val="FFFFFF"/>
          </a:solidFill>
          <a:ln w="28575">
            <a:solidFill>
              <a:srgbClr val="111111"/>
            </a:solidFill>
            <a:prstDash val="solid"/>
          </a:ln>
        </p:spPr>
      </p:sp>
      <p:pic>
        <p:nvPicPr>
          <p:cNvPr id="15" name="Image 1" descr="preencoded.png">    </p:cNvPr>
          <p:cNvPicPr>
            <a:picLocks noChangeAspect="1"/>
          </p:cNvPicPr>
          <p:nvPr/>
        </p:nvPicPr>
        <p:blipFill>
          <a:blip r:embed="rId2"/>
          <a:stretch>
            <a:fillRect/>
          </a:stretch>
        </p:blipFill>
        <p:spPr>
          <a:xfrm>
            <a:off x="878921" y="3228929"/>
            <a:ext cx="235549" cy="235549"/>
          </a:xfrm>
          <a:prstGeom prst="rect">
            <a:avLst/>
          </a:prstGeom>
        </p:spPr>
      </p:pic>
      <p:sp>
        <p:nvSpPr>
          <p:cNvPr id="16" name="Text 12"/>
          <p:cNvSpPr txBox="1"/>
          <p:nvPr/>
        </p:nvSpPr>
        <p:spPr>
          <a:xfrm>
            <a:off x="1353312" y="3017520"/>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SERVICE OHNE WARTEN</a:t>
            </a:r>
            <a:endParaRPr lang="en-US" sz="1150" dirty="0"/>
          </a:p>
        </p:txBody>
      </p:sp>
      <p:sp>
        <p:nvSpPr>
          <p:cNvPr id="17" name="Text 13"/>
          <p:cNvSpPr txBox="1"/>
          <p:nvPr/>
        </p:nvSpPr>
        <p:spPr>
          <a:xfrm>
            <a:off x="1353312" y="3291840"/>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Beratung rund um die Uhr, in jeder Sprache.</a:t>
            </a:r>
            <a:endParaRPr lang="en-US" sz="1050" dirty="0"/>
          </a:p>
        </p:txBody>
      </p:sp>
      <p:sp>
        <p:nvSpPr>
          <p:cNvPr id="18" name="Shape 14"/>
          <p:cNvSpPr/>
          <p:nvPr/>
        </p:nvSpPr>
        <p:spPr>
          <a:xfrm>
            <a:off x="658368" y="4005072"/>
            <a:ext cx="5437480" cy="914400"/>
          </a:xfrm>
          <a:prstGeom prst="rect">
            <a:avLst/>
          </a:prstGeom>
          <a:solidFill>
            <a:srgbClr val="111111"/>
          </a:solidFill>
          <a:ln/>
        </p:spPr>
      </p:sp>
      <p:sp>
        <p:nvSpPr>
          <p:cNvPr id="19" name="Shape 15"/>
          <p:cNvSpPr/>
          <p:nvPr/>
        </p:nvSpPr>
        <p:spPr>
          <a:xfrm>
            <a:off x="566928" y="3913632"/>
            <a:ext cx="5437480" cy="914400"/>
          </a:xfrm>
          <a:prstGeom prst="rect">
            <a:avLst/>
          </a:prstGeom>
          <a:solidFill>
            <a:srgbClr val="FFD84D"/>
          </a:solidFill>
          <a:ln w="28575">
            <a:solidFill>
              <a:srgbClr val="111111"/>
            </a:solidFill>
            <a:prstDash val="solid"/>
          </a:ln>
        </p:spPr>
      </p:sp>
      <p:sp>
        <p:nvSpPr>
          <p:cNvPr id="20" name="Shape 16"/>
          <p:cNvSpPr/>
          <p:nvPr/>
        </p:nvSpPr>
        <p:spPr>
          <a:xfrm>
            <a:off x="786384" y="4160520"/>
            <a:ext cx="420624" cy="420624"/>
          </a:xfrm>
          <a:prstGeom prst="rect">
            <a:avLst/>
          </a:prstGeom>
          <a:solidFill>
            <a:srgbClr val="FFFFFF"/>
          </a:solidFill>
          <a:ln w="28575">
            <a:solidFill>
              <a:srgbClr val="111111"/>
            </a:solidFill>
            <a:prstDash val="solid"/>
          </a:ln>
        </p:spPr>
      </p:sp>
      <p:pic>
        <p:nvPicPr>
          <p:cNvPr id="21" name="Image 2" descr="preencoded.png">    </p:cNvPr>
          <p:cNvPicPr>
            <a:picLocks noChangeAspect="1"/>
          </p:cNvPicPr>
          <p:nvPr/>
        </p:nvPicPr>
        <p:blipFill>
          <a:blip r:embed="rId3"/>
          <a:stretch>
            <a:fillRect/>
          </a:stretch>
        </p:blipFill>
        <p:spPr>
          <a:xfrm>
            <a:off x="878921" y="4253057"/>
            <a:ext cx="235549" cy="235549"/>
          </a:xfrm>
          <a:prstGeom prst="rect">
            <a:avLst/>
          </a:prstGeom>
        </p:spPr>
      </p:pic>
      <p:sp>
        <p:nvSpPr>
          <p:cNvPr id="22" name="Text 17"/>
          <p:cNvSpPr txBox="1"/>
          <p:nvPr/>
        </p:nvSpPr>
        <p:spPr>
          <a:xfrm>
            <a:off x="1353312" y="4041648"/>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WENIGER VERSCHWENDUNG</a:t>
            </a:r>
            <a:endParaRPr lang="en-US" sz="1150" dirty="0"/>
          </a:p>
        </p:txBody>
      </p:sp>
      <p:sp>
        <p:nvSpPr>
          <p:cNvPr id="23" name="Text 18"/>
          <p:cNvSpPr txBox="1"/>
          <p:nvPr/>
        </p:nvSpPr>
        <p:spPr>
          <a:xfrm>
            <a:off x="1353312" y="4315968"/>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Weniger Retouren, Fehlbestände, Überproduktion.</a:t>
            </a:r>
            <a:endParaRPr lang="en-US" sz="1050" dirty="0"/>
          </a:p>
        </p:txBody>
      </p:sp>
      <p:sp>
        <p:nvSpPr>
          <p:cNvPr id="24" name="Shape 19"/>
          <p:cNvSpPr/>
          <p:nvPr/>
        </p:nvSpPr>
        <p:spPr>
          <a:xfrm>
            <a:off x="6278728" y="1956816"/>
            <a:ext cx="5437480" cy="914400"/>
          </a:xfrm>
          <a:prstGeom prst="rect">
            <a:avLst/>
          </a:prstGeom>
          <a:solidFill>
            <a:srgbClr val="111111"/>
          </a:solidFill>
          <a:ln/>
        </p:spPr>
      </p:sp>
      <p:sp>
        <p:nvSpPr>
          <p:cNvPr id="25" name="Shape 20"/>
          <p:cNvSpPr/>
          <p:nvPr/>
        </p:nvSpPr>
        <p:spPr>
          <a:xfrm>
            <a:off x="6187288" y="1865376"/>
            <a:ext cx="5437480" cy="914400"/>
          </a:xfrm>
          <a:prstGeom prst="rect">
            <a:avLst/>
          </a:prstGeom>
          <a:solidFill>
            <a:srgbClr val="FFFFFF"/>
          </a:solidFill>
          <a:ln w="28575">
            <a:solidFill>
              <a:srgbClr val="111111"/>
            </a:solidFill>
            <a:prstDash val="solid"/>
          </a:ln>
        </p:spPr>
      </p:sp>
      <p:sp>
        <p:nvSpPr>
          <p:cNvPr id="26" name="Shape 21"/>
          <p:cNvSpPr/>
          <p:nvPr/>
        </p:nvSpPr>
        <p:spPr>
          <a:xfrm>
            <a:off x="6406744" y="2112264"/>
            <a:ext cx="420624" cy="420624"/>
          </a:xfrm>
          <a:prstGeom prst="rect">
            <a:avLst/>
          </a:prstGeom>
          <a:solidFill>
            <a:srgbClr val="FFD84D"/>
          </a:solidFill>
          <a:ln w="28575">
            <a:solidFill>
              <a:srgbClr val="111111"/>
            </a:solidFill>
            <a:prstDash val="solid"/>
          </a:ln>
        </p:spPr>
      </p:sp>
      <p:pic>
        <p:nvPicPr>
          <p:cNvPr id="27" name="Image 3" descr="preencoded.png">    </p:cNvPr>
          <p:cNvPicPr>
            <a:picLocks noChangeAspect="1"/>
          </p:cNvPicPr>
          <p:nvPr/>
        </p:nvPicPr>
        <p:blipFill>
          <a:blip r:embed="rId4"/>
          <a:stretch>
            <a:fillRect/>
          </a:stretch>
        </p:blipFill>
        <p:spPr>
          <a:xfrm>
            <a:off x="6499281" y="2204801"/>
            <a:ext cx="235549" cy="235549"/>
          </a:xfrm>
          <a:prstGeom prst="rect">
            <a:avLst/>
          </a:prstGeom>
        </p:spPr>
      </p:pic>
      <p:sp>
        <p:nvSpPr>
          <p:cNvPr id="28" name="Text 22"/>
          <p:cNvSpPr txBox="1"/>
          <p:nvPr/>
        </p:nvSpPr>
        <p:spPr>
          <a:xfrm>
            <a:off x="6973672" y="1993392"/>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BERUFE IM UMBRUCH</a:t>
            </a:r>
            <a:endParaRPr lang="en-US" sz="1150" dirty="0"/>
          </a:p>
        </p:txBody>
      </p:sp>
      <p:sp>
        <p:nvSpPr>
          <p:cNvPr id="29" name="Text 23"/>
          <p:cNvSpPr txBox="1"/>
          <p:nvPr/>
        </p:nvSpPr>
        <p:spPr>
          <a:xfrm>
            <a:off x="6973672" y="2267712"/>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1,6 Mio. Arbeitsplätze in Bewegung. Tätigkeiten verschieben sich schnell.</a:t>
            </a:r>
            <a:endParaRPr lang="en-US" sz="1050" dirty="0"/>
          </a:p>
        </p:txBody>
      </p:sp>
      <p:sp>
        <p:nvSpPr>
          <p:cNvPr id="30" name="Shape 24"/>
          <p:cNvSpPr/>
          <p:nvPr/>
        </p:nvSpPr>
        <p:spPr>
          <a:xfrm>
            <a:off x="6278728" y="2980944"/>
            <a:ext cx="5437480" cy="914400"/>
          </a:xfrm>
          <a:prstGeom prst="rect">
            <a:avLst/>
          </a:prstGeom>
          <a:solidFill>
            <a:srgbClr val="111111"/>
          </a:solidFill>
          <a:ln/>
        </p:spPr>
      </p:sp>
      <p:sp>
        <p:nvSpPr>
          <p:cNvPr id="31" name="Shape 25"/>
          <p:cNvSpPr/>
          <p:nvPr/>
        </p:nvSpPr>
        <p:spPr>
          <a:xfrm>
            <a:off x="6187288" y="2889504"/>
            <a:ext cx="5437480" cy="914400"/>
          </a:xfrm>
          <a:prstGeom prst="rect">
            <a:avLst/>
          </a:prstGeom>
          <a:solidFill>
            <a:srgbClr val="FFFFFF"/>
          </a:solidFill>
          <a:ln w="28575">
            <a:solidFill>
              <a:srgbClr val="111111"/>
            </a:solidFill>
            <a:prstDash val="solid"/>
          </a:ln>
        </p:spPr>
      </p:sp>
      <p:sp>
        <p:nvSpPr>
          <p:cNvPr id="32" name="Shape 26"/>
          <p:cNvSpPr/>
          <p:nvPr/>
        </p:nvSpPr>
        <p:spPr>
          <a:xfrm>
            <a:off x="6406744" y="3136392"/>
            <a:ext cx="420624" cy="420624"/>
          </a:xfrm>
          <a:prstGeom prst="rect">
            <a:avLst/>
          </a:prstGeom>
          <a:solidFill>
            <a:srgbClr val="FFD84D"/>
          </a:solidFill>
          <a:ln w="28575">
            <a:solidFill>
              <a:srgbClr val="111111"/>
            </a:solidFill>
            <a:prstDash val="solid"/>
          </a:ln>
        </p:spPr>
      </p:sp>
      <p:pic>
        <p:nvPicPr>
          <p:cNvPr id="33" name="Image 4" descr="preencoded.png">    </p:cNvPr>
          <p:cNvPicPr>
            <a:picLocks noChangeAspect="1"/>
          </p:cNvPicPr>
          <p:nvPr/>
        </p:nvPicPr>
        <p:blipFill>
          <a:blip r:embed="rId5"/>
          <a:stretch>
            <a:fillRect/>
          </a:stretch>
        </p:blipFill>
        <p:spPr>
          <a:xfrm>
            <a:off x="6499281" y="3228929"/>
            <a:ext cx="235549" cy="235549"/>
          </a:xfrm>
          <a:prstGeom prst="rect">
            <a:avLst/>
          </a:prstGeom>
        </p:spPr>
      </p:pic>
      <p:sp>
        <p:nvSpPr>
          <p:cNvPr id="34" name="Text 27"/>
          <p:cNvSpPr txBox="1"/>
          <p:nvPr/>
        </p:nvSpPr>
        <p:spPr>
          <a:xfrm>
            <a:off x="6973672" y="3017520"/>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PLATTFORMABHÄNGIGKEIT</a:t>
            </a:r>
            <a:endParaRPr lang="en-US" sz="1150" dirty="0"/>
          </a:p>
        </p:txBody>
      </p:sp>
      <p:sp>
        <p:nvSpPr>
          <p:cNvPr id="35" name="Text 28"/>
          <p:cNvSpPr txBox="1"/>
          <p:nvPr/>
        </p:nvSpPr>
        <p:spPr>
          <a:xfrm>
            <a:off x="6973672" y="3291840"/>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56,7 % laufen über Marktplätze. Wer dort fehlt, findet nicht statt.</a:t>
            </a:r>
            <a:endParaRPr lang="en-US" sz="1050" dirty="0"/>
          </a:p>
        </p:txBody>
      </p:sp>
      <p:sp>
        <p:nvSpPr>
          <p:cNvPr id="36" name="Shape 29"/>
          <p:cNvSpPr/>
          <p:nvPr/>
        </p:nvSpPr>
        <p:spPr>
          <a:xfrm>
            <a:off x="6278728" y="4005072"/>
            <a:ext cx="5437480" cy="914400"/>
          </a:xfrm>
          <a:prstGeom prst="rect">
            <a:avLst/>
          </a:prstGeom>
          <a:solidFill>
            <a:srgbClr val="111111"/>
          </a:solidFill>
          <a:ln/>
        </p:spPr>
      </p:sp>
      <p:sp>
        <p:nvSpPr>
          <p:cNvPr id="37" name="Shape 30"/>
          <p:cNvSpPr/>
          <p:nvPr/>
        </p:nvSpPr>
        <p:spPr>
          <a:xfrm>
            <a:off x="6187288" y="3913632"/>
            <a:ext cx="5437480" cy="914400"/>
          </a:xfrm>
          <a:prstGeom prst="rect">
            <a:avLst/>
          </a:prstGeom>
          <a:solidFill>
            <a:srgbClr val="FFFFFF"/>
          </a:solidFill>
          <a:ln w="28575">
            <a:solidFill>
              <a:srgbClr val="111111"/>
            </a:solidFill>
            <a:prstDash val="solid"/>
          </a:ln>
        </p:spPr>
      </p:sp>
      <p:sp>
        <p:nvSpPr>
          <p:cNvPr id="38" name="Shape 31"/>
          <p:cNvSpPr/>
          <p:nvPr/>
        </p:nvSpPr>
        <p:spPr>
          <a:xfrm>
            <a:off x="6406744" y="4160520"/>
            <a:ext cx="420624" cy="420624"/>
          </a:xfrm>
          <a:prstGeom prst="rect">
            <a:avLst/>
          </a:prstGeom>
          <a:solidFill>
            <a:srgbClr val="FFD84D"/>
          </a:solidFill>
          <a:ln w="28575">
            <a:solidFill>
              <a:srgbClr val="111111"/>
            </a:solidFill>
            <a:prstDash val="solid"/>
          </a:ln>
        </p:spPr>
      </p:sp>
      <p:pic>
        <p:nvPicPr>
          <p:cNvPr id="39" name="Image 5" descr="preencoded.png">    </p:cNvPr>
          <p:cNvPicPr>
            <a:picLocks noChangeAspect="1"/>
          </p:cNvPicPr>
          <p:nvPr/>
        </p:nvPicPr>
        <p:blipFill>
          <a:blip r:embed="rId6"/>
          <a:stretch>
            <a:fillRect/>
          </a:stretch>
        </p:blipFill>
        <p:spPr>
          <a:xfrm>
            <a:off x="6499281" y="4253057"/>
            <a:ext cx="235549" cy="235549"/>
          </a:xfrm>
          <a:prstGeom prst="rect">
            <a:avLst/>
          </a:prstGeom>
        </p:spPr>
      </p:pic>
      <p:sp>
        <p:nvSpPr>
          <p:cNvPr id="40" name="Text 32"/>
          <p:cNvSpPr txBox="1"/>
          <p:nvPr/>
        </p:nvSpPr>
        <p:spPr>
          <a:xfrm>
            <a:off x="6973672" y="4041648"/>
            <a:ext cx="4413352" cy="256032"/>
          </a:xfrm>
          <a:prstGeom prst="rect">
            <a:avLst/>
          </a:prstGeom>
          <a:noFill/>
          <a:ln/>
        </p:spPr>
        <p:txBody>
          <a:bodyPr wrap="square" lIns="0" tIns="0" rIns="0" bIns="0" rtlCol="0" anchor="ctr"/>
          <a:lstStyle/>
          <a:p>
            <a:pPr indent="0" marL="0">
              <a:buNone/>
            </a:pPr>
            <a:r>
              <a:rPr lang="en-US" sz="1150" dirty="0">
                <a:solidFill>
                  <a:srgbClr val="111111"/>
                </a:solidFill>
                <a:latin typeface="Arial Black" pitchFamily="34" charset="0"/>
                <a:ea typeface="Arial Black" pitchFamily="34" charset="-122"/>
                <a:cs typeface="Arial Black" pitchFamily="34" charset="-120"/>
              </a:rPr>
              <a:t>DATEN UND VERTRAUEN</a:t>
            </a:r>
            <a:endParaRPr lang="en-US" sz="1150" dirty="0"/>
          </a:p>
        </p:txBody>
      </p:sp>
      <p:sp>
        <p:nvSpPr>
          <p:cNvPr id="41" name="Text 33"/>
          <p:cNvSpPr txBox="1"/>
          <p:nvPr/>
        </p:nvSpPr>
        <p:spPr>
          <a:xfrm>
            <a:off x="6973672" y="4315968"/>
            <a:ext cx="4413352" cy="438912"/>
          </a:xfrm>
          <a:prstGeom prst="rect">
            <a:avLst/>
          </a:prstGeom>
          <a:noFill/>
          <a:ln/>
        </p:spPr>
        <p:txBody>
          <a:bodyPr wrap="square" lIns="0" tIns="0" rIns="0" bIns="0" rtlCol="0" anchor="t"/>
          <a:lstStyle/>
          <a:p>
            <a:pPr indent="0" marL="0">
              <a:lnSpc>
                <a:spcPct val="118000"/>
              </a:lnSpc>
              <a:buNone/>
            </a:pPr>
            <a:r>
              <a:rPr lang="en-US" sz="1050" dirty="0">
                <a:solidFill>
                  <a:srgbClr val="111111"/>
                </a:solidFill>
                <a:latin typeface="Arial" pitchFamily="34" charset="0"/>
                <a:ea typeface="Arial" pitchFamily="34" charset="-122"/>
                <a:cs typeface="Arial" pitchFamily="34" charset="-120"/>
              </a:rPr>
              <a:t>Erst 6,3 % kaufen heute vollständig über eine KI.</a:t>
            </a:r>
            <a:endParaRPr lang="en-US" sz="1050" dirty="0"/>
          </a:p>
        </p:txBody>
      </p:sp>
      <p:sp>
        <p:nvSpPr>
          <p:cNvPr id="42" name="Shape 34"/>
          <p:cNvSpPr/>
          <p:nvPr/>
        </p:nvSpPr>
        <p:spPr>
          <a:xfrm>
            <a:off x="658368" y="5120640"/>
            <a:ext cx="11057839" cy="914400"/>
          </a:xfrm>
          <a:prstGeom prst="rect">
            <a:avLst/>
          </a:prstGeom>
          <a:solidFill>
            <a:srgbClr val="111111"/>
          </a:solidFill>
          <a:ln/>
        </p:spPr>
      </p:sp>
      <p:sp>
        <p:nvSpPr>
          <p:cNvPr id="43" name="Shape 35"/>
          <p:cNvSpPr/>
          <p:nvPr/>
        </p:nvSpPr>
        <p:spPr>
          <a:xfrm>
            <a:off x="566928" y="5029200"/>
            <a:ext cx="11057839" cy="914400"/>
          </a:xfrm>
          <a:prstGeom prst="rect">
            <a:avLst/>
          </a:prstGeom>
          <a:solidFill>
            <a:srgbClr val="111111"/>
          </a:solidFill>
          <a:ln/>
        </p:spPr>
      </p:sp>
      <p:sp>
        <p:nvSpPr>
          <p:cNvPr id="44" name="Text 36"/>
          <p:cNvSpPr txBox="1"/>
          <p:nvPr/>
        </p:nvSpPr>
        <p:spPr>
          <a:xfrm>
            <a:off x="841248" y="5029200"/>
            <a:ext cx="1600200" cy="914400"/>
          </a:xfrm>
          <a:prstGeom prst="rect">
            <a:avLst/>
          </a:prstGeom>
          <a:noFill/>
          <a:ln/>
        </p:spPr>
        <p:txBody>
          <a:bodyPr wrap="square" lIns="0" tIns="0" rIns="0" bIns="0" rtlCol="0" anchor="ctr"/>
          <a:lstStyle/>
          <a:p>
            <a:pPr indent="0" marL="0">
              <a:buNone/>
            </a:pPr>
            <a:r>
              <a:rPr lang="en-US" sz="1300" dirty="0">
                <a:solidFill>
                  <a:srgbClr val="FFD84D"/>
                </a:solidFill>
                <a:latin typeface="Arial Black" pitchFamily="34" charset="0"/>
                <a:ea typeface="Arial Black" pitchFamily="34" charset="-122"/>
                <a:cs typeface="Arial Black" pitchFamily="34" charset="-120"/>
              </a:rPr>
              <a:t>EU AI ACT</a:t>
            </a:r>
            <a:endParaRPr lang="en-US" sz="1300" dirty="0"/>
          </a:p>
        </p:txBody>
      </p:sp>
      <p:sp>
        <p:nvSpPr>
          <p:cNvPr id="45" name="Text 37"/>
          <p:cNvSpPr txBox="1"/>
          <p:nvPr/>
        </p:nvSpPr>
        <p:spPr>
          <a:xfrm>
            <a:off x="2606040" y="5193792"/>
            <a:ext cx="2834640" cy="219456"/>
          </a:xfrm>
          <a:prstGeom prst="rect">
            <a:avLst/>
          </a:prstGeom>
          <a:noFill/>
          <a:ln/>
        </p:spPr>
        <p:txBody>
          <a:bodyPr wrap="square" lIns="0" tIns="0" rIns="0" bIns="0" rtlCol="0" anchor="ctr"/>
          <a:lstStyle/>
          <a:p>
            <a:pPr indent="0" marL="0">
              <a:buNone/>
            </a:pPr>
            <a:r>
              <a:rPr lang="en-US" sz="1100" b="1" dirty="0">
                <a:solidFill>
                  <a:srgbClr val="FFD84D"/>
                </a:solidFill>
                <a:latin typeface="Courier New" pitchFamily="34" charset="0"/>
                <a:ea typeface="Courier New" pitchFamily="34" charset="-122"/>
                <a:cs typeface="Courier New" pitchFamily="34" charset="-120"/>
              </a:rPr>
              <a:t>02.08.2026</a:t>
            </a:r>
            <a:endParaRPr lang="en-US" sz="1100" dirty="0"/>
          </a:p>
        </p:txBody>
      </p:sp>
      <p:sp>
        <p:nvSpPr>
          <p:cNvPr id="46" name="Text 38"/>
          <p:cNvSpPr txBox="1"/>
          <p:nvPr/>
        </p:nvSpPr>
        <p:spPr>
          <a:xfrm>
            <a:off x="2606040" y="5431536"/>
            <a:ext cx="2834640" cy="420624"/>
          </a:xfrm>
          <a:prstGeom prst="rect">
            <a:avLst/>
          </a:prstGeom>
          <a:noFill/>
          <a:ln/>
        </p:spPr>
        <p:txBody>
          <a:bodyPr wrap="square" lIns="0" tIns="0" rIns="0" bIns="0" rtlCol="0" anchor="t"/>
          <a:lstStyle/>
          <a:p>
            <a:pPr indent="0" marL="0">
              <a:lnSpc>
                <a:spcPct val="115000"/>
              </a:lnSpc>
              <a:buNone/>
            </a:pPr>
            <a:r>
              <a:rPr lang="en-US" sz="1000" dirty="0">
                <a:solidFill>
                  <a:srgbClr val="FFFFFF"/>
                </a:solidFill>
                <a:latin typeface="Arial" pitchFamily="34" charset="0"/>
                <a:ea typeface="Arial" pitchFamily="34" charset="-122"/>
                <a:cs typeface="Arial" pitchFamily="34" charset="-120"/>
              </a:rPr>
              <a:t>Chatbots müssen sich als KI zu erkennen geben, KI-Inhalte werden gekennzeichnet.</a:t>
            </a:r>
            <a:endParaRPr lang="en-US" sz="1000" dirty="0"/>
          </a:p>
        </p:txBody>
      </p:sp>
      <p:sp>
        <p:nvSpPr>
          <p:cNvPr id="47" name="Text 39"/>
          <p:cNvSpPr txBox="1"/>
          <p:nvPr/>
        </p:nvSpPr>
        <p:spPr>
          <a:xfrm>
            <a:off x="5641848" y="5193792"/>
            <a:ext cx="2834640" cy="219456"/>
          </a:xfrm>
          <a:prstGeom prst="rect">
            <a:avLst/>
          </a:prstGeom>
          <a:noFill/>
          <a:ln/>
        </p:spPr>
        <p:txBody>
          <a:bodyPr wrap="square" lIns="0" tIns="0" rIns="0" bIns="0" rtlCol="0" anchor="ctr"/>
          <a:lstStyle/>
          <a:p>
            <a:pPr indent="0" marL="0">
              <a:buNone/>
            </a:pPr>
            <a:r>
              <a:rPr lang="en-US" sz="1100" b="1" dirty="0">
                <a:solidFill>
                  <a:srgbClr val="FFD84D"/>
                </a:solidFill>
                <a:latin typeface="Courier New" pitchFamily="34" charset="0"/>
                <a:ea typeface="Courier New" pitchFamily="34" charset="-122"/>
                <a:cs typeface="Courier New" pitchFamily="34" charset="-120"/>
              </a:rPr>
              <a:t>02.12.2027</a:t>
            </a:r>
            <a:endParaRPr lang="en-US" sz="1100" dirty="0"/>
          </a:p>
        </p:txBody>
      </p:sp>
      <p:sp>
        <p:nvSpPr>
          <p:cNvPr id="48" name="Text 40"/>
          <p:cNvSpPr txBox="1"/>
          <p:nvPr/>
        </p:nvSpPr>
        <p:spPr>
          <a:xfrm>
            <a:off x="5641848" y="5431536"/>
            <a:ext cx="2834640" cy="420624"/>
          </a:xfrm>
          <a:prstGeom prst="rect">
            <a:avLst/>
          </a:prstGeom>
          <a:noFill/>
          <a:ln/>
        </p:spPr>
        <p:txBody>
          <a:bodyPr wrap="square" lIns="0" tIns="0" rIns="0" bIns="0" rtlCol="0" anchor="t"/>
          <a:lstStyle/>
          <a:p>
            <a:pPr indent="0" marL="0">
              <a:lnSpc>
                <a:spcPct val="115000"/>
              </a:lnSpc>
              <a:buNone/>
            </a:pPr>
            <a:r>
              <a:rPr lang="en-US" sz="1000" dirty="0">
                <a:solidFill>
                  <a:srgbClr val="FFFFFF"/>
                </a:solidFill>
                <a:latin typeface="Arial" pitchFamily="34" charset="0"/>
                <a:ea typeface="Arial" pitchFamily="34" charset="-122"/>
                <a:cs typeface="Arial" pitchFamily="34" charset="-120"/>
              </a:rPr>
              <a:t>Pflichten für Hochrisiko-KI nach Anhang III.</a:t>
            </a:r>
            <a:endParaRPr lang="en-US" sz="1000" dirty="0"/>
          </a:p>
        </p:txBody>
      </p:sp>
      <p:sp>
        <p:nvSpPr>
          <p:cNvPr id="49" name="Text 41"/>
          <p:cNvSpPr txBox="1"/>
          <p:nvPr/>
        </p:nvSpPr>
        <p:spPr>
          <a:xfrm>
            <a:off x="8677656" y="5193792"/>
            <a:ext cx="2834640" cy="219456"/>
          </a:xfrm>
          <a:prstGeom prst="rect">
            <a:avLst/>
          </a:prstGeom>
          <a:noFill/>
          <a:ln/>
        </p:spPr>
        <p:txBody>
          <a:bodyPr wrap="square" lIns="0" tIns="0" rIns="0" bIns="0" rtlCol="0" anchor="ctr"/>
          <a:lstStyle/>
          <a:p>
            <a:pPr indent="0" marL="0">
              <a:buNone/>
            </a:pPr>
            <a:r>
              <a:rPr lang="en-US" sz="1100" b="1" dirty="0">
                <a:solidFill>
                  <a:srgbClr val="FFD84D"/>
                </a:solidFill>
                <a:latin typeface="Courier New" pitchFamily="34" charset="0"/>
                <a:ea typeface="Courier New" pitchFamily="34" charset="-122"/>
                <a:cs typeface="Courier New" pitchFamily="34" charset="-120"/>
              </a:rPr>
              <a:t>02.08.2028</a:t>
            </a:r>
            <a:endParaRPr lang="en-US" sz="1100" dirty="0"/>
          </a:p>
        </p:txBody>
      </p:sp>
      <p:sp>
        <p:nvSpPr>
          <p:cNvPr id="50" name="Text 42"/>
          <p:cNvSpPr txBox="1"/>
          <p:nvPr/>
        </p:nvSpPr>
        <p:spPr>
          <a:xfrm>
            <a:off x="8677656" y="5431536"/>
            <a:ext cx="2834640" cy="420624"/>
          </a:xfrm>
          <a:prstGeom prst="rect">
            <a:avLst/>
          </a:prstGeom>
          <a:noFill/>
          <a:ln/>
        </p:spPr>
        <p:txBody>
          <a:bodyPr wrap="square" lIns="0" tIns="0" rIns="0" bIns="0" rtlCol="0" anchor="t"/>
          <a:lstStyle/>
          <a:p>
            <a:pPr indent="0" marL="0">
              <a:lnSpc>
                <a:spcPct val="115000"/>
              </a:lnSpc>
              <a:buNone/>
            </a:pPr>
            <a:r>
              <a:rPr lang="en-US" sz="1000" dirty="0">
                <a:solidFill>
                  <a:srgbClr val="FFFFFF"/>
                </a:solidFill>
                <a:latin typeface="Arial" pitchFamily="34" charset="0"/>
                <a:ea typeface="Arial" pitchFamily="34" charset="-122"/>
                <a:cs typeface="Arial" pitchFamily="34" charset="-120"/>
              </a:rPr>
              <a:t>In Produkte eingebettete Hochrisiko-KI.</a:t>
            </a:r>
            <a:endParaRPr lang="en-US" sz="1000" dirty="0"/>
          </a:p>
        </p:txBody>
      </p:sp>
      <p:sp>
        <p:nvSpPr>
          <p:cNvPr id="51" name="Text 43"/>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IAB-FORSCHUNGSBERICHT 23/2025 (SIMULATION ÜBER 15 JAHRE) · HDE ONLINE-MONITOR 2026 (NETTOUMSATZ ONLINEHANDEL DEUTSCHLAND) · BEVH, JAHRESZAHLEN 2025 · VERORDNUNG (EU) 2024/1689 (KI-VO), ART. 50 UND 113; DIGITAL OMNIBUS ON AI</a:t>
            </a:r>
            <a:endParaRPr lang="en-US" sz="800" dirty="0"/>
          </a:p>
        </p:txBody>
      </p:sp>
      <p:sp>
        <p:nvSpPr>
          <p:cNvPr id="52" name="Shape 44"/>
          <p:cNvSpPr/>
          <p:nvPr/>
        </p:nvSpPr>
        <p:spPr>
          <a:xfrm>
            <a:off x="10874959" y="6217920"/>
            <a:ext cx="749808" cy="237744"/>
          </a:xfrm>
          <a:prstGeom prst="rect">
            <a:avLst/>
          </a:prstGeom>
          <a:solidFill>
            <a:srgbClr val="111111"/>
          </a:solidFill>
          <a:ln/>
        </p:spPr>
      </p:sp>
      <p:sp>
        <p:nvSpPr>
          <p:cNvPr id="53" name="Text 45"/>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12/15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AUSBLICK</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AUSBLICK 2030</a:t>
            </a:r>
            <a:endParaRPr lang="en-US" sz="2800" dirty="0"/>
          </a:p>
        </p:txBody>
      </p:sp>
      <p:sp>
        <p:nvSpPr>
          <p:cNvPr id="4" name="Shape 2"/>
          <p:cNvSpPr/>
          <p:nvPr/>
        </p:nvSpPr>
        <p:spPr>
          <a:xfrm>
            <a:off x="658368" y="1719072"/>
            <a:ext cx="6374206" cy="4114800"/>
          </a:xfrm>
          <a:prstGeom prst="rect">
            <a:avLst/>
          </a:prstGeom>
          <a:solidFill>
            <a:srgbClr val="111111"/>
          </a:solidFill>
          <a:ln/>
        </p:spPr>
      </p:sp>
      <p:sp>
        <p:nvSpPr>
          <p:cNvPr id="5" name="Shape 3"/>
          <p:cNvSpPr/>
          <p:nvPr/>
        </p:nvSpPr>
        <p:spPr>
          <a:xfrm>
            <a:off x="566928" y="1627632"/>
            <a:ext cx="6374206" cy="4114800"/>
          </a:xfrm>
          <a:prstGeom prst="rect">
            <a:avLst/>
          </a:prstGeom>
          <a:solidFill>
            <a:srgbClr val="FFFFFF"/>
          </a:solidFill>
          <a:ln w="28575">
            <a:solidFill>
              <a:srgbClr val="111111"/>
            </a:solidFill>
            <a:prstDash val="solid"/>
          </a:ln>
        </p:spPr>
      </p:sp>
      <p:sp>
        <p:nvSpPr>
          <p:cNvPr id="6" name="Text 4"/>
          <p:cNvSpPr txBox="1"/>
          <p:nvPr/>
        </p:nvSpPr>
        <p:spPr>
          <a:xfrm>
            <a:off x="841248" y="1847088"/>
            <a:ext cx="5825566" cy="237744"/>
          </a:xfrm>
          <a:prstGeom prst="rect">
            <a:avLst/>
          </a:prstGeom>
          <a:noFill/>
          <a:ln/>
        </p:spPr>
        <p:txBody>
          <a:bodyPr wrap="square" lIns="0" tIns="0" rIns="0" bIns="0" rtlCol="0" anchor="ctr"/>
          <a:lstStyle/>
          <a:p>
            <a:pPr indent="0" marL="0">
              <a:buNone/>
            </a:pPr>
            <a:r>
              <a:rPr lang="en-US" sz="1300" dirty="0">
                <a:solidFill>
                  <a:srgbClr val="111111"/>
                </a:solidFill>
                <a:latin typeface="Arial Black" pitchFamily="34" charset="0"/>
                <a:ea typeface="Arial Black" pitchFamily="34" charset="-122"/>
                <a:cs typeface="Arial Black" pitchFamily="34" charset="-120"/>
              </a:rPr>
              <a:t>WELTWEITER UMSATZ IM JAHR 2030</a:t>
            </a:r>
            <a:endParaRPr lang="en-US" sz="1300" dirty="0"/>
          </a:p>
        </p:txBody>
      </p:sp>
      <p:sp>
        <p:nvSpPr>
          <p:cNvPr id="7" name="Text 5"/>
          <p:cNvSpPr txBox="1"/>
          <p:nvPr/>
        </p:nvSpPr>
        <p:spPr>
          <a:xfrm>
            <a:off x="841248" y="2084832"/>
            <a:ext cx="5825566" cy="201168"/>
          </a:xfrm>
          <a:prstGeom prst="rect">
            <a:avLst/>
          </a:prstGeom>
          <a:noFill/>
          <a:ln/>
        </p:spPr>
        <p:txBody>
          <a:bodyPr wrap="square" lIns="0" tIns="0" rIns="0" bIns="0" rtlCol="0" anchor="ctr"/>
          <a:lstStyle/>
          <a:p>
            <a:pPr indent="0" marL="0">
              <a:buNone/>
            </a:pPr>
            <a:r>
              <a:rPr lang="en-US" sz="800" dirty="0">
                <a:solidFill>
                  <a:srgbClr val="5A5A5A"/>
                </a:solidFill>
                <a:latin typeface="Courier New" pitchFamily="34" charset="0"/>
                <a:ea typeface="Courier New" pitchFamily="34" charset="-122"/>
                <a:cs typeface="Courier New" pitchFamily="34" charset="-120"/>
              </a:rPr>
              <a:t>in Billionen US-Dollar · sämtlich Prognosen, keine Ist-Werte</a:t>
            </a:r>
            <a:endParaRPr lang="en-US" sz="800" dirty="0"/>
          </a:p>
        </p:txBody>
      </p:sp>
      <p:graphicFrame>
        <p:nvGraphicFramePr>
          <p:cNvPr id="8" name="Chart 0" descr=""/>
          <p:cNvGraphicFramePr/>
          <p:nvPr/>
        </p:nvGraphicFramePr>
        <p:xfrm>
          <a:off x="713232" y="2432304"/>
          <a:ext cx="6008446" cy="314553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215454" y="1719072"/>
            <a:ext cx="4500753" cy="1975104"/>
          </a:xfrm>
          <a:prstGeom prst="rect">
            <a:avLst/>
          </a:prstGeom>
          <a:solidFill>
            <a:srgbClr val="111111"/>
          </a:solidFill>
          <a:ln/>
        </p:spPr>
      </p:sp>
      <p:sp>
        <p:nvSpPr>
          <p:cNvPr id="10" name="Shape 7"/>
          <p:cNvSpPr/>
          <p:nvPr/>
        </p:nvSpPr>
        <p:spPr>
          <a:xfrm>
            <a:off x="7124014" y="1627632"/>
            <a:ext cx="4500753" cy="1975104"/>
          </a:xfrm>
          <a:prstGeom prst="rect">
            <a:avLst/>
          </a:prstGeom>
          <a:solidFill>
            <a:srgbClr val="FFD84D"/>
          </a:solidFill>
          <a:ln w="28575">
            <a:solidFill>
              <a:srgbClr val="111111"/>
            </a:solidFill>
            <a:prstDash val="solid"/>
          </a:ln>
        </p:spPr>
      </p:sp>
      <p:sp>
        <p:nvSpPr>
          <p:cNvPr id="11" name="Text 8"/>
          <p:cNvSpPr txBox="1"/>
          <p:nvPr/>
        </p:nvSpPr>
        <p:spPr>
          <a:xfrm>
            <a:off x="7398334" y="1883664"/>
            <a:ext cx="3952113" cy="566928"/>
          </a:xfrm>
          <a:prstGeom prst="rect">
            <a:avLst/>
          </a:prstGeom>
          <a:noFill/>
          <a:ln/>
        </p:spPr>
        <p:txBody>
          <a:bodyPr wrap="square" lIns="0" tIns="0" rIns="0" bIns="0" rtlCol="0" anchor="ctr"/>
          <a:lstStyle/>
          <a:p>
            <a:pPr indent="0" marL="0">
              <a:buNone/>
            </a:pPr>
            <a:r>
              <a:rPr lang="en-US" sz="3800" dirty="0">
                <a:solidFill>
                  <a:srgbClr val="111111"/>
                </a:solidFill>
                <a:latin typeface="Arial Black" pitchFamily="34" charset="0"/>
                <a:ea typeface="Arial Black" pitchFamily="34" charset="-122"/>
                <a:cs typeface="Arial Black" pitchFamily="34" charset="-120"/>
              </a:rPr>
              <a:t>4,1 MRD</a:t>
            </a:r>
            <a:endParaRPr lang="en-US" sz="3800" dirty="0"/>
          </a:p>
        </p:txBody>
      </p:sp>
      <p:sp>
        <p:nvSpPr>
          <p:cNvPr id="12" name="Text 9"/>
          <p:cNvSpPr txBox="1"/>
          <p:nvPr/>
        </p:nvSpPr>
        <p:spPr>
          <a:xfrm>
            <a:off x="7398334" y="2523744"/>
            <a:ext cx="3952113" cy="877824"/>
          </a:xfrm>
          <a:prstGeom prst="rect">
            <a:avLst/>
          </a:prstGeom>
          <a:noFill/>
          <a:ln/>
        </p:spPr>
        <p:txBody>
          <a:bodyPr wrap="square" lIns="0" tIns="0" rIns="0" bIns="0" rtlCol="0" anchor="t"/>
          <a:lstStyle/>
          <a:p>
            <a:pPr indent="0" marL="0">
              <a:lnSpc>
                <a:spcPct val="128000"/>
              </a:lnSpc>
              <a:buNone/>
            </a:pPr>
            <a:r>
              <a:rPr lang="en-US" sz="1250" dirty="0">
                <a:solidFill>
                  <a:srgbClr val="111111"/>
                </a:solidFill>
                <a:latin typeface="Arial" pitchFamily="34" charset="0"/>
                <a:ea typeface="Arial" pitchFamily="34" charset="-122"/>
                <a:cs typeface="Arial" pitchFamily="34" charset="-120"/>
              </a:rPr>
              <a:t>Menschen kaufen 2030 online — 60,1 % der Weltbevölkerung.</a:t>
            </a:r>
            <a:endParaRPr lang="en-US" sz="1250" dirty="0"/>
          </a:p>
        </p:txBody>
      </p:sp>
      <p:sp>
        <p:nvSpPr>
          <p:cNvPr id="13" name="Shape 10"/>
          <p:cNvSpPr/>
          <p:nvPr/>
        </p:nvSpPr>
        <p:spPr>
          <a:xfrm>
            <a:off x="7215454" y="3895344"/>
            <a:ext cx="4500753" cy="1938528"/>
          </a:xfrm>
          <a:prstGeom prst="rect">
            <a:avLst/>
          </a:prstGeom>
          <a:solidFill>
            <a:srgbClr val="111111"/>
          </a:solidFill>
          <a:ln/>
        </p:spPr>
      </p:sp>
      <p:sp>
        <p:nvSpPr>
          <p:cNvPr id="14" name="Shape 11"/>
          <p:cNvSpPr/>
          <p:nvPr/>
        </p:nvSpPr>
        <p:spPr>
          <a:xfrm>
            <a:off x="7124014" y="3803904"/>
            <a:ext cx="4500753" cy="1938528"/>
          </a:xfrm>
          <a:prstGeom prst="rect">
            <a:avLst/>
          </a:prstGeom>
          <a:solidFill>
            <a:srgbClr val="111111"/>
          </a:solidFill>
          <a:ln/>
        </p:spPr>
      </p:sp>
      <p:sp>
        <p:nvSpPr>
          <p:cNvPr id="15" name="Text 12"/>
          <p:cNvSpPr txBox="1"/>
          <p:nvPr/>
        </p:nvSpPr>
        <p:spPr>
          <a:xfrm>
            <a:off x="7398334" y="4059936"/>
            <a:ext cx="3952113" cy="310896"/>
          </a:xfrm>
          <a:prstGeom prst="rect">
            <a:avLst/>
          </a:prstGeom>
          <a:noFill/>
          <a:ln/>
        </p:spPr>
        <p:txBody>
          <a:bodyPr wrap="square" lIns="0" tIns="0" rIns="0" bIns="0" rtlCol="0" anchor="ctr"/>
          <a:lstStyle/>
          <a:p>
            <a:pPr indent="0" marL="0">
              <a:buNone/>
            </a:pPr>
            <a:r>
              <a:rPr lang="en-US" sz="1500" dirty="0">
                <a:solidFill>
                  <a:srgbClr val="FFD84D"/>
                </a:solidFill>
                <a:latin typeface="Arial Black" pitchFamily="34" charset="0"/>
                <a:ea typeface="Arial Black" pitchFamily="34" charset="-122"/>
                <a:cs typeface="Arial Black" pitchFamily="34" charset="-120"/>
              </a:rPr>
              <a:t>DER BRUCH</a:t>
            </a:r>
            <a:endParaRPr lang="en-US" sz="1500" dirty="0"/>
          </a:p>
        </p:txBody>
      </p:sp>
      <p:sp>
        <p:nvSpPr>
          <p:cNvPr id="16" name="Text 13"/>
          <p:cNvSpPr txBox="1"/>
          <p:nvPr/>
        </p:nvSpPr>
        <p:spPr>
          <a:xfrm>
            <a:off x="7398334" y="4480560"/>
            <a:ext cx="3952113" cy="1024128"/>
          </a:xfrm>
          <a:prstGeom prst="rect">
            <a:avLst/>
          </a:prstGeom>
          <a:noFill/>
          <a:ln/>
        </p:spPr>
        <p:txBody>
          <a:bodyPr wrap="square" lIns="0" tIns="0" rIns="0" bIns="0" rtlCol="0" anchor="t"/>
          <a:lstStyle/>
          <a:p>
            <a:pPr indent="0" marL="0">
              <a:lnSpc>
                <a:spcPct val="128000"/>
              </a:lnSpc>
              <a:buNone/>
            </a:pPr>
            <a:r>
              <a:rPr lang="en-US" sz="1450" dirty="0">
                <a:solidFill>
                  <a:srgbClr val="FFFFFF"/>
                </a:solidFill>
                <a:latin typeface="Arial" pitchFamily="34" charset="0"/>
                <a:ea typeface="Arial" pitchFamily="34" charset="-122"/>
                <a:cs typeface="Arial" pitchFamily="34" charset="-120"/>
              </a:rPr>
              <a:t>Wenn Maschinen einkaufen, ist der Adressat von Marketing nicht mehr nur der Mensch.</a:t>
            </a:r>
            <a:endParaRPr lang="en-US" sz="1450" dirty="0"/>
          </a:p>
        </p:txBody>
      </p:sp>
      <p:sp>
        <p:nvSpPr>
          <p:cNvPr id="17" name="Text 14"/>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5A5A5A"/>
                </a:solidFill>
                <a:latin typeface="Courier New" pitchFamily="34" charset="0"/>
                <a:ea typeface="Courier New" pitchFamily="34" charset="-122"/>
                <a:cs typeface="Courier New" pitchFamily="34" charset="-120"/>
              </a:rPr>
              <a:t>QUELLE: MCKINSEY, PROGNOSE AGENTIC COMMERCE 2030 · STATISTA / ECDB, GLOBALER E-COMMERCE BIS 2030 · JUNIPER RESEARCH, FRAUD DETECTION &amp; PREVENTION SPENDING</a:t>
            </a:r>
            <a:endParaRPr lang="en-US" sz="800" dirty="0"/>
          </a:p>
        </p:txBody>
      </p:sp>
      <p:sp>
        <p:nvSpPr>
          <p:cNvPr id="18" name="Shape 15"/>
          <p:cNvSpPr/>
          <p:nvPr/>
        </p:nvSpPr>
        <p:spPr>
          <a:xfrm>
            <a:off x="10874959" y="6217920"/>
            <a:ext cx="749808" cy="237744"/>
          </a:xfrm>
          <a:prstGeom prst="rect">
            <a:avLst/>
          </a:prstGeom>
          <a:solidFill>
            <a:srgbClr val="111111"/>
          </a:solidFill>
          <a:ln/>
        </p:spPr>
      </p:sp>
      <p:sp>
        <p:nvSpPr>
          <p:cNvPr id="19" name="Text 16"/>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13/15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D84D"/>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FAZIT</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DREI SÄTZE ZUM MITNEHMEN</a:t>
            </a:r>
            <a:endParaRPr lang="en-US" sz="2800" dirty="0"/>
          </a:p>
        </p:txBody>
      </p:sp>
      <p:sp>
        <p:nvSpPr>
          <p:cNvPr id="4" name="Shape 2"/>
          <p:cNvSpPr/>
          <p:nvPr/>
        </p:nvSpPr>
        <p:spPr>
          <a:xfrm>
            <a:off x="658368" y="1810512"/>
            <a:ext cx="11057839" cy="1207008"/>
          </a:xfrm>
          <a:prstGeom prst="rect">
            <a:avLst/>
          </a:prstGeom>
          <a:solidFill>
            <a:srgbClr val="111111"/>
          </a:solidFill>
          <a:ln/>
        </p:spPr>
      </p:sp>
      <p:sp>
        <p:nvSpPr>
          <p:cNvPr id="5" name="Shape 3"/>
          <p:cNvSpPr/>
          <p:nvPr/>
        </p:nvSpPr>
        <p:spPr>
          <a:xfrm>
            <a:off x="566928" y="1719072"/>
            <a:ext cx="11057839" cy="1207008"/>
          </a:xfrm>
          <a:prstGeom prst="rect">
            <a:avLst/>
          </a:prstGeom>
          <a:solidFill>
            <a:srgbClr val="111111"/>
          </a:solidFill>
          <a:ln/>
        </p:spPr>
      </p:sp>
      <p:sp>
        <p:nvSpPr>
          <p:cNvPr id="6" name="Text 4"/>
          <p:cNvSpPr txBox="1"/>
          <p:nvPr/>
        </p:nvSpPr>
        <p:spPr>
          <a:xfrm>
            <a:off x="841248" y="2011680"/>
            <a:ext cx="960120" cy="621792"/>
          </a:xfrm>
          <a:prstGeom prst="rect">
            <a:avLst/>
          </a:prstGeom>
          <a:noFill/>
          <a:ln/>
        </p:spPr>
        <p:txBody>
          <a:bodyPr wrap="square" lIns="0" tIns="0" rIns="0" bIns="0" rtlCol="0" anchor="ctr"/>
          <a:lstStyle/>
          <a:p>
            <a:pPr indent="0" marL="0">
              <a:buNone/>
            </a:pPr>
            <a:r>
              <a:rPr lang="en-US" sz="3600" dirty="0">
                <a:solidFill>
                  <a:srgbClr val="FFD84D"/>
                </a:solidFill>
                <a:latin typeface="Arial Black" pitchFamily="34" charset="0"/>
                <a:ea typeface="Arial Black" pitchFamily="34" charset="-122"/>
                <a:cs typeface="Arial Black" pitchFamily="34" charset="-120"/>
              </a:rPr>
              <a:t>01</a:t>
            </a:r>
            <a:endParaRPr lang="en-US" sz="3600" dirty="0"/>
          </a:p>
        </p:txBody>
      </p:sp>
      <p:sp>
        <p:nvSpPr>
          <p:cNvPr id="7" name="Text 5"/>
          <p:cNvSpPr txBox="1"/>
          <p:nvPr/>
        </p:nvSpPr>
        <p:spPr>
          <a:xfrm>
            <a:off x="1938528" y="1901952"/>
            <a:ext cx="9320479" cy="841248"/>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Arial" pitchFamily="34" charset="0"/>
                <a:ea typeface="Arial" pitchFamily="34" charset="-122"/>
                <a:cs typeface="Arial" pitchFamily="34" charset="-120"/>
              </a:rPr>
              <a:t>Erstmals nutzt mit 57 % die Mehrheit der Unternehmen in Deutschland KI. 2024 waren es 20 %.</a:t>
            </a:r>
            <a:endParaRPr lang="en-US" sz="1500" dirty="0"/>
          </a:p>
        </p:txBody>
      </p:sp>
      <p:sp>
        <p:nvSpPr>
          <p:cNvPr id="8" name="Shape 6"/>
          <p:cNvSpPr/>
          <p:nvPr/>
        </p:nvSpPr>
        <p:spPr>
          <a:xfrm>
            <a:off x="658368" y="3200400"/>
            <a:ext cx="11057839" cy="1207008"/>
          </a:xfrm>
          <a:prstGeom prst="rect">
            <a:avLst/>
          </a:prstGeom>
          <a:solidFill>
            <a:srgbClr val="111111"/>
          </a:solidFill>
          <a:ln/>
        </p:spPr>
      </p:sp>
      <p:sp>
        <p:nvSpPr>
          <p:cNvPr id="9" name="Shape 7"/>
          <p:cNvSpPr/>
          <p:nvPr/>
        </p:nvSpPr>
        <p:spPr>
          <a:xfrm>
            <a:off x="566928" y="3108960"/>
            <a:ext cx="11057839" cy="1207008"/>
          </a:xfrm>
          <a:prstGeom prst="rect">
            <a:avLst/>
          </a:prstGeom>
          <a:solidFill>
            <a:srgbClr val="111111"/>
          </a:solidFill>
          <a:ln/>
        </p:spPr>
      </p:sp>
      <p:sp>
        <p:nvSpPr>
          <p:cNvPr id="10" name="Text 8"/>
          <p:cNvSpPr txBox="1"/>
          <p:nvPr/>
        </p:nvSpPr>
        <p:spPr>
          <a:xfrm>
            <a:off x="841248" y="3401568"/>
            <a:ext cx="960120" cy="621792"/>
          </a:xfrm>
          <a:prstGeom prst="rect">
            <a:avLst/>
          </a:prstGeom>
          <a:noFill/>
          <a:ln/>
        </p:spPr>
        <p:txBody>
          <a:bodyPr wrap="square" lIns="0" tIns="0" rIns="0" bIns="0" rtlCol="0" anchor="ctr"/>
          <a:lstStyle/>
          <a:p>
            <a:pPr indent="0" marL="0">
              <a:buNone/>
            </a:pPr>
            <a:r>
              <a:rPr lang="en-US" sz="3600" dirty="0">
                <a:solidFill>
                  <a:srgbClr val="FFD84D"/>
                </a:solidFill>
                <a:latin typeface="Arial Black" pitchFamily="34" charset="0"/>
                <a:ea typeface="Arial Black" pitchFamily="34" charset="-122"/>
                <a:cs typeface="Arial Black" pitchFamily="34" charset="-120"/>
              </a:rPr>
              <a:t>02</a:t>
            </a:r>
            <a:endParaRPr lang="en-US" sz="3600" dirty="0"/>
          </a:p>
        </p:txBody>
      </p:sp>
      <p:sp>
        <p:nvSpPr>
          <p:cNvPr id="11" name="Text 9"/>
          <p:cNvSpPr txBox="1"/>
          <p:nvPr/>
        </p:nvSpPr>
        <p:spPr>
          <a:xfrm>
            <a:off x="1938528" y="3291840"/>
            <a:ext cx="9320479" cy="841248"/>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Arial" pitchFamily="34" charset="0"/>
                <a:ea typeface="Arial" pitchFamily="34" charset="-122"/>
                <a:cs typeface="Arial" pitchFamily="34" charset="-120"/>
              </a:rPr>
              <a:t>Im E-Commerce zahlt sich das messbar aus: 12 Mrd. $ Zusatzumsatz bei Amazon, 8 % weniger größenbedingte Retouren bei Zalando.</a:t>
            </a:r>
            <a:endParaRPr lang="en-US" sz="1500" dirty="0"/>
          </a:p>
        </p:txBody>
      </p:sp>
      <p:sp>
        <p:nvSpPr>
          <p:cNvPr id="12" name="Shape 10"/>
          <p:cNvSpPr/>
          <p:nvPr/>
        </p:nvSpPr>
        <p:spPr>
          <a:xfrm>
            <a:off x="658368" y="4590288"/>
            <a:ext cx="11057839" cy="1207008"/>
          </a:xfrm>
          <a:prstGeom prst="rect">
            <a:avLst/>
          </a:prstGeom>
          <a:solidFill>
            <a:srgbClr val="111111"/>
          </a:solidFill>
          <a:ln/>
        </p:spPr>
      </p:sp>
      <p:sp>
        <p:nvSpPr>
          <p:cNvPr id="13" name="Shape 11"/>
          <p:cNvSpPr/>
          <p:nvPr/>
        </p:nvSpPr>
        <p:spPr>
          <a:xfrm>
            <a:off x="566928" y="4498848"/>
            <a:ext cx="11057839" cy="1207008"/>
          </a:xfrm>
          <a:prstGeom prst="rect">
            <a:avLst/>
          </a:prstGeom>
          <a:solidFill>
            <a:srgbClr val="111111"/>
          </a:solidFill>
          <a:ln/>
        </p:spPr>
      </p:sp>
      <p:sp>
        <p:nvSpPr>
          <p:cNvPr id="14" name="Text 12"/>
          <p:cNvSpPr txBox="1"/>
          <p:nvPr/>
        </p:nvSpPr>
        <p:spPr>
          <a:xfrm>
            <a:off x="841248" y="4791456"/>
            <a:ext cx="960120" cy="621792"/>
          </a:xfrm>
          <a:prstGeom prst="rect">
            <a:avLst/>
          </a:prstGeom>
          <a:noFill/>
          <a:ln/>
        </p:spPr>
        <p:txBody>
          <a:bodyPr wrap="square" lIns="0" tIns="0" rIns="0" bIns="0" rtlCol="0" anchor="ctr"/>
          <a:lstStyle/>
          <a:p>
            <a:pPr indent="0" marL="0">
              <a:buNone/>
            </a:pPr>
            <a:r>
              <a:rPr lang="en-US" sz="3600" dirty="0">
                <a:solidFill>
                  <a:srgbClr val="FFD84D"/>
                </a:solidFill>
                <a:latin typeface="Arial Black" pitchFamily="34" charset="0"/>
                <a:ea typeface="Arial Black" pitchFamily="34" charset="-122"/>
                <a:cs typeface="Arial Black" pitchFamily="34" charset="-120"/>
              </a:rPr>
              <a:t>03</a:t>
            </a:r>
            <a:endParaRPr lang="en-US" sz="3600" dirty="0"/>
          </a:p>
        </p:txBody>
      </p:sp>
      <p:sp>
        <p:nvSpPr>
          <p:cNvPr id="15" name="Text 13"/>
          <p:cNvSpPr txBox="1"/>
          <p:nvPr/>
        </p:nvSpPr>
        <p:spPr>
          <a:xfrm>
            <a:off x="1938528" y="4681728"/>
            <a:ext cx="9320479" cy="841248"/>
          </a:xfrm>
          <a:prstGeom prst="rect">
            <a:avLst/>
          </a:prstGeom>
          <a:noFill/>
          <a:ln/>
        </p:spPr>
        <p:txBody>
          <a:bodyPr wrap="square" lIns="0" tIns="0" rIns="0" bIns="0" rtlCol="0" anchor="ctr"/>
          <a:lstStyle/>
          <a:p>
            <a:pPr indent="0" marL="0">
              <a:lnSpc>
                <a:spcPct val="130000"/>
              </a:lnSpc>
              <a:buNone/>
            </a:pPr>
            <a:r>
              <a:rPr lang="en-US" sz="1500" dirty="0">
                <a:solidFill>
                  <a:srgbClr val="FFFFFF"/>
                </a:solidFill>
                <a:latin typeface="Arial" pitchFamily="34" charset="0"/>
                <a:ea typeface="Arial" pitchFamily="34" charset="-122"/>
                <a:cs typeface="Arial" pitchFamily="34" charset="-120"/>
              </a:rPr>
              <a:t>Der Engpass ist nicht die Technik, sondern Vertrauen, Daten und Regeln — ab dem 2. August 2026 muss sich jeder Chatbot in der EU als KI zu erkennen geben.</a:t>
            </a:r>
            <a:endParaRPr lang="en-US" sz="1500" dirty="0"/>
          </a:p>
        </p:txBody>
      </p:sp>
      <p:sp>
        <p:nvSpPr>
          <p:cNvPr id="16" name="Text 14"/>
          <p:cNvSpPr txBox="1"/>
          <p:nvPr/>
        </p:nvSpPr>
        <p:spPr>
          <a:xfrm>
            <a:off x="566928" y="6236208"/>
            <a:ext cx="10006279" cy="365760"/>
          </a:xfrm>
          <a:prstGeom prst="rect">
            <a:avLst/>
          </a:prstGeom>
          <a:noFill/>
          <a:ln/>
        </p:spPr>
        <p:txBody>
          <a:bodyPr wrap="square" lIns="0" tIns="0" rIns="0" bIns="0" rtlCol="0" anchor="t"/>
          <a:lstStyle/>
          <a:p>
            <a:pPr indent="0" marL="0">
              <a:lnSpc>
                <a:spcPct val="120000"/>
              </a:lnSpc>
              <a:buNone/>
            </a:pPr>
            <a:r>
              <a:rPr lang="en-US" sz="800" dirty="0">
                <a:solidFill>
                  <a:srgbClr val="111111"/>
                </a:solidFill>
                <a:latin typeface="Courier New" pitchFamily="34" charset="0"/>
                <a:ea typeface="Courier New" pitchFamily="34" charset="-122"/>
                <a:cs typeface="Courier New" pitchFamily="34" charset="-120"/>
              </a:rPr>
              <a:t>QUELLE: BITKOM, KI IN DEUTSCHLAND 2026 (N = 603 UNTERNEHMEN AB 20 BESCHÄFTIGTEN), STAND 09/2026 · AMAZON, Q4/GJ-2025-ERGEBNISSE UND EARNINGS CALL, 02/2026 · ZALANDO SE, GESCHÄFTSJAHR 2025 (VERÖFFENTLICHUNG 12.03.2026) · BEVH, JAHRESZAHLEN 2025 · VERORDNUNG (EU) 2024/1689 (KI-VO), ART. 50 UND 113; DIGITAL OMNIBUS ON AI</a:t>
            </a:r>
            <a:endParaRPr lang="en-US" sz="800" dirty="0"/>
          </a:p>
        </p:txBody>
      </p:sp>
      <p:sp>
        <p:nvSpPr>
          <p:cNvPr id="17" name="Shape 15"/>
          <p:cNvSpPr/>
          <p:nvPr/>
        </p:nvSpPr>
        <p:spPr>
          <a:xfrm>
            <a:off x="10874959" y="6217920"/>
            <a:ext cx="749808" cy="237744"/>
          </a:xfrm>
          <a:prstGeom prst="rect">
            <a:avLst/>
          </a:prstGeom>
          <a:solidFill>
            <a:srgbClr val="111111"/>
          </a:solidFill>
          <a:ln/>
        </p:spPr>
      </p:sp>
      <p:sp>
        <p:nvSpPr>
          <p:cNvPr id="18" name="Text 16"/>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14/15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20624"/>
            <a:ext cx="7315200" cy="237744"/>
          </a:xfrm>
          <a:prstGeom prst="rect">
            <a:avLst/>
          </a:prstGeom>
          <a:noFill/>
          <a:ln/>
        </p:spPr>
        <p:txBody>
          <a:bodyPr wrap="square" lIns="0" tIns="0" rIns="0" bIns="0" rtlCol="0" anchor="ctr"/>
          <a:lstStyle/>
          <a:p>
            <a:pPr indent="0" marL="0">
              <a:buNone/>
            </a:pPr>
            <a:r>
              <a:rPr lang="en-US" sz="1100" b="1" spc="220" kern="0" dirty="0">
                <a:solidFill>
                  <a:srgbClr val="111111"/>
                </a:solidFill>
                <a:latin typeface="Courier New" pitchFamily="34" charset="0"/>
                <a:ea typeface="Courier New" pitchFamily="34" charset="-122"/>
                <a:cs typeface="Courier New" pitchFamily="34" charset="-120"/>
              </a:rPr>
              <a:t>NACHWEIS</a:t>
            </a:r>
            <a:endParaRPr lang="en-US" sz="1100" dirty="0"/>
          </a:p>
        </p:txBody>
      </p:sp>
      <p:sp>
        <p:nvSpPr>
          <p:cNvPr id="3" name="Text 1"/>
          <p:cNvSpPr txBox="1"/>
          <p:nvPr/>
        </p:nvSpPr>
        <p:spPr>
          <a:xfrm>
            <a:off x="566928" y="694944"/>
            <a:ext cx="10607040" cy="694944"/>
          </a:xfrm>
          <a:prstGeom prst="rect">
            <a:avLst/>
          </a:prstGeom>
          <a:noFill/>
          <a:ln/>
        </p:spPr>
        <p:txBody>
          <a:bodyPr wrap="square" lIns="0" tIns="0" rIns="0" bIns="0" rtlCol="0" anchor="ctr"/>
          <a:lstStyle/>
          <a:p>
            <a:pPr indent="0" marL="0">
              <a:buNone/>
            </a:pPr>
            <a:r>
              <a:rPr lang="en-US" sz="2800" dirty="0">
                <a:solidFill>
                  <a:srgbClr val="111111"/>
                </a:solidFill>
                <a:latin typeface="Arial Black" pitchFamily="34" charset="0"/>
                <a:ea typeface="Arial Black" pitchFamily="34" charset="-122"/>
                <a:cs typeface="Arial Black" pitchFamily="34" charset="-120"/>
              </a:rPr>
              <a:t>QUELLEN UND ABRUFDATUM</a:t>
            </a:r>
            <a:endParaRPr lang="en-US" sz="2800" dirty="0"/>
          </a:p>
        </p:txBody>
      </p:sp>
      <p:sp>
        <p:nvSpPr>
          <p:cNvPr id="4" name="Text 2"/>
          <p:cNvSpPr txBox="1"/>
          <p:nvPr/>
        </p:nvSpPr>
        <p:spPr>
          <a:xfrm>
            <a:off x="566928" y="1444752"/>
            <a:ext cx="11057839" cy="237744"/>
          </a:xfrm>
          <a:prstGeom prst="rect">
            <a:avLst/>
          </a:prstGeom>
          <a:noFill/>
          <a:ln/>
        </p:spPr>
        <p:txBody>
          <a:bodyPr wrap="square" lIns="0" tIns="0" rIns="0" bIns="0" rtlCol="0" anchor="ctr"/>
          <a:lstStyle/>
          <a:p>
            <a:pPr indent="0" marL="0">
              <a:buNone/>
            </a:pPr>
            <a:r>
              <a:rPr lang="en-US" sz="950" b="1" dirty="0">
                <a:solidFill>
                  <a:srgbClr val="111111"/>
                </a:solidFill>
                <a:latin typeface="Courier New" pitchFamily="34" charset="0"/>
                <a:ea typeface="Courier New" pitchFamily="34" charset="-122"/>
                <a:cs typeface="Courier New" pitchFamily="34" charset="-120"/>
              </a:rPr>
              <a:t>ALLE INTERNETQUELLEN ZULETZT ABGERUFEN AM 18.09.2026</a:t>
            </a:r>
            <a:endParaRPr lang="en-US" sz="950" dirty="0"/>
          </a:p>
        </p:txBody>
      </p:sp>
      <p:sp>
        <p:nvSpPr>
          <p:cNvPr id="5" name="Text 3"/>
          <p:cNvSpPr txBox="1"/>
          <p:nvPr/>
        </p:nvSpPr>
        <p:spPr>
          <a:xfrm>
            <a:off x="566928" y="17373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01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Bitkom e. V.: </a:t>
            </a:r>
            <a:pPr indent="0" marL="0">
              <a:lnSpc>
                <a:spcPct val="100000"/>
              </a:lnSpc>
              <a:buNone/>
            </a:pPr>
            <a:r>
              <a:rPr lang="en-US" sz="850" dirty="0">
                <a:solidFill>
                  <a:srgbClr val="111111"/>
                </a:solidFill>
                <a:latin typeface="Arial" pitchFamily="34" charset="0"/>
                <a:ea typeface="Arial" pitchFamily="34" charset="-122"/>
                <a:cs typeface="Arial" pitchFamily="34" charset="-120"/>
              </a:rPr>
              <a:t>KI in Deutschland 2026, Presseinfo 14.09.2026 (n = 603)</a:t>
            </a:r>
            <a:endParaRPr lang="en-US" sz="850" dirty="0"/>
          </a:p>
        </p:txBody>
      </p:sp>
      <p:sp>
        <p:nvSpPr>
          <p:cNvPr id="6" name="Text 4"/>
          <p:cNvSpPr txBox="1"/>
          <p:nvPr/>
        </p:nvSpPr>
        <p:spPr>
          <a:xfrm>
            <a:off x="841248" y="19476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https://www.bitkom.org/Presse/Presseinformation/Erstmals-nutzt-Mehrheit-Unternehmen-KI</a:t>
            </a:r>
            <a:endParaRPr lang="en-US" sz="700" dirty="0"/>
          </a:p>
        </p:txBody>
      </p:sp>
      <p:sp>
        <p:nvSpPr>
          <p:cNvPr id="7" name="Text 5"/>
          <p:cNvSpPr txBox="1"/>
          <p:nvPr/>
        </p:nvSpPr>
        <p:spPr>
          <a:xfrm>
            <a:off x="566928" y="21945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02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Bitkom e. V.: </a:t>
            </a:r>
            <a:pPr indent="0" marL="0">
              <a:lnSpc>
                <a:spcPct val="100000"/>
              </a:lnSpc>
              <a:buNone/>
            </a:pPr>
            <a:r>
              <a:rPr lang="en-US" sz="850" dirty="0">
                <a:solidFill>
                  <a:srgbClr val="111111"/>
                </a:solidFill>
                <a:latin typeface="Arial" pitchFamily="34" charset="0"/>
                <a:ea typeface="Arial" pitchFamily="34" charset="-122"/>
                <a:cs typeface="Arial" pitchFamily="34" charset="-120"/>
              </a:rPr>
              <a:t>Digitaler Handel in Deutschland 2026 (n = 1.072)</a:t>
            </a:r>
            <a:endParaRPr lang="en-US" sz="850" dirty="0"/>
          </a:p>
        </p:txBody>
      </p:sp>
      <p:sp>
        <p:nvSpPr>
          <p:cNvPr id="8" name="Text 6"/>
          <p:cNvSpPr txBox="1"/>
          <p:nvPr/>
        </p:nvSpPr>
        <p:spPr>
          <a:xfrm>
            <a:off x="841248" y="24048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https://www.bitkom.org/sites/main/files/2026-07/bitkom-studienbericht-digitaler-handel-in-deutschland.pdf</a:t>
            </a:r>
            <a:endParaRPr lang="en-US" sz="700" dirty="0"/>
          </a:p>
        </p:txBody>
      </p:sp>
      <p:sp>
        <p:nvSpPr>
          <p:cNvPr id="9" name="Text 7"/>
          <p:cNvSpPr txBox="1"/>
          <p:nvPr/>
        </p:nvSpPr>
        <p:spPr>
          <a:xfrm>
            <a:off x="566928" y="26517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03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Gartner: </a:t>
            </a:r>
            <a:pPr indent="0" marL="0">
              <a:lnSpc>
                <a:spcPct val="100000"/>
              </a:lnSpc>
              <a:buNone/>
            </a:pPr>
            <a:r>
              <a:rPr lang="en-US" sz="850" dirty="0">
                <a:solidFill>
                  <a:srgbClr val="111111"/>
                </a:solidFill>
                <a:latin typeface="Arial" pitchFamily="34" charset="0"/>
                <a:ea typeface="Arial" pitchFamily="34" charset="-122"/>
                <a:cs typeface="Arial" pitchFamily="34" charset="-120"/>
              </a:rPr>
              <a:t>Worldwide AI Spending to Grow 47 % in 2026 (19.05.2026)</a:t>
            </a:r>
            <a:endParaRPr lang="en-US" sz="850" dirty="0"/>
          </a:p>
        </p:txBody>
      </p:sp>
      <p:sp>
        <p:nvSpPr>
          <p:cNvPr id="10" name="Text 8"/>
          <p:cNvSpPr txBox="1"/>
          <p:nvPr/>
        </p:nvSpPr>
        <p:spPr>
          <a:xfrm>
            <a:off x="841248" y="28620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https://www.gartner.com/en/newsroom/press-releases/2026-05-19-gartner-forecasts-worldwide-ai-spending-to-grow-47-percent-in-2026</a:t>
            </a:r>
            <a:endParaRPr lang="en-US" sz="700" dirty="0"/>
          </a:p>
        </p:txBody>
      </p:sp>
      <p:sp>
        <p:nvSpPr>
          <p:cNvPr id="11" name="Text 9"/>
          <p:cNvSpPr txBox="1"/>
          <p:nvPr/>
        </p:nvSpPr>
        <p:spPr>
          <a:xfrm>
            <a:off x="566928" y="31089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04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HDE: </a:t>
            </a:r>
            <a:pPr indent="0" marL="0">
              <a:lnSpc>
                <a:spcPct val="100000"/>
              </a:lnSpc>
              <a:buNone/>
            </a:pPr>
            <a:r>
              <a:rPr lang="en-US" sz="850" dirty="0">
                <a:solidFill>
                  <a:srgbClr val="111111"/>
                </a:solidFill>
                <a:latin typeface="Arial" pitchFamily="34" charset="0"/>
                <a:ea typeface="Arial" pitchFamily="34" charset="-122"/>
                <a:cs typeface="Arial" pitchFamily="34" charset="-120"/>
              </a:rPr>
              <a:t>Online-Monitor 2026, Meldung vom 03.06.2026</a:t>
            </a:r>
            <a:endParaRPr lang="en-US" sz="850" dirty="0"/>
          </a:p>
        </p:txBody>
      </p:sp>
      <p:sp>
        <p:nvSpPr>
          <p:cNvPr id="12" name="Text 10"/>
          <p:cNvSpPr txBox="1"/>
          <p:nvPr/>
        </p:nvSpPr>
        <p:spPr>
          <a:xfrm>
            <a:off x="841248" y="33192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https://einzelhandel.de/online-monitor</a:t>
            </a:r>
            <a:endParaRPr lang="en-US" sz="700" dirty="0"/>
          </a:p>
        </p:txBody>
      </p:sp>
      <p:sp>
        <p:nvSpPr>
          <p:cNvPr id="13" name="Text 11"/>
          <p:cNvSpPr txBox="1"/>
          <p:nvPr/>
        </p:nvSpPr>
        <p:spPr>
          <a:xfrm>
            <a:off x="566928" y="35661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05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bevh: </a:t>
            </a:r>
            <a:pPr indent="0" marL="0">
              <a:lnSpc>
                <a:spcPct val="100000"/>
              </a:lnSpc>
              <a:buNone/>
            </a:pPr>
            <a:r>
              <a:rPr lang="en-US" sz="850" dirty="0">
                <a:solidFill>
                  <a:srgbClr val="111111"/>
                </a:solidFill>
                <a:latin typeface="Arial" pitchFamily="34" charset="0"/>
                <a:ea typeface="Arial" pitchFamily="34" charset="-122"/>
                <a:cs typeface="Arial" pitchFamily="34" charset="-120"/>
              </a:rPr>
              <a:t>Jahreszahlen 2025 zum deutschen E-Commerce</a:t>
            </a:r>
            <a:endParaRPr lang="en-US" sz="850" dirty="0"/>
          </a:p>
        </p:txBody>
      </p:sp>
      <p:sp>
        <p:nvSpPr>
          <p:cNvPr id="14" name="Text 12"/>
          <p:cNvSpPr txBox="1"/>
          <p:nvPr/>
        </p:nvSpPr>
        <p:spPr>
          <a:xfrm>
            <a:off x="841248" y="37764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https://bevh.org/detail/wachstum-im-e-commerce-lichtblick-in-der-deutschen-wirtschaft</a:t>
            </a:r>
            <a:endParaRPr lang="en-US" sz="700" dirty="0"/>
          </a:p>
        </p:txBody>
      </p:sp>
      <p:sp>
        <p:nvSpPr>
          <p:cNvPr id="15" name="Text 13"/>
          <p:cNvSpPr txBox="1"/>
          <p:nvPr/>
        </p:nvSpPr>
        <p:spPr>
          <a:xfrm>
            <a:off x="566928" y="40233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06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McKinsey &amp; Company: </a:t>
            </a:r>
            <a:pPr indent="0" marL="0">
              <a:lnSpc>
                <a:spcPct val="100000"/>
              </a:lnSpc>
              <a:buNone/>
            </a:pPr>
            <a:r>
              <a:rPr lang="en-US" sz="850" dirty="0">
                <a:solidFill>
                  <a:srgbClr val="111111"/>
                </a:solidFill>
                <a:latin typeface="Arial" pitchFamily="34" charset="0"/>
                <a:ea typeface="Arial" pitchFamily="34" charset="-122"/>
                <a:cs typeface="Arial" pitchFamily="34" charset="-120"/>
              </a:rPr>
              <a:t>The economic potential of generative AI</a:t>
            </a:r>
            <a:endParaRPr lang="en-US" sz="850" dirty="0"/>
          </a:p>
        </p:txBody>
      </p:sp>
      <p:sp>
        <p:nvSpPr>
          <p:cNvPr id="16" name="Text 14"/>
          <p:cNvSpPr txBox="1"/>
          <p:nvPr/>
        </p:nvSpPr>
        <p:spPr>
          <a:xfrm>
            <a:off x="841248" y="42336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https://www.mckinsey.com/capabilities/tech-and-ai/our-insights/the-economic-potential-of-generative-ai-the-next-productivity-frontier</a:t>
            </a:r>
            <a:endParaRPr lang="en-US" sz="700" dirty="0"/>
          </a:p>
        </p:txBody>
      </p:sp>
      <p:sp>
        <p:nvSpPr>
          <p:cNvPr id="17" name="Text 15"/>
          <p:cNvSpPr txBox="1"/>
          <p:nvPr/>
        </p:nvSpPr>
        <p:spPr>
          <a:xfrm>
            <a:off x="566928" y="44805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07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McKinsey &amp; Company: </a:t>
            </a:r>
            <a:pPr indent="0" marL="0">
              <a:lnSpc>
                <a:spcPct val="100000"/>
              </a:lnSpc>
              <a:buNone/>
            </a:pPr>
            <a:r>
              <a:rPr lang="en-US" sz="850" dirty="0">
                <a:solidFill>
                  <a:srgbClr val="111111"/>
                </a:solidFill>
                <a:latin typeface="Arial" pitchFamily="34" charset="0"/>
                <a:ea typeface="Arial" pitchFamily="34" charset="-122"/>
                <a:cs typeface="Arial" pitchFamily="34" charset="-120"/>
              </a:rPr>
              <a:t>The state of AI (2025)</a:t>
            </a:r>
            <a:endParaRPr lang="en-US" sz="850" dirty="0"/>
          </a:p>
        </p:txBody>
      </p:sp>
      <p:sp>
        <p:nvSpPr>
          <p:cNvPr id="18" name="Text 16"/>
          <p:cNvSpPr txBox="1"/>
          <p:nvPr/>
        </p:nvSpPr>
        <p:spPr>
          <a:xfrm>
            <a:off x="841248" y="46908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https://www.mckinsey.com/capabilities/quantumblack/our-insights/the-state-of-ai</a:t>
            </a:r>
            <a:endParaRPr lang="en-US" sz="700" dirty="0"/>
          </a:p>
        </p:txBody>
      </p:sp>
      <p:sp>
        <p:nvSpPr>
          <p:cNvPr id="19" name="Text 17"/>
          <p:cNvSpPr txBox="1"/>
          <p:nvPr/>
        </p:nvSpPr>
        <p:spPr>
          <a:xfrm>
            <a:off x="566928" y="49377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08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McKinsey &amp; Company: </a:t>
            </a:r>
            <a:pPr indent="0" marL="0">
              <a:lnSpc>
                <a:spcPct val="100000"/>
              </a:lnSpc>
              <a:buNone/>
            </a:pPr>
            <a:r>
              <a:rPr lang="en-US" sz="850" dirty="0">
                <a:solidFill>
                  <a:srgbClr val="111111"/>
                </a:solidFill>
                <a:latin typeface="Arial" pitchFamily="34" charset="0"/>
                <a:ea typeface="Arial" pitchFamily="34" charset="-122"/>
                <a:cs typeface="Arial" pitchFamily="34" charset="-120"/>
              </a:rPr>
              <a:t>Agentic Commerce 2030, via Digital Commerce 360</a:t>
            </a:r>
            <a:endParaRPr lang="en-US" sz="850" dirty="0"/>
          </a:p>
        </p:txBody>
      </p:sp>
      <p:sp>
        <p:nvSpPr>
          <p:cNvPr id="20" name="Text 18"/>
          <p:cNvSpPr txBox="1"/>
          <p:nvPr/>
        </p:nvSpPr>
        <p:spPr>
          <a:xfrm>
            <a:off x="841248" y="51480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https://www.digitalcommerce360.com/2025/10/20/mckinsey-forecast-5-trillion-agentic-commerce-sales-2030/</a:t>
            </a:r>
            <a:endParaRPr lang="en-US" sz="700" dirty="0"/>
          </a:p>
        </p:txBody>
      </p:sp>
      <p:sp>
        <p:nvSpPr>
          <p:cNvPr id="21" name="Text 19"/>
          <p:cNvSpPr txBox="1"/>
          <p:nvPr/>
        </p:nvSpPr>
        <p:spPr>
          <a:xfrm>
            <a:off x="6187288" y="17373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09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IAB: </a:t>
            </a:r>
            <a:pPr indent="0" marL="0">
              <a:lnSpc>
                <a:spcPct val="100000"/>
              </a:lnSpc>
              <a:buNone/>
            </a:pPr>
            <a:r>
              <a:rPr lang="en-US" sz="850" dirty="0">
                <a:solidFill>
                  <a:srgbClr val="111111"/>
                </a:solidFill>
                <a:latin typeface="Arial" pitchFamily="34" charset="0"/>
                <a:ea typeface="Arial" pitchFamily="34" charset="-122"/>
                <a:cs typeface="Arial" pitchFamily="34" charset="-120"/>
              </a:rPr>
              <a:t>Forschungsbericht 23/2025 zu KI und Beschäftigung</a:t>
            </a:r>
            <a:endParaRPr lang="en-US" sz="850" dirty="0"/>
          </a:p>
        </p:txBody>
      </p:sp>
      <p:sp>
        <p:nvSpPr>
          <p:cNvPr id="22" name="Text 20"/>
          <p:cNvSpPr txBox="1"/>
          <p:nvPr/>
        </p:nvSpPr>
        <p:spPr>
          <a:xfrm>
            <a:off x="6461608" y="19476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https://doku.iab.de/forschungsbericht/2025/fb2325.pdf</a:t>
            </a:r>
            <a:endParaRPr lang="en-US" sz="700" dirty="0"/>
          </a:p>
        </p:txBody>
      </p:sp>
      <p:sp>
        <p:nvSpPr>
          <p:cNvPr id="23" name="Text 21"/>
          <p:cNvSpPr txBox="1"/>
          <p:nvPr/>
        </p:nvSpPr>
        <p:spPr>
          <a:xfrm>
            <a:off x="6187288" y="21945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10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Amazon.com, Inc.: </a:t>
            </a:r>
            <a:pPr indent="0" marL="0">
              <a:lnSpc>
                <a:spcPct val="100000"/>
              </a:lnSpc>
              <a:buNone/>
            </a:pPr>
            <a:r>
              <a:rPr lang="en-US" sz="850" dirty="0">
                <a:solidFill>
                  <a:srgbClr val="111111"/>
                </a:solidFill>
                <a:latin typeface="Arial" pitchFamily="34" charset="0"/>
                <a:ea typeface="Arial" pitchFamily="34" charset="-122"/>
                <a:cs typeface="Arial" pitchFamily="34" charset="-120"/>
              </a:rPr>
              <a:t>Q4/GJ 2025, Ergebnisse und Earnings Call (02/2026)</a:t>
            </a:r>
            <a:endParaRPr lang="en-US" sz="850" dirty="0"/>
          </a:p>
        </p:txBody>
      </p:sp>
      <p:sp>
        <p:nvSpPr>
          <p:cNvPr id="24" name="Text 22"/>
          <p:cNvSpPr txBox="1"/>
          <p:nvPr/>
        </p:nvSpPr>
        <p:spPr>
          <a:xfrm>
            <a:off x="6461608" y="24048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https://ir.aboutamazon.com/quarterly-results/</a:t>
            </a:r>
            <a:endParaRPr lang="en-US" sz="700" dirty="0"/>
          </a:p>
        </p:txBody>
      </p:sp>
      <p:sp>
        <p:nvSpPr>
          <p:cNvPr id="25" name="Text 23"/>
          <p:cNvSpPr txBox="1"/>
          <p:nvPr/>
        </p:nvSpPr>
        <p:spPr>
          <a:xfrm>
            <a:off x="6187288" y="26517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11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Zalando SE: </a:t>
            </a:r>
            <a:pPr indent="0" marL="0">
              <a:lnSpc>
                <a:spcPct val="100000"/>
              </a:lnSpc>
              <a:buNone/>
            </a:pPr>
            <a:r>
              <a:rPr lang="en-US" sz="850" dirty="0">
                <a:solidFill>
                  <a:srgbClr val="111111"/>
                </a:solidFill>
                <a:latin typeface="Arial" pitchFamily="34" charset="0"/>
                <a:ea typeface="Arial" pitchFamily="34" charset="-122"/>
                <a:cs typeface="Arial" pitchFamily="34" charset="-120"/>
              </a:rPr>
              <a:t>Geschäftsjahr 2025, veröffentlicht am 12.03.2026</a:t>
            </a:r>
            <a:endParaRPr lang="en-US" sz="850" dirty="0"/>
          </a:p>
        </p:txBody>
      </p:sp>
      <p:sp>
        <p:nvSpPr>
          <p:cNvPr id="26" name="Text 24"/>
          <p:cNvSpPr txBox="1"/>
          <p:nvPr/>
        </p:nvSpPr>
        <p:spPr>
          <a:xfrm>
            <a:off x="6461608" y="28620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https://corporate.zalando.com/en/investor-relations/zalando-full-year-2025-results</a:t>
            </a:r>
            <a:endParaRPr lang="en-US" sz="700" dirty="0"/>
          </a:p>
        </p:txBody>
      </p:sp>
      <p:sp>
        <p:nvSpPr>
          <p:cNvPr id="27" name="Text 25"/>
          <p:cNvSpPr txBox="1"/>
          <p:nvPr/>
        </p:nvSpPr>
        <p:spPr>
          <a:xfrm>
            <a:off x="6187288" y="31089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12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Shopify Inc.: </a:t>
            </a:r>
            <a:pPr indent="0" marL="0">
              <a:lnSpc>
                <a:spcPct val="100000"/>
              </a:lnSpc>
              <a:buNone/>
            </a:pPr>
            <a:r>
              <a:rPr lang="en-US" sz="850" dirty="0">
                <a:solidFill>
                  <a:srgbClr val="111111"/>
                </a:solidFill>
                <a:latin typeface="Arial" pitchFamily="34" charset="0"/>
                <a:ea typeface="Arial" pitchFamily="34" charset="-122"/>
                <a:cs typeface="Arial" pitchFamily="34" charset="-120"/>
              </a:rPr>
              <a:t>Editions Winter ’26 und Enterprise-AI-Seite</a:t>
            </a:r>
            <a:endParaRPr lang="en-US" sz="850" dirty="0"/>
          </a:p>
        </p:txBody>
      </p:sp>
      <p:sp>
        <p:nvSpPr>
          <p:cNvPr id="28" name="Text 26"/>
          <p:cNvSpPr txBox="1"/>
          <p:nvPr/>
        </p:nvSpPr>
        <p:spPr>
          <a:xfrm>
            <a:off x="6461608" y="33192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https://www.shopify.com/editions/winter2026</a:t>
            </a:r>
            <a:endParaRPr lang="en-US" sz="700" dirty="0"/>
          </a:p>
        </p:txBody>
      </p:sp>
      <p:sp>
        <p:nvSpPr>
          <p:cNvPr id="29" name="Text 27"/>
          <p:cNvSpPr txBox="1"/>
          <p:nvPr/>
        </p:nvSpPr>
        <p:spPr>
          <a:xfrm>
            <a:off x="6187288" y="35661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13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Klarna Bank AB: </a:t>
            </a:r>
            <a:pPr indent="0" marL="0">
              <a:lnSpc>
                <a:spcPct val="100000"/>
              </a:lnSpc>
              <a:buNone/>
            </a:pPr>
            <a:r>
              <a:rPr lang="en-US" sz="850" dirty="0">
                <a:solidFill>
                  <a:srgbClr val="111111"/>
                </a:solidFill>
                <a:latin typeface="Arial" pitchFamily="34" charset="0"/>
                <a:ea typeface="Arial" pitchFamily="34" charset="-122"/>
                <a:cs typeface="Arial" pitchFamily="34" charset="-120"/>
              </a:rPr>
              <a:t>Presseinfo zum KI-Assistenten; Kurskorrektur 2025</a:t>
            </a:r>
            <a:endParaRPr lang="en-US" sz="850" dirty="0"/>
          </a:p>
        </p:txBody>
      </p:sp>
      <p:sp>
        <p:nvSpPr>
          <p:cNvPr id="30" name="Text 28"/>
          <p:cNvSpPr txBox="1"/>
          <p:nvPr/>
        </p:nvSpPr>
        <p:spPr>
          <a:xfrm>
            <a:off x="6461608" y="37764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https://www.klarna.com/international/press/klarna-ai-assistant-handles-two-thirds-of-customer-service-chats-in-its-first-month/</a:t>
            </a:r>
            <a:endParaRPr lang="en-US" sz="700" dirty="0"/>
          </a:p>
        </p:txBody>
      </p:sp>
      <p:sp>
        <p:nvSpPr>
          <p:cNvPr id="31" name="Text 29"/>
          <p:cNvSpPr txBox="1"/>
          <p:nvPr/>
        </p:nvSpPr>
        <p:spPr>
          <a:xfrm>
            <a:off x="6187288" y="40233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14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Juniper Research: </a:t>
            </a:r>
            <a:pPr indent="0" marL="0">
              <a:lnSpc>
                <a:spcPct val="100000"/>
              </a:lnSpc>
              <a:buNone/>
            </a:pPr>
            <a:r>
              <a:rPr lang="en-US" sz="850" dirty="0">
                <a:solidFill>
                  <a:srgbClr val="111111"/>
                </a:solidFill>
                <a:latin typeface="Arial" pitchFamily="34" charset="0"/>
                <a:ea typeface="Arial" pitchFamily="34" charset="-122"/>
                <a:cs typeface="Arial" pitchFamily="34" charset="-120"/>
              </a:rPr>
              <a:t>Fraud Detection &amp; Prevention Spending</a:t>
            </a:r>
            <a:endParaRPr lang="en-US" sz="850" dirty="0"/>
          </a:p>
        </p:txBody>
      </p:sp>
      <p:sp>
        <p:nvSpPr>
          <p:cNvPr id="32" name="Text 30"/>
          <p:cNvSpPr txBox="1"/>
          <p:nvPr/>
        </p:nvSpPr>
        <p:spPr>
          <a:xfrm>
            <a:off x="6461608" y="42336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https://www.juniperresearch.com/press/fraud-detection-and-prevention-spending-reaches-21bn/</a:t>
            </a:r>
            <a:endParaRPr lang="en-US" sz="700" dirty="0"/>
          </a:p>
        </p:txBody>
      </p:sp>
      <p:sp>
        <p:nvSpPr>
          <p:cNvPr id="33" name="Text 31"/>
          <p:cNvSpPr txBox="1"/>
          <p:nvPr/>
        </p:nvSpPr>
        <p:spPr>
          <a:xfrm>
            <a:off x="6187288" y="44805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15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Europäische Union: </a:t>
            </a:r>
            <a:pPr indent="0" marL="0">
              <a:lnSpc>
                <a:spcPct val="100000"/>
              </a:lnSpc>
              <a:buNone/>
            </a:pPr>
            <a:r>
              <a:rPr lang="en-US" sz="850" dirty="0">
                <a:solidFill>
                  <a:srgbClr val="111111"/>
                </a:solidFill>
                <a:latin typeface="Arial" pitchFamily="34" charset="0"/>
                <a:ea typeface="Arial" pitchFamily="34" charset="-122"/>
                <a:cs typeface="Arial" pitchFamily="34" charset="-120"/>
              </a:rPr>
              <a:t>Verordnung (EU) 2024/1689, Art. 50 und 113</a:t>
            </a:r>
            <a:endParaRPr lang="en-US" sz="850" dirty="0"/>
          </a:p>
        </p:txBody>
      </p:sp>
      <p:sp>
        <p:nvSpPr>
          <p:cNvPr id="34" name="Text 32"/>
          <p:cNvSpPr txBox="1"/>
          <p:nvPr/>
        </p:nvSpPr>
        <p:spPr>
          <a:xfrm>
            <a:off x="6461608" y="46908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https://eur-lex.europa.eu/eli/reg/2024/1689/oj</a:t>
            </a:r>
            <a:endParaRPr lang="en-US" sz="700" dirty="0"/>
          </a:p>
        </p:txBody>
      </p:sp>
      <p:sp>
        <p:nvSpPr>
          <p:cNvPr id="35" name="Text 33"/>
          <p:cNvSpPr txBox="1"/>
          <p:nvPr/>
        </p:nvSpPr>
        <p:spPr>
          <a:xfrm>
            <a:off x="6187288" y="4937760"/>
            <a:ext cx="5437480" cy="201168"/>
          </a:xfrm>
          <a:prstGeom prst="rect">
            <a:avLst/>
          </a:prstGeom>
          <a:noFill/>
          <a:ln/>
        </p:spPr>
        <p:txBody>
          <a:bodyPr wrap="square" lIns="0" tIns="0" rIns="0" bIns="0" rtlCol="0" anchor="t"/>
          <a:lstStyle/>
          <a:p>
            <a:pPr indent="0" marL="0">
              <a:lnSpc>
                <a:spcPct val="100000"/>
              </a:lnSpc>
              <a:buNone/>
            </a:pPr>
            <a:r>
              <a:rPr lang="en-US" sz="850" b="1" dirty="0">
                <a:solidFill>
                  <a:srgbClr val="111111"/>
                </a:solidFill>
                <a:latin typeface="Courier New" pitchFamily="34" charset="0"/>
                <a:ea typeface="Courier New" pitchFamily="34" charset="-122"/>
                <a:cs typeface="Courier New" pitchFamily="34" charset="-120"/>
              </a:rPr>
              <a:t>16  </a:t>
            </a:r>
            <a:pPr indent="0" marL="0">
              <a:lnSpc>
                <a:spcPct val="100000"/>
              </a:lnSpc>
              <a:buNone/>
            </a:pPr>
            <a:r>
              <a:rPr lang="en-US" sz="850" b="1" dirty="0">
                <a:solidFill>
                  <a:srgbClr val="111111"/>
                </a:solidFill>
                <a:latin typeface="Arial" pitchFamily="34" charset="0"/>
                <a:ea typeface="Arial" pitchFamily="34" charset="-122"/>
                <a:cs typeface="Arial" pitchFamily="34" charset="-120"/>
              </a:rPr>
              <a:t>Statista / ECDB: </a:t>
            </a:r>
            <a:pPr indent="0" marL="0">
              <a:lnSpc>
                <a:spcPct val="100000"/>
              </a:lnSpc>
              <a:buNone/>
            </a:pPr>
            <a:r>
              <a:rPr lang="en-US" sz="850" dirty="0">
                <a:solidFill>
                  <a:srgbClr val="111111"/>
                </a:solidFill>
                <a:latin typeface="Arial" pitchFamily="34" charset="0"/>
                <a:ea typeface="Arial" pitchFamily="34" charset="-122"/>
                <a:cs typeface="Arial" pitchFamily="34" charset="-120"/>
              </a:rPr>
              <a:t>Globaler E-Commerce 2022–2030</a:t>
            </a:r>
            <a:endParaRPr lang="en-US" sz="850" dirty="0"/>
          </a:p>
        </p:txBody>
      </p:sp>
      <p:sp>
        <p:nvSpPr>
          <p:cNvPr id="36" name="Text 34"/>
          <p:cNvSpPr txBox="1"/>
          <p:nvPr/>
        </p:nvSpPr>
        <p:spPr>
          <a:xfrm>
            <a:off x="6461608" y="5148072"/>
            <a:ext cx="5163160" cy="256032"/>
          </a:xfrm>
          <a:prstGeom prst="rect">
            <a:avLst/>
          </a:prstGeom>
          <a:noFill/>
          <a:ln/>
        </p:spPr>
        <p:txBody>
          <a:bodyPr wrap="square" lIns="0" tIns="0" rIns="0" bIns="0" rtlCol="0" anchor="t"/>
          <a:lstStyle/>
          <a:p>
            <a:pPr indent="0" marL="0">
              <a:lnSpc>
                <a:spcPct val="105000"/>
              </a:lnSpc>
              <a:buNone/>
            </a:pPr>
            <a:r>
              <a:rPr lang="en-US" sz="700" dirty="0">
                <a:solidFill>
                  <a:srgbClr val="5A5A5A"/>
                </a:solidFill>
                <a:latin typeface="Courier New" pitchFamily="34" charset="0"/>
                <a:ea typeface="Courier New" pitchFamily="34" charset="-122"/>
                <a:cs typeface="Courier New" pitchFamily="34" charset="-120"/>
              </a:rPr>
              <a:t>https://www.statista.com/statistics/379046/worldwide-retail-e-commerce-sales/</a:t>
            </a:r>
            <a:endParaRPr lang="en-US" sz="700" dirty="0"/>
          </a:p>
        </p:txBody>
      </p:sp>
      <p:sp>
        <p:nvSpPr>
          <p:cNvPr id="37" name="Shape 35"/>
          <p:cNvSpPr/>
          <p:nvPr/>
        </p:nvSpPr>
        <p:spPr>
          <a:xfrm>
            <a:off x="658368" y="5669280"/>
            <a:ext cx="11057839" cy="420624"/>
          </a:xfrm>
          <a:prstGeom prst="rect">
            <a:avLst/>
          </a:prstGeom>
          <a:solidFill>
            <a:srgbClr val="111111"/>
          </a:solidFill>
          <a:ln/>
        </p:spPr>
      </p:sp>
      <p:sp>
        <p:nvSpPr>
          <p:cNvPr id="38" name="Shape 36"/>
          <p:cNvSpPr/>
          <p:nvPr/>
        </p:nvSpPr>
        <p:spPr>
          <a:xfrm>
            <a:off x="566928" y="5577840"/>
            <a:ext cx="11057839" cy="420624"/>
          </a:xfrm>
          <a:prstGeom prst="rect">
            <a:avLst/>
          </a:prstGeom>
          <a:solidFill>
            <a:srgbClr val="FFD84D"/>
          </a:solidFill>
          <a:ln w="28575">
            <a:solidFill>
              <a:srgbClr val="111111"/>
            </a:solidFill>
            <a:prstDash val="solid"/>
          </a:ln>
        </p:spPr>
      </p:sp>
      <p:sp>
        <p:nvSpPr>
          <p:cNvPr id="39" name="Text 37"/>
          <p:cNvSpPr txBox="1"/>
          <p:nvPr/>
        </p:nvSpPr>
        <p:spPr>
          <a:xfrm>
            <a:off x="786384" y="5577840"/>
            <a:ext cx="10618927" cy="420624"/>
          </a:xfrm>
          <a:prstGeom prst="rect">
            <a:avLst/>
          </a:prstGeom>
          <a:noFill/>
          <a:ln/>
        </p:spPr>
        <p:txBody>
          <a:bodyPr wrap="square" lIns="0" tIns="0" rIns="0" bIns="0" rtlCol="0" anchor="ctr"/>
          <a:lstStyle/>
          <a:p>
            <a:pPr indent="0" marL="0">
              <a:buNone/>
            </a:pPr>
            <a:r>
              <a:rPr lang="en-US" sz="950" dirty="0">
                <a:solidFill>
                  <a:srgbClr val="111111"/>
                </a:solidFill>
                <a:latin typeface="Arial" pitchFamily="34" charset="0"/>
                <a:ea typeface="Arial" pitchFamily="34" charset="-122"/>
                <a:cs typeface="Arial" pitchFamily="34" charset="-120"/>
              </a:rPr>
              <a:t>Alle Diagramme aus den genannten Daten selbst erstellt (native PowerPoint-Diagramme). Icons: Lucide, ISC-Lizenz. Keine Stockfotos, keine fremden Diagramm-Screenshots.</a:t>
            </a:r>
            <a:endParaRPr lang="en-US" sz="950" dirty="0"/>
          </a:p>
        </p:txBody>
      </p:sp>
      <p:sp>
        <p:nvSpPr>
          <p:cNvPr id="40" name="Shape 38"/>
          <p:cNvSpPr/>
          <p:nvPr/>
        </p:nvSpPr>
        <p:spPr>
          <a:xfrm>
            <a:off x="10874959" y="6217920"/>
            <a:ext cx="749808" cy="237744"/>
          </a:xfrm>
          <a:prstGeom prst="rect">
            <a:avLst/>
          </a:prstGeom>
          <a:solidFill>
            <a:srgbClr val="111111"/>
          </a:solidFill>
          <a:ln/>
        </p:spPr>
      </p:sp>
      <p:sp>
        <p:nvSpPr>
          <p:cNvPr id="41" name="Text 39"/>
          <p:cNvSpPr txBox="1"/>
          <p:nvPr/>
        </p:nvSpPr>
        <p:spPr>
          <a:xfrm>
            <a:off x="10874959" y="6217920"/>
            <a:ext cx="749808"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15/15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Youman Automation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Wie KI die Wirtschaft verändert: Fokus E-Commerce</dc:title>
  <dc:subject>PptxGenJS Presentation</dc:subject>
  <dc:creator>Erstellt mit Claude Code</dc:creator>
  <cp:lastModifiedBy>Erstellt mit Claude Code</cp:lastModifiedBy>
  <cp:revision>1</cp:revision>
  <dcterms:created xsi:type="dcterms:W3CDTF">2026-09-18T11:01:08Z</dcterms:created>
  <dcterms:modified xsi:type="dcterms:W3CDTF">2026-09-18T11:01:08Z</dcterms:modified>
</cp:coreProperties>
</file>